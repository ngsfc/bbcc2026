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5670550" cx="10080625"/>
  <p:notesSz cx="7559675" cy="106918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BF6C270-3839-495F-BF6B-5D2B0D70D4C5}">
  <a:tblStyle styleId="{FBF6C270-3839-495F-BF6B-5D2B0D70D4C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11CA0152-1B78-458A-96ED-18BF4F51B05B}"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h411d5d45688859e7_1_26: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61" name="Google Shape;61;h411d5d45688859e7_1_26: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1: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3: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4: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5: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5: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7: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7: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9: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9: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h117f2d490cf2a762_0_5: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h117f2d490cf2a762_0_5: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0: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0: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h2ee314e1b3fc5023_0_21: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h2ee314e1b3fc5023_0_21: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2: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2: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3: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3: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4: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4: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5: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5: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6: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6: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7: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7: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8: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8: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9: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9: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h2ee314e1b3fc5023_0_39: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h2ee314e1b3fc5023_0_39: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h2ee314e1b3fc5023_0_48: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h2ee314e1b3fc5023_0_48: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h411d5d45688859e7_1_12: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h411d5d45688859e7_1_12: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0: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0: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24: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4: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h294316929794c973_0_20: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h294316929794c973_0_20: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h294316929794c973_0_30: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h294316929794c973_0_30: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h294316929794c973_0_40: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h294316929794c973_0_40: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h294316929794c973_0_50: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h294316929794c973_0_50: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25: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5: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26: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6: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27: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7: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28: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8: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29: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9: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30: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30: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31: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1: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h2ee314e1b3fc5023_0_134: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h2ee314e1b3fc5023_0_134: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h2ee314e1b3fc5023_0_115: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h2ee314e1b3fc5023_0_115: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h2ee314e1b3fc5023_0_146: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h2ee314e1b3fc5023_0_146: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1" name="Shape 11"/>
        <p:cNvGrpSpPr/>
        <p:nvPr/>
      </p:nvGrpSpPr>
      <p:grpSpPr>
        <a:xfrm>
          <a:off x="0" y="0"/>
          <a:ext cx="0" cy="0"/>
          <a:chOff x="0" y="0"/>
          <a:chExt cx="0" cy="0"/>
        </a:xfrm>
      </p:grpSpPr>
      <p:sp>
        <p:nvSpPr>
          <p:cNvPr id="12" name="Google Shape;12;p2"/>
          <p:cNvSpPr txBox="1"/>
          <p:nvPr>
            <p:ph type="title"/>
          </p:nvPr>
        </p:nvSpPr>
        <p:spPr>
          <a:xfrm>
            <a:off x="504000" y="226080"/>
            <a:ext cx="9071640" cy="946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 type="subTitle"/>
          </p:nvPr>
        </p:nvSpPr>
        <p:spPr>
          <a:xfrm>
            <a:off x="504000" y="1326600"/>
            <a:ext cx="9071640" cy="328824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4" name="Shape 14"/>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5" name="Shape 15"/>
        <p:cNvGrpSpPr/>
        <p:nvPr/>
      </p:nvGrpSpPr>
      <p:grpSpPr>
        <a:xfrm>
          <a:off x="0" y="0"/>
          <a:ext cx="0" cy="0"/>
          <a:chOff x="0" y="0"/>
          <a:chExt cx="0" cy="0"/>
        </a:xfrm>
      </p:grpSpPr>
      <p:sp>
        <p:nvSpPr>
          <p:cNvPr id="16" name="Google Shape;16;p4"/>
          <p:cNvSpPr txBox="1"/>
          <p:nvPr>
            <p:ph type="title"/>
          </p:nvPr>
        </p:nvSpPr>
        <p:spPr>
          <a:xfrm>
            <a:off x="504000" y="226080"/>
            <a:ext cx="9071640" cy="946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4"/>
          <p:cNvSpPr txBox="1"/>
          <p:nvPr>
            <p:ph idx="1" type="body"/>
          </p:nvPr>
        </p:nvSpPr>
        <p:spPr>
          <a:xfrm>
            <a:off x="504000" y="1326600"/>
            <a:ext cx="9071640" cy="32882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8" name="Shape 18"/>
        <p:cNvGrpSpPr/>
        <p:nvPr/>
      </p:nvGrpSpPr>
      <p:grpSpPr>
        <a:xfrm>
          <a:off x="0" y="0"/>
          <a:ext cx="0" cy="0"/>
          <a:chOff x="0" y="0"/>
          <a:chExt cx="0" cy="0"/>
        </a:xfrm>
      </p:grpSpPr>
      <p:sp>
        <p:nvSpPr>
          <p:cNvPr id="19" name="Google Shape;19;p5"/>
          <p:cNvSpPr txBox="1"/>
          <p:nvPr>
            <p:ph type="title"/>
          </p:nvPr>
        </p:nvSpPr>
        <p:spPr>
          <a:xfrm>
            <a:off x="504000" y="226080"/>
            <a:ext cx="9071640" cy="946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5"/>
          <p:cNvSpPr txBox="1"/>
          <p:nvPr>
            <p:ph idx="1" type="body"/>
          </p:nvPr>
        </p:nvSpPr>
        <p:spPr>
          <a:xfrm>
            <a:off x="504000" y="1326600"/>
            <a:ext cx="4426920" cy="32882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 name="Google Shape;21;p5"/>
          <p:cNvSpPr txBox="1"/>
          <p:nvPr>
            <p:ph idx="2" type="body"/>
          </p:nvPr>
        </p:nvSpPr>
        <p:spPr>
          <a:xfrm>
            <a:off x="5152680" y="1326600"/>
            <a:ext cx="4426920" cy="32882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2" name="Shape 22"/>
        <p:cNvGrpSpPr/>
        <p:nvPr/>
      </p:nvGrpSpPr>
      <p:grpSpPr>
        <a:xfrm>
          <a:off x="0" y="0"/>
          <a:ext cx="0" cy="0"/>
          <a:chOff x="0" y="0"/>
          <a:chExt cx="0" cy="0"/>
        </a:xfrm>
      </p:grpSpPr>
      <p:sp>
        <p:nvSpPr>
          <p:cNvPr id="23" name="Google Shape;23;p6"/>
          <p:cNvSpPr txBox="1"/>
          <p:nvPr>
            <p:ph type="title"/>
          </p:nvPr>
        </p:nvSpPr>
        <p:spPr>
          <a:xfrm>
            <a:off x="504000" y="226080"/>
            <a:ext cx="9071640" cy="946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4" name="Shape 24"/>
        <p:cNvGrpSpPr/>
        <p:nvPr/>
      </p:nvGrpSpPr>
      <p:grpSpPr>
        <a:xfrm>
          <a:off x="0" y="0"/>
          <a:ext cx="0" cy="0"/>
          <a:chOff x="0" y="0"/>
          <a:chExt cx="0" cy="0"/>
        </a:xfrm>
      </p:grpSpPr>
      <p:sp>
        <p:nvSpPr>
          <p:cNvPr id="25" name="Google Shape;25;p7"/>
          <p:cNvSpPr txBox="1"/>
          <p:nvPr>
            <p:ph idx="1" type="subTitle"/>
          </p:nvPr>
        </p:nvSpPr>
        <p:spPr>
          <a:xfrm>
            <a:off x="504000" y="226080"/>
            <a:ext cx="9071640" cy="43884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6" name="Shape 26"/>
        <p:cNvGrpSpPr/>
        <p:nvPr/>
      </p:nvGrpSpPr>
      <p:grpSpPr>
        <a:xfrm>
          <a:off x="0" y="0"/>
          <a:ext cx="0" cy="0"/>
          <a:chOff x="0" y="0"/>
          <a:chExt cx="0" cy="0"/>
        </a:xfrm>
      </p:grpSpPr>
      <p:sp>
        <p:nvSpPr>
          <p:cNvPr id="27" name="Google Shape;27;p8"/>
          <p:cNvSpPr txBox="1"/>
          <p:nvPr>
            <p:ph type="title"/>
          </p:nvPr>
        </p:nvSpPr>
        <p:spPr>
          <a:xfrm>
            <a:off x="504000" y="226080"/>
            <a:ext cx="9071640" cy="946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8"/>
          <p:cNvSpPr txBox="1"/>
          <p:nvPr>
            <p:ph idx="1" type="body"/>
          </p:nvPr>
        </p:nvSpPr>
        <p:spPr>
          <a:xfrm>
            <a:off x="504000" y="1326600"/>
            <a:ext cx="4426920" cy="15681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9" name="Google Shape;29;p8"/>
          <p:cNvSpPr txBox="1"/>
          <p:nvPr>
            <p:ph idx="2" type="body"/>
          </p:nvPr>
        </p:nvSpPr>
        <p:spPr>
          <a:xfrm>
            <a:off x="5152680" y="1326600"/>
            <a:ext cx="4426920" cy="32882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0" name="Google Shape;30;p8"/>
          <p:cNvSpPr txBox="1"/>
          <p:nvPr>
            <p:ph idx="3" type="body"/>
          </p:nvPr>
        </p:nvSpPr>
        <p:spPr>
          <a:xfrm>
            <a:off x="504000" y="3044160"/>
            <a:ext cx="4426920" cy="15681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1" name="Shape 31"/>
        <p:cNvGrpSpPr/>
        <p:nvPr/>
      </p:nvGrpSpPr>
      <p:grpSpPr>
        <a:xfrm>
          <a:off x="0" y="0"/>
          <a:ext cx="0" cy="0"/>
          <a:chOff x="0" y="0"/>
          <a:chExt cx="0" cy="0"/>
        </a:xfrm>
      </p:grpSpPr>
      <p:sp>
        <p:nvSpPr>
          <p:cNvPr id="32" name="Google Shape;32;p9"/>
          <p:cNvSpPr txBox="1"/>
          <p:nvPr>
            <p:ph type="title"/>
          </p:nvPr>
        </p:nvSpPr>
        <p:spPr>
          <a:xfrm>
            <a:off x="504000" y="226080"/>
            <a:ext cx="9071640" cy="946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9"/>
          <p:cNvSpPr txBox="1"/>
          <p:nvPr>
            <p:ph idx="1" type="body"/>
          </p:nvPr>
        </p:nvSpPr>
        <p:spPr>
          <a:xfrm>
            <a:off x="504000" y="1326600"/>
            <a:ext cx="4426920" cy="32882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4" name="Google Shape;34;p9"/>
          <p:cNvSpPr txBox="1"/>
          <p:nvPr>
            <p:ph idx="2" type="body"/>
          </p:nvPr>
        </p:nvSpPr>
        <p:spPr>
          <a:xfrm>
            <a:off x="5152680" y="1326600"/>
            <a:ext cx="4426920" cy="15681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5" name="Google Shape;35;p9"/>
          <p:cNvSpPr txBox="1"/>
          <p:nvPr>
            <p:ph idx="3" type="body"/>
          </p:nvPr>
        </p:nvSpPr>
        <p:spPr>
          <a:xfrm>
            <a:off x="5152680" y="3044160"/>
            <a:ext cx="4426920" cy="15681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6" name="Shape 36"/>
        <p:cNvGrpSpPr/>
        <p:nvPr/>
      </p:nvGrpSpPr>
      <p:grpSpPr>
        <a:xfrm>
          <a:off x="0" y="0"/>
          <a:ext cx="0" cy="0"/>
          <a:chOff x="0" y="0"/>
          <a:chExt cx="0" cy="0"/>
        </a:xfrm>
      </p:grpSpPr>
      <p:sp>
        <p:nvSpPr>
          <p:cNvPr id="37" name="Google Shape;37;p10"/>
          <p:cNvSpPr txBox="1"/>
          <p:nvPr>
            <p:ph type="title"/>
          </p:nvPr>
        </p:nvSpPr>
        <p:spPr>
          <a:xfrm>
            <a:off x="504000" y="226080"/>
            <a:ext cx="9071640" cy="946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0"/>
          <p:cNvSpPr txBox="1"/>
          <p:nvPr>
            <p:ph idx="1" type="body"/>
          </p:nvPr>
        </p:nvSpPr>
        <p:spPr>
          <a:xfrm>
            <a:off x="504000" y="1326600"/>
            <a:ext cx="4426920" cy="15681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9" name="Google Shape;39;p10"/>
          <p:cNvSpPr txBox="1"/>
          <p:nvPr>
            <p:ph idx="2" type="body"/>
          </p:nvPr>
        </p:nvSpPr>
        <p:spPr>
          <a:xfrm>
            <a:off x="5152680" y="1326600"/>
            <a:ext cx="4426920" cy="15681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0" name="Google Shape;40;p10"/>
          <p:cNvSpPr txBox="1"/>
          <p:nvPr>
            <p:ph idx="3" type="body"/>
          </p:nvPr>
        </p:nvSpPr>
        <p:spPr>
          <a:xfrm>
            <a:off x="504000" y="3044160"/>
            <a:ext cx="9071640" cy="15681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41" name="Shape 41"/>
        <p:cNvGrpSpPr/>
        <p:nvPr/>
      </p:nvGrpSpPr>
      <p:grpSpPr>
        <a:xfrm>
          <a:off x="0" y="0"/>
          <a:ext cx="0" cy="0"/>
          <a:chOff x="0" y="0"/>
          <a:chExt cx="0" cy="0"/>
        </a:xfrm>
      </p:grpSpPr>
      <p:sp>
        <p:nvSpPr>
          <p:cNvPr id="42" name="Google Shape;42;p11"/>
          <p:cNvSpPr txBox="1"/>
          <p:nvPr>
            <p:ph type="title"/>
          </p:nvPr>
        </p:nvSpPr>
        <p:spPr>
          <a:xfrm>
            <a:off x="504000" y="226080"/>
            <a:ext cx="9071640" cy="946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1"/>
          <p:cNvSpPr txBox="1"/>
          <p:nvPr>
            <p:ph idx="1" type="body"/>
          </p:nvPr>
        </p:nvSpPr>
        <p:spPr>
          <a:xfrm>
            <a:off x="504000" y="1326600"/>
            <a:ext cx="9071640" cy="15681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4" name="Google Shape;44;p11"/>
          <p:cNvSpPr txBox="1"/>
          <p:nvPr>
            <p:ph idx="2" type="body"/>
          </p:nvPr>
        </p:nvSpPr>
        <p:spPr>
          <a:xfrm>
            <a:off x="504000" y="3044160"/>
            <a:ext cx="9071640" cy="15681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5" name="Shape 45"/>
        <p:cNvGrpSpPr/>
        <p:nvPr/>
      </p:nvGrpSpPr>
      <p:grpSpPr>
        <a:xfrm>
          <a:off x="0" y="0"/>
          <a:ext cx="0" cy="0"/>
          <a:chOff x="0" y="0"/>
          <a:chExt cx="0" cy="0"/>
        </a:xfrm>
      </p:grpSpPr>
      <p:sp>
        <p:nvSpPr>
          <p:cNvPr id="46" name="Google Shape;46;p12"/>
          <p:cNvSpPr txBox="1"/>
          <p:nvPr>
            <p:ph type="title"/>
          </p:nvPr>
        </p:nvSpPr>
        <p:spPr>
          <a:xfrm>
            <a:off x="504000" y="226080"/>
            <a:ext cx="9071640" cy="946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2"/>
          <p:cNvSpPr txBox="1"/>
          <p:nvPr>
            <p:ph idx="1" type="body"/>
          </p:nvPr>
        </p:nvSpPr>
        <p:spPr>
          <a:xfrm>
            <a:off x="504000" y="1326600"/>
            <a:ext cx="4426920" cy="15681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8" name="Google Shape;48;p12"/>
          <p:cNvSpPr txBox="1"/>
          <p:nvPr>
            <p:ph idx="2" type="body"/>
          </p:nvPr>
        </p:nvSpPr>
        <p:spPr>
          <a:xfrm>
            <a:off x="5152680" y="1326600"/>
            <a:ext cx="4426920" cy="15681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9" name="Google Shape;49;p12"/>
          <p:cNvSpPr txBox="1"/>
          <p:nvPr>
            <p:ph idx="3" type="body"/>
          </p:nvPr>
        </p:nvSpPr>
        <p:spPr>
          <a:xfrm>
            <a:off x="504000" y="3044160"/>
            <a:ext cx="4426920" cy="15681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0" name="Google Shape;50;p12"/>
          <p:cNvSpPr txBox="1"/>
          <p:nvPr>
            <p:ph idx="4" type="body"/>
          </p:nvPr>
        </p:nvSpPr>
        <p:spPr>
          <a:xfrm>
            <a:off x="5152680" y="3044160"/>
            <a:ext cx="4426920" cy="15681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51" name="Shape 51"/>
        <p:cNvGrpSpPr/>
        <p:nvPr/>
      </p:nvGrpSpPr>
      <p:grpSpPr>
        <a:xfrm>
          <a:off x="0" y="0"/>
          <a:ext cx="0" cy="0"/>
          <a:chOff x="0" y="0"/>
          <a:chExt cx="0" cy="0"/>
        </a:xfrm>
      </p:grpSpPr>
      <p:sp>
        <p:nvSpPr>
          <p:cNvPr id="52" name="Google Shape;52;p13"/>
          <p:cNvSpPr txBox="1"/>
          <p:nvPr>
            <p:ph type="title"/>
          </p:nvPr>
        </p:nvSpPr>
        <p:spPr>
          <a:xfrm>
            <a:off x="504000" y="226080"/>
            <a:ext cx="9071640" cy="946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3"/>
          <p:cNvSpPr txBox="1"/>
          <p:nvPr>
            <p:ph idx="1" type="body"/>
          </p:nvPr>
        </p:nvSpPr>
        <p:spPr>
          <a:xfrm>
            <a:off x="504000" y="1326600"/>
            <a:ext cx="2920680" cy="15681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4" name="Google Shape;54;p13"/>
          <p:cNvSpPr txBox="1"/>
          <p:nvPr>
            <p:ph idx="2" type="body"/>
          </p:nvPr>
        </p:nvSpPr>
        <p:spPr>
          <a:xfrm>
            <a:off x="3571200" y="1326600"/>
            <a:ext cx="2920680" cy="15681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5" name="Google Shape;55;p13"/>
          <p:cNvSpPr txBox="1"/>
          <p:nvPr>
            <p:ph idx="3" type="body"/>
          </p:nvPr>
        </p:nvSpPr>
        <p:spPr>
          <a:xfrm>
            <a:off x="6638040" y="1326600"/>
            <a:ext cx="2920680" cy="15681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6" name="Google Shape;56;p13"/>
          <p:cNvSpPr txBox="1"/>
          <p:nvPr>
            <p:ph idx="4" type="body"/>
          </p:nvPr>
        </p:nvSpPr>
        <p:spPr>
          <a:xfrm>
            <a:off x="504000" y="3044160"/>
            <a:ext cx="2920680" cy="15681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7" name="Google Shape;57;p13"/>
          <p:cNvSpPr txBox="1"/>
          <p:nvPr>
            <p:ph idx="5" type="body"/>
          </p:nvPr>
        </p:nvSpPr>
        <p:spPr>
          <a:xfrm>
            <a:off x="3571200" y="3044160"/>
            <a:ext cx="2920680" cy="15681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8" name="Google Shape;58;p13"/>
          <p:cNvSpPr txBox="1"/>
          <p:nvPr>
            <p:ph idx="6" type="body"/>
          </p:nvPr>
        </p:nvSpPr>
        <p:spPr>
          <a:xfrm>
            <a:off x="6638040" y="3044160"/>
            <a:ext cx="2920680" cy="15681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 name="Shape 5"/>
        <p:cNvGrpSpPr/>
        <p:nvPr/>
      </p:nvGrpSpPr>
      <p:grpSpPr>
        <a:xfrm>
          <a:off x="0" y="0"/>
          <a:ext cx="0" cy="0"/>
          <a:chOff x="0" y="0"/>
          <a:chExt cx="0" cy="0"/>
        </a:xfrm>
      </p:grpSpPr>
      <p:sp>
        <p:nvSpPr>
          <p:cNvPr id="6" name="Google Shape;6;p1"/>
          <p:cNvSpPr txBox="1"/>
          <p:nvPr>
            <p:ph type="title"/>
          </p:nvPr>
        </p:nvSpPr>
        <p:spPr>
          <a:xfrm>
            <a:off x="504000" y="226080"/>
            <a:ext cx="9071640" cy="94644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 name="Google Shape;7;p1"/>
          <p:cNvSpPr txBox="1"/>
          <p:nvPr>
            <p:ph idx="1" type="body"/>
          </p:nvPr>
        </p:nvSpPr>
        <p:spPr>
          <a:xfrm>
            <a:off x="504000" y="1326600"/>
            <a:ext cx="9071640" cy="32882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8" name="Google Shape;8;p1"/>
          <p:cNvSpPr txBox="1"/>
          <p:nvPr>
            <p:ph idx="10" type="dt"/>
          </p:nvPr>
        </p:nvSpPr>
        <p:spPr>
          <a:xfrm>
            <a:off x="504000" y="5165280"/>
            <a:ext cx="2348280" cy="39060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9" name="Google Shape;9;p1"/>
          <p:cNvSpPr txBox="1"/>
          <p:nvPr>
            <p:ph idx="11" type="ftr"/>
          </p:nvPr>
        </p:nvSpPr>
        <p:spPr>
          <a:xfrm>
            <a:off x="3447360" y="5165280"/>
            <a:ext cx="3195000" cy="39060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0" name="Google Shape;10;p1"/>
          <p:cNvSpPr txBox="1"/>
          <p:nvPr>
            <p:ph idx="12" type="sldNum"/>
          </p:nvPr>
        </p:nvSpPr>
        <p:spPr>
          <a:xfrm>
            <a:off x="7227360" y="5165280"/>
            <a:ext cx="2348280" cy="390600"/>
          </a:xfrm>
          <a:prstGeom prst="rect">
            <a:avLst/>
          </a:prstGeom>
          <a:noFill/>
          <a:ln>
            <a:noFill/>
          </a:ln>
        </p:spPr>
        <p:txBody>
          <a:bodyPr anchorCtr="0" anchor="t" bIns="0" lIns="0" spcFirstLastPara="1" rIns="0" wrap="square" tIns="0">
            <a:noAutofit/>
          </a:bodyPr>
          <a:lstStyle>
            <a:lvl1pPr indent="0" lvl="0" marL="0" marR="0" rtl="0" algn="r">
              <a:spcBef>
                <a:spcPts val="0"/>
              </a:spcBef>
              <a:buNone/>
              <a:defRPr b="0" i="0" sz="1400" u="none" cap="none" strike="noStrike">
                <a:latin typeface="Times New Roman"/>
                <a:ea typeface="Times New Roman"/>
                <a:cs typeface="Times New Roman"/>
                <a:sym typeface="Times New Roman"/>
              </a:defRPr>
            </a:lvl1pPr>
            <a:lvl2pPr indent="0" lvl="1" marL="0" marR="0" rtl="0" algn="r">
              <a:spcBef>
                <a:spcPts val="0"/>
              </a:spcBef>
              <a:buNone/>
              <a:defRPr b="0" i="0" sz="1400" u="none" cap="none" strike="noStrike">
                <a:latin typeface="Times New Roman"/>
                <a:ea typeface="Times New Roman"/>
                <a:cs typeface="Times New Roman"/>
                <a:sym typeface="Times New Roman"/>
              </a:defRPr>
            </a:lvl2pPr>
            <a:lvl3pPr indent="0" lvl="2" marL="0" marR="0" rtl="0" algn="r">
              <a:spcBef>
                <a:spcPts val="0"/>
              </a:spcBef>
              <a:buNone/>
              <a:defRPr b="0" i="0" sz="1400" u="none" cap="none" strike="noStrike">
                <a:latin typeface="Times New Roman"/>
                <a:ea typeface="Times New Roman"/>
                <a:cs typeface="Times New Roman"/>
                <a:sym typeface="Times New Roman"/>
              </a:defRPr>
            </a:lvl3pPr>
            <a:lvl4pPr indent="0" lvl="3" marL="0" marR="0" rtl="0" algn="r">
              <a:spcBef>
                <a:spcPts val="0"/>
              </a:spcBef>
              <a:buNone/>
              <a:defRPr b="0" i="0" sz="1400" u="none" cap="none" strike="noStrike">
                <a:latin typeface="Times New Roman"/>
                <a:ea typeface="Times New Roman"/>
                <a:cs typeface="Times New Roman"/>
                <a:sym typeface="Times New Roman"/>
              </a:defRPr>
            </a:lvl4pPr>
            <a:lvl5pPr indent="0" lvl="4" marL="0" marR="0" rtl="0" algn="r">
              <a:spcBef>
                <a:spcPts val="0"/>
              </a:spcBef>
              <a:buNone/>
              <a:defRPr b="0" i="0" sz="1400" u="none" cap="none" strike="noStrike">
                <a:latin typeface="Times New Roman"/>
                <a:ea typeface="Times New Roman"/>
                <a:cs typeface="Times New Roman"/>
                <a:sym typeface="Times New Roman"/>
              </a:defRPr>
            </a:lvl5pPr>
            <a:lvl6pPr indent="0" lvl="5" marL="0" marR="0" rtl="0" algn="r">
              <a:spcBef>
                <a:spcPts val="0"/>
              </a:spcBef>
              <a:buNone/>
              <a:defRPr b="0" i="0" sz="1400" u="none" cap="none" strike="noStrike">
                <a:latin typeface="Times New Roman"/>
                <a:ea typeface="Times New Roman"/>
                <a:cs typeface="Times New Roman"/>
                <a:sym typeface="Times New Roman"/>
              </a:defRPr>
            </a:lvl6pPr>
            <a:lvl7pPr indent="0" lvl="6" marL="0" marR="0" rtl="0" algn="r">
              <a:spcBef>
                <a:spcPts val="0"/>
              </a:spcBef>
              <a:buNone/>
              <a:defRPr b="0" i="0" sz="1400" u="none" cap="none" strike="noStrike">
                <a:latin typeface="Times New Roman"/>
                <a:ea typeface="Times New Roman"/>
                <a:cs typeface="Times New Roman"/>
                <a:sym typeface="Times New Roman"/>
              </a:defRPr>
            </a:lvl7pPr>
            <a:lvl8pPr indent="0" lvl="7" marL="0" marR="0" rtl="0" algn="r">
              <a:spcBef>
                <a:spcPts val="0"/>
              </a:spcBef>
              <a:buNone/>
              <a:defRPr b="0" i="0" sz="1400" u="none" cap="none" strike="noStrike">
                <a:latin typeface="Times New Roman"/>
                <a:ea typeface="Times New Roman"/>
                <a:cs typeface="Times New Roman"/>
                <a:sym typeface="Times New Roman"/>
              </a:defRPr>
            </a:lvl8pPr>
            <a:lvl9pPr indent="0" lvl="8" marL="0" marR="0" rtl="0" algn="r">
              <a:spcBef>
                <a:spcPts val="0"/>
              </a:spcBef>
              <a:buNone/>
              <a:defRPr b="0" i="0" sz="1400" u="none" cap="none" strike="noStrike">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png"/><Relationship Id="rId4" Type="http://schemas.openxmlformats.org/officeDocument/2006/relationships/image" Target="../media/image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png"/><Relationship Id="rId4" Type="http://schemas.openxmlformats.org/officeDocument/2006/relationships/image" Target="../media/image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cxnSp>
        <p:nvCxnSpPr>
          <p:cNvPr id="63" name="Google Shape;63;p14"/>
          <p:cNvCxnSpPr/>
          <p:nvPr/>
        </p:nvCxnSpPr>
        <p:spPr>
          <a:xfrm>
            <a:off x="1028513" y="1224993"/>
            <a:ext cx="7920000" cy="0"/>
          </a:xfrm>
          <a:prstGeom prst="straightConnector1">
            <a:avLst/>
          </a:prstGeom>
          <a:noFill/>
          <a:ln cap="flat" cmpd="sng" w="36000">
            <a:solidFill>
              <a:srgbClr val="468A1A"/>
            </a:solidFill>
            <a:prstDash val="solid"/>
            <a:round/>
            <a:headEnd len="sm" w="sm" type="none"/>
            <a:tailEnd len="sm" w="sm" type="none"/>
          </a:ln>
        </p:spPr>
      </p:cxnSp>
      <p:sp>
        <p:nvSpPr>
          <p:cNvPr id="64" name="Google Shape;64;p14"/>
          <p:cNvSpPr txBox="1"/>
          <p:nvPr/>
        </p:nvSpPr>
        <p:spPr>
          <a:xfrm>
            <a:off x="672025" y="171636"/>
            <a:ext cx="8736600" cy="876900"/>
          </a:xfrm>
          <a:prstGeom prst="rect">
            <a:avLst/>
          </a:prstGeom>
          <a:noFill/>
          <a:ln>
            <a:noFill/>
          </a:ln>
        </p:spPr>
        <p:txBody>
          <a:bodyPr anchorCtr="0" anchor="t" bIns="45000" lIns="90000" spcFirstLastPara="1" rIns="90000" wrap="square" tIns="45000">
            <a:noAutofit/>
          </a:bodyPr>
          <a:lstStyle/>
          <a:p>
            <a:pPr indent="0" lvl="0" marL="0" marR="0" rtl="0" algn="ctr">
              <a:lnSpc>
                <a:spcPct val="70000"/>
              </a:lnSpc>
              <a:spcBef>
                <a:spcPts val="0"/>
              </a:spcBef>
              <a:spcAft>
                <a:spcPts val="0"/>
              </a:spcAft>
              <a:buNone/>
            </a:pPr>
            <a:r>
              <a:rPr b="1" lang="en-US" sz="2200">
                <a:solidFill>
                  <a:srgbClr val="468A1A"/>
                </a:solidFill>
              </a:rPr>
              <a:t>BBCC2026 </a:t>
            </a:r>
            <a:endParaRPr b="1" sz="2200">
              <a:solidFill>
                <a:srgbClr val="468A1A"/>
              </a:solidFill>
            </a:endParaRPr>
          </a:p>
          <a:p>
            <a:pPr indent="0" lvl="0" marL="0" marR="0" rtl="0" algn="ctr">
              <a:lnSpc>
                <a:spcPct val="70000"/>
              </a:lnSpc>
              <a:spcBef>
                <a:spcPts val="0"/>
              </a:spcBef>
              <a:spcAft>
                <a:spcPts val="0"/>
              </a:spcAft>
              <a:buNone/>
            </a:pPr>
            <a:r>
              <a:rPr b="1" lang="en-US" sz="2200">
                <a:solidFill>
                  <a:srgbClr val="468A1A"/>
                </a:solidFill>
              </a:rPr>
              <a:t>— </a:t>
            </a:r>
            <a:endParaRPr b="1" sz="2200">
              <a:solidFill>
                <a:srgbClr val="468A1A"/>
              </a:solidFill>
            </a:endParaRPr>
          </a:p>
          <a:p>
            <a:pPr indent="0" lvl="0" marL="0" marR="0" rtl="0" algn="l">
              <a:spcBef>
                <a:spcPts val="0"/>
              </a:spcBef>
              <a:spcAft>
                <a:spcPts val="0"/>
              </a:spcAft>
              <a:buNone/>
            </a:pPr>
            <a:r>
              <a:rPr b="1" lang="en-US" sz="2200">
                <a:solidFill>
                  <a:srgbClr val="468A1A"/>
                </a:solidFill>
              </a:rPr>
              <a:t>Module 0 — From Raw Files to a Biobank-Grade Sample Sheet</a:t>
            </a:r>
            <a:endParaRPr b="1" sz="2200">
              <a:solidFill>
                <a:srgbClr val="468A1A"/>
              </a:solidFill>
            </a:endParaRPr>
          </a:p>
        </p:txBody>
      </p:sp>
      <p:sp>
        <p:nvSpPr>
          <p:cNvPr id="65" name="Google Shape;65;p14"/>
          <p:cNvSpPr txBox="1"/>
          <p:nvPr/>
        </p:nvSpPr>
        <p:spPr>
          <a:xfrm>
            <a:off x="0" y="0"/>
            <a:ext cx="12498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300">
                <a:solidFill>
                  <a:srgbClr val="468A1A"/>
                </a:solidFill>
              </a:rPr>
              <a:t>21/10/2026</a:t>
            </a:r>
            <a:endParaRPr sz="500"/>
          </a:p>
        </p:txBody>
      </p:sp>
      <p:pic>
        <p:nvPicPr>
          <p:cNvPr id="66" name="Google Shape;66;p14"/>
          <p:cNvPicPr preferRelativeResize="0"/>
          <p:nvPr/>
        </p:nvPicPr>
        <p:blipFill>
          <a:blip r:embed="rId3">
            <a:alphaModFix/>
          </a:blip>
          <a:stretch>
            <a:fillRect/>
          </a:stretch>
        </p:blipFill>
        <p:spPr>
          <a:xfrm>
            <a:off x="7261375" y="1831127"/>
            <a:ext cx="2370800" cy="2370800"/>
          </a:xfrm>
          <a:prstGeom prst="rect">
            <a:avLst/>
          </a:prstGeom>
          <a:noFill/>
          <a:ln>
            <a:noFill/>
          </a:ln>
        </p:spPr>
      </p:pic>
      <p:sp>
        <p:nvSpPr>
          <p:cNvPr id="67" name="Google Shape;67;p14"/>
          <p:cNvSpPr txBox="1"/>
          <p:nvPr/>
        </p:nvSpPr>
        <p:spPr>
          <a:xfrm>
            <a:off x="2015503" y="2356857"/>
            <a:ext cx="4149900" cy="4029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1800">
                <a:solidFill>
                  <a:srgbClr val="468A1A"/>
                </a:solidFill>
              </a:rPr>
              <a:t>Part 1 — Why Metadata Matters</a:t>
            </a:r>
            <a:endParaRPr b="0" sz="1800" strike="noStrike">
              <a:latin typeface="Arial"/>
              <a:ea typeface="Arial"/>
              <a:cs typeface="Arial"/>
              <a:sym typeface="Arial"/>
            </a:endParaRPr>
          </a:p>
        </p:txBody>
      </p:sp>
      <p:sp>
        <p:nvSpPr>
          <p:cNvPr id="68" name="Google Shape;68;p14"/>
          <p:cNvSpPr txBox="1"/>
          <p:nvPr/>
        </p:nvSpPr>
        <p:spPr>
          <a:xfrm>
            <a:off x="2015505" y="3074003"/>
            <a:ext cx="5310600" cy="3663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1800">
                <a:solidFill>
                  <a:srgbClr val="468A1A"/>
                </a:solidFill>
              </a:rPr>
              <a:t>Part 2 — What Good Metadata Looks Like</a:t>
            </a:r>
            <a:endParaRPr b="0" sz="1800" strike="noStrike">
              <a:latin typeface="Arial"/>
              <a:ea typeface="Arial"/>
              <a:cs typeface="Arial"/>
              <a:sym typeface="Arial"/>
            </a:endParaRPr>
          </a:p>
        </p:txBody>
      </p:sp>
      <p:sp>
        <p:nvSpPr>
          <p:cNvPr id="69" name="Google Shape;69;p14"/>
          <p:cNvSpPr txBox="1"/>
          <p:nvPr/>
        </p:nvSpPr>
        <p:spPr>
          <a:xfrm>
            <a:off x="2015503" y="3791161"/>
            <a:ext cx="4149900" cy="4029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1800">
                <a:solidFill>
                  <a:srgbClr val="468A1A"/>
                </a:solidFill>
              </a:rPr>
              <a:t>Part 3 — Biobank Basics</a:t>
            </a:r>
            <a:endParaRPr b="0" sz="1800" strike="noStrike">
              <a:latin typeface="Arial"/>
              <a:ea typeface="Arial"/>
              <a:cs typeface="Arial"/>
              <a:sym typeface="Arial"/>
            </a:endParaRPr>
          </a:p>
        </p:txBody>
      </p:sp>
      <p:sp>
        <p:nvSpPr>
          <p:cNvPr id="70" name="Google Shape;70;p14"/>
          <p:cNvSpPr txBox="1"/>
          <p:nvPr/>
        </p:nvSpPr>
        <p:spPr>
          <a:xfrm>
            <a:off x="2015513" y="4508303"/>
            <a:ext cx="6666300" cy="4029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1800">
                <a:solidFill>
                  <a:srgbClr val="468A1A"/>
                </a:solidFill>
              </a:rPr>
              <a:t>Part 4 — Hands-On: Build &amp; Debug a Mini Biobank Record</a:t>
            </a:r>
            <a:endParaRPr b="0" sz="1800" strike="noStrike">
              <a:latin typeface="Arial"/>
              <a:ea typeface="Arial"/>
              <a:cs typeface="Arial"/>
              <a:sym typeface="Arial"/>
            </a:endParaRPr>
          </a:p>
        </p:txBody>
      </p:sp>
      <p:sp>
        <p:nvSpPr>
          <p:cNvPr id="71" name="Google Shape;71;p14"/>
          <p:cNvSpPr txBox="1"/>
          <p:nvPr/>
        </p:nvSpPr>
        <p:spPr>
          <a:xfrm>
            <a:off x="2015499" y="1639700"/>
            <a:ext cx="5751900" cy="4029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1800">
                <a:solidFill>
                  <a:srgbClr val="468A1A"/>
                </a:solidFill>
              </a:rPr>
              <a:t>Intro — </a:t>
            </a:r>
            <a:r>
              <a:rPr b="1" lang="en-US" sz="1800">
                <a:solidFill>
                  <a:srgbClr val="468A1A"/>
                </a:solidFill>
              </a:rPr>
              <a:t>Metadata: what are we talking about?</a:t>
            </a:r>
            <a:endParaRPr b="0" sz="1800" strike="noStrike">
              <a:latin typeface="Arial"/>
              <a:ea typeface="Arial"/>
              <a:cs typeface="Arial"/>
              <a:sym typeface="Arial"/>
            </a:endParaRPr>
          </a:p>
        </p:txBody>
      </p:sp>
      <p:sp>
        <p:nvSpPr>
          <p:cNvPr id="72" name="Google Shape;72;p14"/>
          <p:cNvSpPr/>
          <p:nvPr/>
        </p:nvSpPr>
        <p:spPr>
          <a:xfrm>
            <a:off x="1604081" y="1683656"/>
            <a:ext cx="231000" cy="315000"/>
          </a:xfrm>
          <a:prstGeom prst="diamond">
            <a:avLst/>
          </a:prstGeom>
          <a:solidFill>
            <a:srgbClr val="C9211E"/>
          </a:solidFill>
          <a:ln cap="flat" cmpd="sng" w="9525">
            <a:solidFill>
              <a:srgbClr val="C9211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 name="Google Shape;73;p14"/>
          <p:cNvSpPr/>
          <p:nvPr/>
        </p:nvSpPr>
        <p:spPr>
          <a:xfrm>
            <a:off x="1604081" y="2400806"/>
            <a:ext cx="231000" cy="315000"/>
          </a:xfrm>
          <a:prstGeom prst="diamond">
            <a:avLst/>
          </a:prstGeom>
          <a:solidFill>
            <a:srgbClr val="C9211E"/>
          </a:solidFill>
          <a:ln cap="flat" cmpd="sng" w="9525">
            <a:solidFill>
              <a:srgbClr val="C9211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 name="Google Shape;74;p14"/>
          <p:cNvSpPr/>
          <p:nvPr/>
        </p:nvSpPr>
        <p:spPr>
          <a:xfrm>
            <a:off x="1604081" y="3117956"/>
            <a:ext cx="231000" cy="315000"/>
          </a:xfrm>
          <a:prstGeom prst="diamond">
            <a:avLst/>
          </a:prstGeom>
          <a:solidFill>
            <a:srgbClr val="C9211E"/>
          </a:solidFill>
          <a:ln cap="flat" cmpd="sng" w="9525">
            <a:solidFill>
              <a:srgbClr val="C9211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 name="Google Shape;75;p14"/>
          <p:cNvSpPr/>
          <p:nvPr/>
        </p:nvSpPr>
        <p:spPr>
          <a:xfrm>
            <a:off x="1604081" y="3835106"/>
            <a:ext cx="231000" cy="315000"/>
          </a:xfrm>
          <a:prstGeom prst="diamond">
            <a:avLst/>
          </a:prstGeom>
          <a:solidFill>
            <a:srgbClr val="C9211E"/>
          </a:solidFill>
          <a:ln cap="flat" cmpd="sng" w="9525">
            <a:solidFill>
              <a:srgbClr val="C9211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 name="Google Shape;76;p14"/>
          <p:cNvSpPr/>
          <p:nvPr/>
        </p:nvSpPr>
        <p:spPr>
          <a:xfrm>
            <a:off x="1604081" y="4616402"/>
            <a:ext cx="231000" cy="315000"/>
          </a:xfrm>
          <a:prstGeom prst="diamond">
            <a:avLst/>
          </a:prstGeom>
          <a:solidFill>
            <a:srgbClr val="C9211E"/>
          </a:solidFill>
          <a:ln cap="flat" cmpd="sng" w="9525">
            <a:solidFill>
              <a:srgbClr val="C9211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 name="Google Shape;77;p14"/>
          <p:cNvSpPr txBox="1"/>
          <p:nvPr/>
        </p:nvSpPr>
        <p:spPr>
          <a:xfrm>
            <a:off x="1767013" y="5054950"/>
            <a:ext cx="6546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t> - Francesco Cecere · Senior Bioinformatic Researcher · AORN Santobono-Pausilipon IRCCS</a:t>
            </a:r>
            <a:endParaRPr sz="1200"/>
          </a:p>
          <a:p>
            <a:pPr indent="0" lvl="0" marL="0" rtl="0" algn="l">
              <a:spcBef>
                <a:spcPts val="0"/>
              </a:spcBef>
              <a:spcAft>
                <a:spcPts val="0"/>
              </a:spcAft>
              <a:buNone/>
            </a:pPr>
            <a:r>
              <a:rPr lang="en-US" sz="1200"/>
              <a:t> - Eva Luna Tarallo   · Junior Bioinformatic Researcher ·  AORN Santobono-Pausilipon IRCCS</a:t>
            </a:r>
            <a:endParaRPr sz="12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cxnSp>
        <p:nvCxnSpPr>
          <p:cNvPr id="82" name="Google Shape;82;p15"/>
          <p:cNvCxnSpPr/>
          <p:nvPr/>
        </p:nvCxnSpPr>
        <p:spPr>
          <a:xfrm>
            <a:off x="180000" y="540000"/>
            <a:ext cx="7920000" cy="0"/>
          </a:xfrm>
          <a:prstGeom prst="straightConnector1">
            <a:avLst/>
          </a:prstGeom>
          <a:noFill/>
          <a:ln cap="flat" cmpd="sng" w="36000">
            <a:solidFill>
              <a:srgbClr val="468A1A"/>
            </a:solidFill>
            <a:prstDash val="solid"/>
            <a:round/>
            <a:headEnd len="sm" w="sm" type="none"/>
            <a:tailEnd len="sm" w="sm" type="none"/>
          </a:ln>
        </p:spPr>
      </p:cxnSp>
      <p:sp>
        <p:nvSpPr>
          <p:cNvPr id="83" name="Google Shape;83;p15"/>
          <p:cNvSpPr txBox="1"/>
          <p:nvPr/>
        </p:nvSpPr>
        <p:spPr>
          <a:xfrm>
            <a:off x="120960" y="72360"/>
            <a:ext cx="5207040" cy="40284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i="0" lang="en-US" sz="2200" u="none" cap="none" strike="noStrike">
                <a:solidFill>
                  <a:srgbClr val="468A1A"/>
                </a:solidFill>
                <a:latin typeface="Arial"/>
                <a:ea typeface="Arial"/>
                <a:cs typeface="Arial"/>
                <a:sym typeface="Arial"/>
              </a:rPr>
              <a:t>Metadata: what are we talking about?</a:t>
            </a:r>
            <a:endParaRPr b="0" sz="2200" strike="noStrike">
              <a:latin typeface="Arial"/>
              <a:ea typeface="Arial"/>
              <a:cs typeface="Arial"/>
              <a:sym typeface="Arial"/>
            </a:endParaRPr>
          </a:p>
        </p:txBody>
      </p:sp>
      <p:sp>
        <p:nvSpPr>
          <p:cNvPr id="84" name="Google Shape;84;p15"/>
          <p:cNvSpPr txBox="1"/>
          <p:nvPr/>
        </p:nvSpPr>
        <p:spPr>
          <a:xfrm>
            <a:off x="1440000" y="900000"/>
            <a:ext cx="7200000" cy="360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1500" strike="noStrike">
                <a:solidFill>
                  <a:srgbClr val="000000"/>
                </a:solidFill>
                <a:latin typeface="Arial"/>
                <a:ea typeface="Arial"/>
                <a:cs typeface="Arial"/>
                <a:sym typeface="Arial"/>
              </a:rPr>
              <a:t>Metadata describe and provide information about our dataset of interest. </a:t>
            </a:r>
            <a:endParaRPr b="0" sz="1500" strike="noStrike">
              <a:latin typeface="Arial"/>
              <a:ea typeface="Arial"/>
              <a:cs typeface="Arial"/>
              <a:sym typeface="Arial"/>
            </a:endParaRPr>
          </a:p>
        </p:txBody>
      </p:sp>
      <p:sp>
        <p:nvSpPr>
          <p:cNvPr id="85" name="Google Shape;85;p15"/>
          <p:cNvSpPr txBox="1"/>
          <p:nvPr/>
        </p:nvSpPr>
        <p:spPr>
          <a:xfrm>
            <a:off x="360000" y="1440000"/>
            <a:ext cx="9180000" cy="431640"/>
          </a:xfrm>
          <a:prstGeom prst="rect">
            <a:avLst/>
          </a:prstGeom>
          <a:noFill/>
          <a:ln>
            <a:noFill/>
          </a:ln>
        </p:spPr>
        <p:txBody>
          <a:bodyPr anchorCtr="1" anchor="t" bIns="45000" lIns="90000" spcFirstLastPara="1" rIns="90000" wrap="square" tIns="45000">
            <a:noAutofit/>
          </a:bodyPr>
          <a:lstStyle/>
          <a:p>
            <a:pPr indent="0" lvl="0" marL="0" marR="0" rtl="0" algn="ctr">
              <a:spcBef>
                <a:spcPts val="0"/>
              </a:spcBef>
              <a:spcAft>
                <a:spcPts val="0"/>
              </a:spcAft>
              <a:buNone/>
            </a:pPr>
            <a:r>
              <a:rPr b="0" lang="en-US" sz="1200" strike="noStrike">
                <a:latin typeface="Arial"/>
                <a:ea typeface="Arial"/>
                <a:cs typeface="Arial"/>
                <a:sym typeface="Arial"/>
              </a:rPr>
              <a:t>Metadata </a:t>
            </a:r>
            <a:r>
              <a:rPr b="0" lang="en-US" sz="1200" strike="noStrike">
                <a:solidFill>
                  <a:srgbClr val="C9211E"/>
                </a:solidFill>
                <a:latin typeface="Arial"/>
                <a:ea typeface="Arial"/>
                <a:cs typeface="Arial"/>
                <a:sym typeface="Arial"/>
              </a:rPr>
              <a:t>vary depending on the research context</a:t>
            </a:r>
            <a:r>
              <a:rPr b="0" lang="en-US" sz="1200" strike="noStrike">
                <a:latin typeface="Arial"/>
                <a:ea typeface="Arial"/>
                <a:cs typeface="Arial"/>
                <a:sym typeface="Arial"/>
              </a:rPr>
              <a:t>. They describe the characteristics, origin, conditions, and processing of the data, making datasets easier to interpret, organize, and reuse. </a:t>
            </a:r>
            <a:endParaRPr b="0" sz="1200" strike="noStrike">
              <a:latin typeface="Arial"/>
              <a:ea typeface="Arial"/>
              <a:cs typeface="Arial"/>
              <a:sym typeface="Arial"/>
            </a:endParaRPr>
          </a:p>
        </p:txBody>
      </p:sp>
      <p:pic>
        <p:nvPicPr>
          <p:cNvPr id="86" name="Google Shape;86;p15"/>
          <p:cNvPicPr preferRelativeResize="0"/>
          <p:nvPr/>
        </p:nvPicPr>
        <p:blipFill>
          <a:blip r:embed="rId3">
            <a:alphaModFix/>
          </a:blip>
          <a:stretch>
            <a:fillRect/>
          </a:stretch>
        </p:blipFill>
        <p:spPr>
          <a:xfrm>
            <a:off x="8185700" y="451675"/>
            <a:ext cx="988325" cy="9883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cxnSp>
        <p:nvCxnSpPr>
          <p:cNvPr id="91" name="Google Shape;91;p16"/>
          <p:cNvCxnSpPr/>
          <p:nvPr/>
        </p:nvCxnSpPr>
        <p:spPr>
          <a:xfrm>
            <a:off x="180000" y="540000"/>
            <a:ext cx="7920000" cy="0"/>
          </a:xfrm>
          <a:prstGeom prst="straightConnector1">
            <a:avLst/>
          </a:prstGeom>
          <a:noFill/>
          <a:ln cap="flat" cmpd="sng" w="36000">
            <a:solidFill>
              <a:srgbClr val="468A1A"/>
            </a:solidFill>
            <a:prstDash val="solid"/>
            <a:round/>
            <a:headEnd len="sm" w="sm" type="none"/>
            <a:tailEnd len="sm" w="sm" type="none"/>
          </a:ln>
        </p:spPr>
      </p:cxnSp>
      <p:sp>
        <p:nvSpPr>
          <p:cNvPr id="92" name="Google Shape;92;p16"/>
          <p:cNvSpPr txBox="1"/>
          <p:nvPr/>
        </p:nvSpPr>
        <p:spPr>
          <a:xfrm>
            <a:off x="120960" y="72360"/>
            <a:ext cx="5207040" cy="40284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2200" strike="noStrike">
                <a:solidFill>
                  <a:srgbClr val="468A1A"/>
                </a:solidFill>
                <a:latin typeface="Arial"/>
                <a:ea typeface="Arial"/>
                <a:cs typeface="Arial"/>
                <a:sym typeface="Arial"/>
              </a:rPr>
              <a:t>Metadata: what are we talking about?</a:t>
            </a:r>
            <a:endParaRPr b="0" sz="2200" strike="noStrike">
              <a:latin typeface="Arial"/>
              <a:ea typeface="Arial"/>
              <a:cs typeface="Arial"/>
              <a:sym typeface="Arial"/>
            </a:endParaRPr>
          </a:p>
        </p:txBody>
      </p:sp>
      <p:sp>
        <p:nvSpPr>
          <p:cNvPr id="93" name="Google Shape;93;p16"/>
          <p:cNvSpPr txBox="1"/>
          <p:nvPr/>
        </p:nvSpPr>
        <p:spPr>
          <a:xfrm>
            <a:off x="1440000" y="900000"/>
            <a:ext cx="7200000" cy="360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1500" strike="noStrike">
                <a:solidFill>
                  <a:srgbClr val="000000"/>
                </a:solidFill>
                <a:latin typeface="Arial"/>
                <a:ea typeface="Arial"/>
                <a:cs typeface="Arial"/>
                <a:sym typeface="Arial"/>
              </a:rPr>
              <a:t>Metadata describe and provide information about our dataset of interest. </a:t>
            </a:r>
            <a:endParaRPr b="0" sz="1500" strike="noStrike">
              <a:latin typeface="Arial"/>
              <a:ea typeface="Arial"/>
              <a:cs typeface="Arial"/>
              <a:sym typeface="Arial"/>
            </a:endParaRPr>
          </a:p>
        </p:txBody>
      </p:sp>
      <p:graphicFrame>
        <p:nvGraphicFramePr>
          <p:cNvPr id="94" name="Google Shape;94;p16"/>
          <p:cNvGraphicFramePr/>
          <p:nvPr/>
        </p:nvGraphicFramePr>
        <p:xfrm>
          <a:off x="1027080" y="2199960"/>
          <a:ext cx="3000000" cy="3000000"/>
        </p:xfrm>
        <a:graphic>
          <a:graphicData uri="http://schemas.openxmlformats.org/drawingml/2006/table">
            <a:tbl>
              <a:tblPr>
                <a:noFill/>
                <a:tableStyleId>{FBF6C270-3839-495F-BF6B-5D2B0D70D4C5}</a:tableStyleId>
              </a:tblPr>
              <a:tblGrid>
                <a:gridCol w="1858675"/>
                <a:gridCol w="2116800"/>
                <a:gridCol w="4326850"/>
              </a:tblGrid>
              <a:tr h="346325">
                <a:tc>
                  <a:txBody>
                    <a:bodyPr/>
                    <a:lstStyle/>
                    <a:p>
                      <a:pPr indent="0" lvl="0" marL="0" marR="0" rtl="0" algn="l">
                        <a:spcBef>
                          <a:spcPts val="0"/>
                        </a:spcBef>
                        <a:spcAft>
                          <a:spcPts val="0"/>
                        </a:spcAft>
                        <a:buNone/>
                      </a:pPr>
                      <a:r>
                        <a:rPr b="1" lang="en-US" sz="1200" u="none" cap="none" strike="noStrike">
                          <a:latin typeface="Arial"/>
                          <a:ea typeface="Arial"/>
                          <a:cs typeface="Arial"/>
                          <a:sym typeface="Arial"/>
                        </a:rPr>
                        <a:t>Clinical environment</a:t>
                      </a:r>
                      <a:endParaRPr b="0" sz="1200" strike="noStrike">
                        <a:latin typeface="Arial"/>
                        <a:ea typeface="Arial"/>
                        <a:cs typeface="Arial"/>
                        <a:sym typeface="Arial"/>
                      </a:endParaRPr>
                    </a:p>
                  </a:txBody>
                  <a:tcPr marT="45725" marB="45725" marR="36000" marL="36000">
                    <a:lnL cap="flat" cmpd="sng" w="10800">
                      <a:solidFill>
                        <a:srgbClr val="468A1A"/>
                      </a:solidFill>
                      <a:prstDash val="solid"/>
                      <a:round/>
                      <a:headEnd len="sm" w="sm" type="none"/>
                      <a:tailEnd len="sm" w="sm" type="none"/>
                    </a:lnL>
                    <a:lnR cap="flat" cmpd="sng" w="10800">
                      <a:solidFill>
                        <a:srgbClr val="468A1A"/>
                      </a:solidFill>
                      <a:prstDash val="solid"/>
                      <a:round/>
                      <a:headEnd len="sm" w="sm" type="none"/>
                      <a:tailEnd len="sm" w="sm" type="none"/>
                    </a:lnR>
                    <a:lnT cap="flat" cmpd="sng" w="10800">
                      <a:solidFill>
                        <a:srgbClr val="468A1A"/>
                      </a:solidFill>
                      <a:prstDash val="solid"/>
                      <a:round/>
                      <a:headEnd len="sm" w="sm" type="none"/>
                      <a:tailEnd len="sm" w="sm" type="none"/>
                    </a:lnT>
                    <a:lnB cap="flat" cmpd="sng" w="10800">
                      <a:solidFill>
                        <a:srgbClr val="468A1A"/>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Patients clinical data</a:t>
                      </a:r>
                      <a:endParaRPr b="0" sz="1200" strike="noStrike">
                        <a:latin typeface="Arial"/>
                        <a:ea typeface="Arial"/>
                        <a:cs typeface="Arial"/>
                        <a:sym typeface="Arial"/>
                      </a:endParaRPr>
                    </a:p>
                  </a:txBody>
                  <a:tcPr marT="45725" marB="45725" marR="36000" marL="36000">
                    <a:lnL cap="flat" cmpd="sng" w="10800">
                      <a:solidFill>
                        <a:srgbClr val="468A1A"/>
                      </a:solidFill>
                      <a:prstDash val="solid"/>
                      <a:round/>
                      <a:headEnd len="sm" w="sm" type="none"/>
                      <a:tailEnd len="sm" w="sm" type="none"/>
                    </a:lnL>
                    <a:lnR cap="flat" cmpd="sng" w="10800">
                      <a:solidFill>
                        <a:srgbClr val="468A1A"/>
                      </a:solidFill>
                      <a:prstDash val="solid"/>
                      <a:round/>
                      <a:headEnd len="sm" w="sm" type="none"/>
                      <a:tailEnd len="sm" w="sm" type="none"/>
                    </a:lnR>
                    <a:lnT cap="flat" cmpd="sng" w="10800">
                      <a:solidFill>
                        <a:srgbClr val="468A1A"/>
                      </a:solidFill>
                      <a:prstDash val="solid"/>
                      <a:round/>
                      <a:headEnd len="sm" w="sm" type="none"/>
                      <a:tailEnd len="sm" w="sm" type="none"/>
                    </a:lnT>
                    <a:lnB cap="flat" cmpd="sng" w="10800">
                      <a:solidFill>
                        <a:srgbClr val="468A1A"/>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Anagraphics</a:t>
                      </a:r>
                      <a:r>
                        <a:rPr b="0" lang="en-US" sz="1200" strike="noStrike">
                          <a:latin typeface="Arial"/>
                          <a:ea typeface="Arial"/>
                          <a:cs typeface="Arial"/>
                          <a:sym typeface="Arial"/>
                        </a:rPr>
                        <a:t>, diagnosis, comorbidities, therapy, etc</a:t>
                      </a:r>
                      <a:endParaRPr b="0" sz="1200" strike="noStrike">
                        <a:latin typeface="Arial"/>
                        <a:ea typeface="Arial"/>
                        <a:cs typeface="Arial"/>
                        <a:sym typeface="Arial"/>
                      </a:endParaRPr>
                    </a:p>
                  </a:txBody>
                  <a:tcPr marT="45725" marB="45725" marR="36000" marL="36000">
                    <a:lnL cap="flat" cmpd="sng" w="10800">
                      <a:solidFill>
                        <a:srgbClr val="468A1A"/>
                      </a:solidFill>
                      <a:prstDash val="solid"/>
                      <a:round/>
                      <a:headEnd len="sm" w="sm" type="none"/>
                      <a:tailEnd len="sm" w="sm" type="none"/>
                    </a:lnL>
                    <a:lnR cap="flat" cmpd="sng" w="10800">
                      <a:solidFill>
                        <a:srgbClr val="468A1A"/>
                      </a:solidFill>
                      <a:prstDash val="solid"/>
                      <a:round/>
                      <a:headEnd len="sm" w="sm" type="none"/>
                      <a:tailEnd len="sm" w="sm" type="none"/>
                    </a:lnR>
                    <a:lnT cap="flat" cmpd="sng" w="10800">
                      <a:solidFill>
                        <a:srgbClr val="468A1A"/>
                      </a:solidFill>
                      <a:prstDash val="solid"/>
                      <a:round/>
                      <a:headEnd len="sm" w="sm" type="none"/>
                      <a:tailEnd len="sm" w="sm" type="none"/>
                    </a:lnT>
                    <a:lnB cap="flat" cmpd="sng" w="10800">
                      <a:solidFill>
                        <a:srgbClr val="468A1A"/>
                      </a:solidFill>
                      <a:prstDash val="solid"/>
                      <a:round/>
                      <a:headEnd len="sm" w="sm" type="none"/>
                      <a:tailEnd len="sm" w="sm" type="none"/>
                    </a:lnB>
                  </a:tcPr>
                </a:tc>
              </a:tr>
              <a:tr h="346325">
                <a:tc>
                  <a:txBody>
                    <a:bodyPr/>
                    <a:lstStyle/>
                    <a:p>
                      <a:pPr indent="0" lvl="0" marL="0" marR="0" rtl="0" algn="l">
                        <a:spcBef>
                          <a:spcPts val="0"/>
                        </a:spcBef>
                        <a:spcAft>
                          <a:spcPts val="0"/>
                        </a:spcAft>
                        <a:buNone/>
                      </a:pPr>
                      <a:r>
                        <a:rPr b="1" lang="en-US" sz="1200" strike="noStrike">
                          <a:latin typeface="Arial"/>
                          <a:ea typeface="Arial"/>
                          <a:cs typeface="Arial"/>
                          <a:sym typeface="Arial"/>
                        </a:rPr>
                        <a:t>Laboratory environment</a:t>
                      </a:r>
                      <a:endParaRPr b="0" sz="1200" strike="noStrike">
                        <a:latin typeface="Arial"/>
                        <a:ea typeface="Arial"/>
                        <a:cs typeface="Arial"/>
                        <a:sym typeface="Arial"/>
                      </a:endParaRPr>
                    </a:p>
                  </a:txBody>
                  <a:tcPr marT="45725" marB="45725" marR="36000" marL="36000">
                    <a:lnL cap="flat" cmpd="sng" w="10800">
                      <a:solidFill>
                        <a:srgbClr val="468A1A"/>
                      </a:solidFill>
                      <a:prstDash val="solid"/>
                      <a:round/>
                      <a:headEnd len="sm" w="sm" type="none"/>
                      <a:tailEnd len="sm" w="sm" type="none"/>
                    </a:lnL>
                    <a:lnR cap="flat" cmpd="sng" w="10800">
                      <a:solidFill>
                        <a:srgbClr val="468A1A"/>
                      </a:solidFill>
                      <a:prstDash val="solid"/>
                      <a:round/>
                      <a:headEnd len="sm" w="sm" type="none"/>
                      <a:tailEnd len="sm" w="sm" type="none"/>
                    </a:lnR>
                    <a:lnT cap="flat" cmpd="sng" w="10800">
                      <a:solidFill>
                        <a:srgbClr val="468A1A"/>
                      </a:solidFill>
                      <a:prstDash val="solid"/>
                      <a:round/>
                      <a:headEnd len="sm" w="sm" type="none"/>
                      <a:tailEnd len="sm" w="sm" type="none"/>
                    </a:lnT>
                    <a:lnB cap="flat" cmpd="sng" w="10800">
                      <a:solidFill>
                        <a:srgbClr val="468A1A"/>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Experimental design </a:t>
                      </a:r>
                      <a:r>
                        <a:rPr lang="en-US" sz="1200"/>
                        <a:t>structure</a:t>
                      </a:r>
                      <a:endParaRPr b="0" sz="1200" strike="noStrike">
                        <a:latin typeface="Arial"/>
                        <a:ea typeface="Arial"/>
                        <a:cs typeface="Arial"/>
                        <a:sym typeface="Arial"/>
                      </a:endParaRPr>
                    </a:p>
                  </a:txBody>
                  <a:tcPr marT="45725" marB="45725" marR="36000" marL="36000">
                    <a:lnL cap="flat" cmpd="sng" w="10800">
                      <a:solidFill>
                        <a:srgbClr val="468A1A"/>
                      </a:solidFill>
                      <a:prstDash val="solid"/>
                      <a:round/>
                      <a:headEnd len="sm" w="sm" type="none"/>
                      <a:tailEnd len="sm" w="sm" type="none"/>
                    </a:lnL>
                    <a:lnR cap="flat" cmpd="sng" w="10800">
                      <a:solidFill>
                        <a:srgbClr val="468A1A"/>
                      </a:solidFill>
                      <a:prstDash val="solid"/>
                      <a:round/>
                      <a:headEnd len="sm" w="sm" type="none"/>
                      <a:tailEnd len="sm" w="sm" type="none"/>
                    </a:lnR>
                    <a:lnT cap="flat" cmpd="sng" w="10800">
                      <a:solidFill>
                        <a:srgbClr val="468A1A"/>
                      </a:solidFill>
                      <a:prstDash val="solid"/>
                      <a:round/>
                      <a:headEnd len="sm" w="sm" type="none"/>
                      <a:tailEnd len="sm" w="sm" type="none"/>
                    </a:lnT>
                    <a:lnB cap="flat" cmpd="sng" w="10800">
                      <a:solidFill>
                        <a:srgbClr val="468A1A"/>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Animal model/cell line, treatment, condition, replicates, </a:t>
                      </a:r>
                      <a:r>
                        <a:rPr lang="en-US" sz="1200"/>
                        <a:t>culture</a:t>
                      </a:r>
                      <a:r>
                        <a:rPr b="0" lang="en-US" sz="1200" strike="noStrike">
                          <a:latin typeface="Arial"/>
                          <a:ea typeface="Arial"/>
                          <a:cs typeface="Arial"/>
                          <a:sym typeface="Arial"/>
                        </a:rPr>
                        <a:t> condition, etc.</a:t>
                      </a:r>
                      <a:endParaRPr b="0" sz="1200" strike="noStrike">
                        <a:latin typeface="Arial"/>
                        <a:ea typeface="Arial"/>
                        <a:cs typeface="Arial"/>
                        <a:sym typeface="Arial"/>
                      </a:endParaRPr>
                    </a:p>
                  </a:txBody>
                  <a:tcPr marT="45725" marB="45725" marR="36000" marL="36000">
                    <a:lnL cap="flat" cmpd="sng" w="10800">
                      <a:solidFill>
                        <a:srgbClr val="468A1A"/>
                      </a:solidFill>
                      <a:prstDash val="solid"/>
                      <a:round/>
                      <a:headEnd len="sm" w="sm" type="none"/>
                      <a:tailEnd len="sm" w="sm" type="none"/>
                    </a:lnL>
                    <a:lnR cap="flat" cmpd="sng" w="10800">
                      <a:solidFill>
                        <a:srgbClr val="468A1A"/>
                      </a:solidFill>
                      <a:prstDash val="solid"/>
                      <a:round/>
                      <a:headEnd len="sm" w="sm" type="none"/>
                      <a:tailEnd len="sm" w="sm" type="none"/>
                    </a:lnR>
                    <a:lnT cap="flat" cmpd="sng" w="10800">
                      <a:solidFill>
                        <a:srgbClr val="468A1A"/>
                      </a:solidFill>
                      <a:prstDash val="solid"/>
                      <a:round/>
                      <a:headEnd len="sm" w="sm" type="none"/>
                      <a:tailEnd len="sm" w="sm" type="none"/>
                    </a:lnT>
                    <a:lnB cap="flat" cmpd="sng" w="10800">
                      <a:solidFill>
                        <a:srgbClr val="468A1A"/>
                      </a:solidFill>
                      <a:prstDash val="solid"/>
                      <a:round/>
                      <a:headEnd len="sm" w="sm" type="none"/>
                      <a:tailEnd len="sm" w="sm" type="none"/>
                    </a:lnB>
                  </a:tcPr>
                </a:tc>
              </a:tr>
              <a:tr h="346325">
                <a:tc>
                  <a:txBody>
                    <a:bodyPr/>
                    <a:lstStyle/>
                    <a:p>
                      <a:pPr indent="0" lvl="0" marL="0" marR="0" rtl="0" algn="l">
                        <a:spcBef>
                          <a:spcPts val="0"/>
                        </a:spcBef>
                        <a:spcAft>
                          <a:spcPts val="0"/>
                        </a:spcAft>
                        <a:buNone/>
                      </a:pPr>
                      <a:r>
                        <a:rPr b="1" lang="en-US" sz="1200" strike="noStrike">
                          <a:latin typeface="Arial"/>
                          <a:ea typeface="Arial"/>
                          <a:cs typeface="Arial"/>
                          <a:sym typeface="Arial"/>
                        </a:rPr>
                        <a:t>Environmental research</a:t>
                      </a:r>
                      <a:r>
                        <a:rPr b="0" lang="en-US" sz="1200" strike="noStrike">
                          <a:latin typeface="Arial"/>
                          <a:ea typeface="Arial"/>
                          <a:cs typeface="Arial"/>
                          <a:sym typeface="Arial"/>
                        </a:rPr>
                        <a:t> </a:t>
                      </a:r>
                      <a:endParaRPr b="0" sz="1200" strike="noStrike">
                        <a:latin typeface="Arial"/>
                        <a:ea typeface="Arial"/>
                        <a:cs typeface="Arial"/>
                        <a:sym typeface="Arial"/>
                      </a:endParaRPr>
                    </a:p>
                  </a:txBody>
                  <a:tcPr marT="45725" marB="45725" marR="36000" marL="36000">
                    <a:lnL cap="flat" cmpd="sng" w="10800">
                      <a:solidFill>
                        <a:srgbClr val="468A1A"/>
                      </a:solidFill>
                      <a:prstDash val="solid"/>
                      <a:round/>
                      <a:headEnd len="sm" w="sm" type="none"/>
                      <a:tailEnd len="sm" w="sm" type="none"/>
                    </a:lnL>
                    <a:lnR cap="flat" cmpd="sng" w="10800">
                      <a:solidFill>
                        <a:srgbClr val="468A1A"/>
                      </a:solidFill>
                      <a:prstDash val="solid"/>
                      <a:round/>
                      <a:headEnd len="sm" w="sm" type="none"/>
                      <a:tailEnd len="sm" w="sm" type="none"/>
                    </a:lnR>
                    <a:lnT cap="flat" cmpd="sng" w="10800">
                      <a:solidFill>
                        <a:srgbClr val="468A1A"/>
                      </a:solidFill>
                      <a:prstDash val="solid"/>
                      <a:round/>
                      <a:headEnd len="sm" w="sm" type="none"/>
                      <a:tailEnd len="sm" w="sm" type="none"/>
                    </a:lnT>
                    <a:lnB cap="flat" cmpd="sng" w="10800">
                      <a:solidFill>
                        <a:srgbClr val="468A1A"/>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Environmental conditions</a:t>
                      </a:r>
                      <a:endParaRPr b="0" sz="1200" strike="noStrike">
                        <a:latin typeface="Arial"/>
                        <a:ea typeface="Arial"/>
                        <a:cs typeface="Arial"/>
                        <a:sym typeface="Arial"/>
                      </a:endParaRPr>
                    </a:p>
                  </a:txBody>
                  <a:tcPr marT="45725" marB="45725" marR="36000" marL="36000">
                    <a:lnL cap="flat" cmpd="sng" w="10800">
                      <a:solidFill>
                        <a:srgbClr val="468A1A"/>
                      </a:solidFill>
                      <a:prstDash val="solid"/>
                      <a:round/>
                      <a:headEnd len="sm" w="sm" type="none"/>
                      <a:tailEnd len="sm" w="sm" type="none"/>
                    </a:lnL>
                    <a:lnR cap="flat" cmpd="sng" w="10800">
                      <a:solidFill>
                        <a:srgbClr val="468A1A"/>
                      </a:solidFill>
                      <a:prstDash val="solid"/>
                      <a:round/>
                      <a:headEnd len="sm" w="sm" type="none"/>
                      <a:tailEnd len="sm" w="sm" type="none"/>
                    </a:lnR>
                    <a:lnT cap="flat" cmpd="sng" w="10800">
                      <a:solidFill>
                        <a:srgbClr val="468A1A"/>
                      </a:solidFill>
                      <a:prstDash val="solid"/>
                      <a:round/>
                      <a:headEnd len="sm" w="sm" type="none"/>
                      <a:tailEnd len="sm" w="sm" type="none"/>
                    </a:lnT>
                    <a:lnB cap="flat" cmpd="sng" w="10800">
                      <a:solidFill>
                        <a:srgbClr val="468A1A"/>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Location, temperature, sample type, sample pH, etc.</a:t>
                      </a:r>
                      <a:endParaRPr b="0" sz="1200" strike="noStrike">
                        <a:latin typeface="Arial"/>
                        <a:ea typeface="Arial"/>
                        <a:cs typeface="Arial"/>
                        <a:sym typeface="Arial"/>
                      </a:endParaRPr>
                    </a:p>
                  </a:txBody>
                  <a:tcPr marT="45725" marB="45725" marR="36000" marL="36000">
                    <a:lnL cap="flat" cmpd="sng" w="10800">
                      <a:solidFill>
                        <a:srgbClr val="468A1A"/>
                      </a:solidFill>
                      <a:prstDash val="solid"/>
                      <a:round/>
                      <a:headEnd len="sm" w="sm" type="none"/>
                      <a:tailEnd len="sm" w="sm" type="none"/>
                    </a:lnL>
                    <a:lnR cap="flat" cmpd="sng" w="10800">
                      <a:solidFill>
                        <a:srgbClr val="468A1A"/>
                      </a:solidFill>
                      <a:prstDash val="solid"/>
                      <a:round/>
                      <a:headEnd len="sm" w="sm" type="none"/>
                      <a:tailEnd len="sm" w="sm" type="none"/>
                    </a:lnR>
                    <a:lnT cap="flat" cmpd="sng" w="10800">
                      <a:solidFill>
                        <a:srgbClr val="468A1A"/>
                      </a:solidFill>
                      <a:prstDash val="solid"/>
                      <a:round/>
                      <a:headEnd len="sm" w="sm" type="none"/>
                      <a:tailEnd len="sm" w="sm" type="none"/>
                    </a:lnT>
                    <a:lnB cap="flat" cmpd="sng" w="10800">
                      <a:solidFill>
                        <a:srgbClr val="468A1A"/>
                      </a:solidFill>
                      <a:prstDash val="solid"/>
                      <a:round/>
                      <a:headEnd len="sm" w="sm" type="none"/>
                      <a:tailEnd len="sm" w="sm" type="none"/>
                    </a:lnB>
                  </a:tcPr>
                </a:tc>
              </a:tr>
              <a:tr h="346325">
                <a:tc>
                  <a:txBody>
                    <a:bodyPr/>
                    <a:lstStyle/>
                    <a:p>
                      <a:pPr indent="0" lvl="0" marL="0" marR="0" rtl="0" algn="l">
                        <a:spcBef>
                          <a:spcPts val="0"/>
                        </a:spcBef>
                        <a:spcAft>
                          <a:spcPts val="0"/>
                        </a:spcAft>
                        <a:buNone/>
                      </a:pPr>
                      <a:r>
                        <a:rPr b="1" lang="en-US" sz="1200" strike="noStrike">
                          <a:latin typeface="Arial"/>
                          <a:ea typeface="Arial"/>
                          <a:cs typeface="Arial"/>
                          <a:sym typeface="Arial"/>
                        </a:rPr>
                        <a:t>Drug </a:t>
                      </a:r>
                      <a:r>
                        <a:rPr b="1" lang="en-US" sz="1200"/>
                        <a:t>development</a:t>
                      </a:r>
                      <a:endParaRPr b="0" sz="1200" strike="noStrike">
                        <a:latin typeface="Arial"/>
                        <a:ea typeface="Arial"/>
                        <a:cs typeface="Arial"/>
                        <a:sym typeface="Arial"/>
                      </a:endParaRPr>
                    </a:p>
                  </a:txBody>
                  <a:tcPr marT="45725" marB="45725" marR="36000" marL="36000">
                    <a:lnL cap="flat" cmpd="sng" w="10800">
                      <a:solidFill>
                        <a:srgbClr val="468A1A"/>
                      </a:solidFill>
                      <a:prstDash val="solid"/>
                      <a:round/>
                      <a:headEnd len="sm" w="sm" type="none"/>
                      <a:tailEnd len="sm" w="sm" type="none"/>
                    </a:lnL>
                    <a:lnR cap="flat" cmpd="sng" w="10800">
                      <a:solidFill>
                        <a:srgbClr val="468A1A"/>
                      </a:solidFill>
                      <a:prstDash val="solid"/>
                      <a:round/>
                      <a:headEnd len="sm" w="sm" type="none"/>
                      <a:tailEnd len="sm" w="sm" type="none"/>
                    </a:lnR>
                    <a:lnT cap="flat" cmpd="sng" w="10800">
                      <a:solidFill>
                        <a:srgbClr val="468A1A"/>
                      </a:solidFill>
                      <a:prstDash val="solid"/>
                      <a:round/>
                      <a:headEnd len="sm" w="sm" type="none"/>
                      <a:tailEnd len="sm" w="sm" type="none"/>
                    </a:lnT>
                    <a:lnB cap="flat" cmpd="sng" w="10800">
                      <a:solidFill>
                        <a:srgbClr val="468A1A"/>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Experimental conditions</a:t>
                      </a:r>
                      <a:endParaRPr b="0" sz="1200" strike="noStrike">
                        <a:latin typeface="Arial"/>
                        <a:ea typeface="Arial"/>
                        <a:cs typeface="Arial"/>
                        <a:sym typeface="Arial"/>
                      </a:endParaRPr>
                    </a:p>
                  </a:txBody>
                  <a:tcPr marT="45725" marB="45725" marR="36000" marL="36000">
                    <a:lnL cap="flat" cmpd="sng" w="10800">
                      <a:solidFill>
                        <a:srgbClr val="468A1A"/>
                      </a:solidFill>
                      <a:prstDash val="solid"/>
                      <a:round/>
                      <a:headEnd len="sm" w="sm" type="none"/>
                      <a:tailEnd len="sm" w="sm" type="none"/>
                    </a:lnL>
                    <a:lnR cap="flat" cmpd="sng" w="10800">
                      <a:solidFill>
                        <a:srgbClr val="468A1A"/>
                      </a:solidFill>
                      <a:prstDash val="solid"/>
                      <a:round/>
                      <a:headEnd len="sm" w="sm" type="none"/>
                      <a:tailEnd len="sm" w="sm" type="none"/>
                    </a:lnR>
                    <a:lnT cap="flat" cmpd="sng" w="10800">
                      <a:solidFill>
                        <a:srgbClr val="468A1A"/>
                      </a:solidFill>
                      <a:prstDash val="solid"/>
                      <a:round/>
                      <a:headEnd len="sm" w="sm" type="none"/>
                      <a:tailEnd len="sm" w="sm" type="none"/>
                    </a:lnT>
                    <a:lnB cap="flat" cmpd="sng" w="10800">
                      <a:solidFill>
                        <a:srgbClr val="468A1A"/>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Dose, treatment duration, administration route, test subject, etc.</a:t>
                      </a:r>
                      <a:endParaRPr b="0" sz="1200" strike="noStrike">
                        <a:latin typeface="Arial"/>
                        <a:ea typeface="Arial"/>
                        <a:cs typeface="Arial"/>
                        <a:sym typeface="Arial"/>
                      </a:endParaRPr>
                    </a:p>
                  </a:txBody>
                  <a:tcPr marT="45725" marB="45725" marR="36000" marL="36000">
                    <a:lnL cap="flat" cmpd="sng" w="10800">
                      <a:solidFill>
                        <a:srgbClr val="468A1A"/>
                      </a:solidFill>
                      <a:prstDash val="solid"/>
                      <a:round/>
                      <a:headEnd len="sm" w="sm" type="none"/>
                      <a:tailEnd len="sm" w="sm" type="none"/>
                    </a:lnL>
                    <a:lnR cap="flat" cmpd="sng" w="10800">
                      <a:solidFill>
                        <a:srgbClr val="468A1A"/>
                      </a:solidFill>
                      <a:prstDash val="solid"/>
                      <a:round/>
                      <a:headEnd len="sm" w="sm" type="none"/>
                      <a:tailEnd len="sm" w="sm" type="none"/>
                    </a:lnR>
                    <a:lnT cap="flat" cmpd="sng" w="10800">
                      <a:solidFill>
                        <a:srgbClr val="468A1A"/>
                      </a:solidFill>
                      <a:prstDash val="solid"/>
                      <a:round/>
                      <a:headEnd len="sm" w="sm" type="none"/>
                      <a:tailEnd len="sm" w="sm" type="none"/>
                    </a:lnT>
                    <a:lnB cap="flat" cmpd="sng" w="10800">
                      <a:solidFill>
                        <a:srgbClr val="468A1A"/>
                      </a:solidFill>
                      <a:prstDash val="solid"/>
                      <a:round/>
                      <a:headEnd len="sm" w="sm" type="none"/>
                      <a:tailEnd len="sm" w="sm" type="none"/>
                    </a:lnB>
                  </a:tcPr>
                </a:tc>
              </a:tr>
            </a:tbl>
          </a:graphicData>
        </a:graphic>
      </p:graphicFrame>
      <p:sp>
        <p:nvSpPr>
          <p:cNvPr id="95" name="Google Shape;95;p16"/>
          <p:cNvSpPr txBox="1"/>
          <p:nvPr/>
        </p:nvSpPr>
        <p:spPr>
          <a:xfrm>
            <a:off x="360000" y="1440000"/>
            <a:ext cx="9180000" cy="431640"/>
          </a:xfrm>
          <a:prstGeom prst="rect">
            <a:avLst/>
          </a:prstGeom>
          <a:noFill/>
          <a:ln>
            <a:noFill/>
          </a:ln>
        </p:spPr>
        <p:txBody>
          <a:bodyPr anchorCtr="1" anchor="t" bIns="45000" lIns="90000" spcFirstLastPara="1" rIns="90000" wrap="square" tIns="45000">
            <a:noAutofit/>
          </a:bodyPr>
          <a:lstStyle/>
          <a:p>
            <a:pPr indent="0" lvl="0" marL="0" marR="0" rtl="0" algn="ctr">
              <a:spcBef>
                <a:spcPts val="0"/>
              </a:spcBef>
              <a:spcAft>
                <a:spcPts val="0"/>
              </a:spcAft>
              <a:buNone/>
            </a:pPr>
            <a:r>
              <a:rPr b="0" lang="en-US" sz="1200" strike="noStrike">
                <a:latin typeface="Arial"/>
                <a:ea typeface="Arial"/>
                <a:cs typeface="Arial"/>
                <a:sym typeface="Arial"/>
              </a:rPr>
              <a:t>Metadata </a:t>
            </a:r>
            <a:r>
              <a:rPr b="0" lang="en-US" sz="1200" strike="noStrike">
                <a:solidFill>
                  <a:srgbClr val="C9211E"/>
                </a:solidFill>
                <a:latin typeface="Arial"/>
                <a:ea typeface="Arial"/>
                <a:cs typeface="Arial"/>
                <a:sym typeface="Arial"/>
              </a:rPr>
              <a:t>vary depending on the research context</a:t>
            </a:r>
            <a:r>
              <a:rPr b="0" lang="en-US" sz="1200" strike="noStrike">
                <a:latin typeface="Arial"/>
                <a:ea typeface="Arial"/>
                <a:cs typeface="Arial"/>
                <a:sym typeface="Arial"/>
              </a:rPr>
              <a:t>. They describe the characteristics, origin, conditions, and processing of the data, making datasets easier to interpret, organize, and reuse. </a:t>
            </a:r>
            <a:endParaRPr b="0" sz="1200" strike="noStrike">
              <a:latin typeface="Arial"/>
              <a:ea typeface="Arial"/>
              <a:cs typeface="Arial"/>
              <a:sym typeface="Arial"/>
            </a:endParaRPr>
          </a:p>
        </p:txBody>
      </p:sp>
      <p:sp>
        <p:nvSpPr>
          <p:cNvPr id="96" name="Google Shape;96;p16"/>
          <p:cNvSpPr txBox="1"/>
          <p:nvPr/>
        </p:nvSpPr>
        <p:spPr>
          <a:xfrm>
            <a:off x="1717920" y="3996360"/>
            <a:ext cx="6644160" cy="431640"/>
          </a:xfrm>
          <a:prstGeom prst="rect">
            <a:avLst/>
          </a:prstGeom>
          <a:noFill/>
          <a:ln>
            <a:noFill/>
          </a:ln>
        </p:spPr>
        <p:txBody>
          <a:bodyPr anchorCtr="1" anchor="t" bIns="45000" lIns="90000" spcFirstLastPara="1" rIns="90000" wrap="square" tIns="45000">
            <a:noAutofit/>
          </a:bodyPr>
          <a:lstStyle/>
          <a:p>
            <a:pPr indent="0" lvl="0" marL="0" marR="0" rtl="0" algn="ctr">
              <a:spcBef>
                <a:spcPts val="0"/>
              </a:spcBef>
              <a:spcAft>
                <a:spcPts val="0"/>
              </a:spcAft>
              <a:buNone/>
            </a:pPr>
            <a:r>
              <a:rPr b="0" lang="en-US" sz="1200" strike="noStrike">
                <a:latin typeface="Arial"/>
                <a:ea typeface="Arial"/>
                <a:cs typeface="Arial"/>
                <a:sym typeface="Arial"/>
              </a:rPr>
              <a:t>Metadata are a key part of every data analysis, but </a:t>
            </a:r>
            <a:r>
              <a:rPr b="1" lang="en-US" sz="1200" strike="noStrike">
                <a:latin typeface="Arial"/>
                <a:ea typeface="Arial"/>
                <a:cs typeface="Arial"/>
                <a:sym typeface="Arial"/>
              </a:rPr>
              <a:t>the larger and more complex the dataset, the more essential accurate and complete metadata become</a:t>
            </a:r>
            <a:r>
              <a:rPr b="0" lang="en-US" sz="1200" strike="noStrike">
                <a:latin typeface="Arial"/>
                <a:ea typeface="Arial"/>
                <a:cs typeface="Arial"/>
                <a:sym typeface="Arial"/>
              </a:rPr>
              <a:t>. </a:t>
            </a:r>
            <a:endParaRPr b="0" sz="1200" strike="noStrike">
              <a:latin typeface="Arial"/>
              <a:ea typeface="Arial"/>
              <a:cs typeface="Arial"/>
              <a:sym typeface="Arial"/>
            </a:endParaRPr>
          </a:p>
        </p:txBody>
      </p:sp>
      <p:pic>
        <p:nvPicPr>
          <p:cNvPr id="97" name="Google Shape;97;p16"/>
          <p:cNvPicPr preferRelativeResize="0"/>
          <p:nvPr/>
        </p:nvPicPr>
        <p:blipFill>
          <a:blip r:embed="rId3">
            <a:alphaModFix/>
          </a:blip>
          <a:stretch>
            <a:fillRect/>
          </a:stretch>
        </p:blipFill>
        <p:spPr>
          <a:xfrm>
            <a:off x="8185700" y="451675"/>
            <a:ext cx="988325" cy="9883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cxnSp>
        <p:nvCxnSpPr>
          <p:cNvPr id="102" name="Google Shape;102;p17"/>
          <p:cNvCxnSpPr/>
          <p:nvPr/>
        </p:nvCxnSpPr>
        <p:spPr>
          <a:xfrm>
            <a:off x="180000" y="540000"/>
            <a:ext cx="7920000" cy="0"/>
          </a:xfrm>
          <a:prstGeom prst="straightConnector1">
            <a:avLst/>
          </a:prstGeom>
          <a:noFill/>
          <a:ln cap="flat" cmpd="sng" w="36000">
            <a:solidFill>
              <a:srgbClr val="468A1A"/>
            </a:solidFill>
            <a:prstDash val="solid"/>
            <a:round/>
            <a:headEnd len="sm" w="sm" type="none"/>
            <a:tailEnd len="sm" w="sm" type="none"/>
          </a:ln>
        </p:spPr>
      </p:cxnSp>
      <p:sp>
        <p:nvSpPr>
          <p:cNvPr id="103" name="Google Shape;103;p17"/>
          <p:cNvSpPr txBox="1"/>
          <p:nvPr/>
        </p:nvSpPr>
        <p:spPr>
          <a:xfrm>
            <a:off x="120960" y="72360"/>
            <a:ext cx="5207040" cy="40284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2200" strike="noStrike">
                <a:solidFill>
                  <a:srgbClr val="468A1A"/>
                </a:solidFill>
                <a:latin typeface="Arial"/>
                <a:ea typeface="Arial"/>
                <a:cs typeface="Arial"/>
                <a:sym typeface="Arial"/>
              </a:rPr>
              <a:t>Metadata: what are we talking about?</a:t>
            </a:r>
            <a:endParaRPr b="0" sz="2200" strike="noStrike">
              <a:latin typeface="Arial"/>
              <a:ea typeface="Arial"/>
              <a:cs typeface="Arial"/>
              <a:sym typeface="Arial"/>
            </a:endParaRPr>
          </a:p>
        </p:txBody>
      </p:sp>
      <p:sp>
        <p:nvSpPr>
          <p:cNvPr id="104" name="Google Shape;104;p17"/>
          <p:cNvSpPr txBox="1"/>
          <p:nvPr/>
        </p:nvSpPr>
        <p:spPr>
          <a:xfrm>
            <a:off x="1440000" y="900000"/>
            <a:ext cx="7200000" cy="360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1500" strike="noStrike">
                <a:solidFill>
                  <a:srgbClr val="000000"/>
                </a:solidFill>
                <a:latin typeface="Arial"/>
                <a:ea typeface="Arial"/>
                <a:cs typeface="Arial"/>
                <a:sym typeface="Arial"/>
              </a:rPr>
              <a:t>Metadata describe and provide information about our dataset of interest. </a:t>
            </a:r>
            <a:endParaRPr b="0" sz="1500" strike="noStrike">
              <a:latin typeface="Arial"/>
              <a:ea typeface="Arial"/>
              <a:cs typeface="Arial"/>
              <a:sym typeface="Arial"/>
            </a:endParaRPr>
          </a:p>
        </p:txBody>
      </p:sp>
      <p:sp>
        <p:nvSpPr>
          <p:cNvPr id="105" name="Google Shape;105;p17"/>
          <p:cNvSpPr txBox="1"/>
          <p:nvPr/>
        </p:nvSpPr>
        <p:spPr>
          <a:xfrm>
            <a:off x="360000" y="1440000"/>
            <a:ext cx="9180000" cy="431640"/>
          </a:xfrm>
          <a:prstGeom prst="rect">
            <a:avLst/>
          </a:prstGeom>
          <a:noFill/>
          <a:ln>
            <a:noFill/>
          </a:ln>
        </p:spPr>
        <p:txBody>
          <a:bodyPr anchorCtr="1" anchor="t" bIns="45000" lIns="90000" spcFirstLastPara="1" rIns="90000" wrap="square" tIns="45000">
            <a:noAutofit/>
          </a:bodyPr>
          <a:lstStyle/>
          <a:p>
            <a:pPr indent="0" lvl="0" marL="0" marR="0" rtl="0" algn="ctr">
              <a:spcBef>
                <a:spcPts val="0"/>
              </a:spcBef>
              <a:spcAft>
                <a:spcPts val="0"/>
              </a:spcAft>
              <a:buNone/>
            </a:pPr>
            <a:r>
              <a:rPr b="0" lang="en-US" sz="1200" strike="noStrike">
                <a:latin typeface="Arial"/>
                <a:ea typeface="Arial"/>
                <a:cs typeface="Arial"/>
                <a:sym typeface="Arial"/>
              </a:rPr>
              <a:t>Metadata </a:t>
            </a:r>
            <a:r>
              <a:rPr b="0" lang="en-US" sz="1200" strike="noStrike">
                <a:solidFill>
                  <a:srgbClr val="C9211E"/>
                </a:solidFill>
                <a:latin typeface="Arial"/>
                <a:ea typeface="Arial"/>
                <a:cs typeface="Arial"/>
                <a:sym typeface="Arial"/>
              </a:rPr>
              <a:t>vary depending on the research context</a:t>
            </a:r>
            <a:r>
              <a:rPr b="0" lang="en-US" sz="1200" strike="noStrike">
                <a:latin typeface="Arial"/>
                <a:ea typeface="Arial"/>
                <a:cs typeface="Arial"/>
                <a:sym typeface="Arial"/>
              </a:rPr>
              <a:t>. They describe the characteristics, origin, conditions, and processing of the data, making datasets easier to interpret, organize, and reuse. </a:t>
            </a:r>
            <a:endParaRPr b="0" sz="1200" strike="noStrike">
              <a:latin typeface="Arial"/>
              <a:ea typeface="Arial"/>
              <a:cs typeface="Arial"/>
              <a:sym typeface="Arial"/>
            </a:endParaRPr>
          </a:p>
        </p:txBody>
      </p:sp>
      <p:sp>
        <p:nvSpPr>
          <p:cNvPr id="106" name="Google Shape;106;p17"/>
          <p:cNvSpPr txBox="1"/>
          <p:nvPr/>
        </p:nvSpPr>
        <p:spPr>
          <a:xfrm>
            <a:off x="1717920" y="3996360"/>
            <a:ext cx="6644160" cy="431640"/>
          </a:xfrm>
          <a:prstGeom prst="rect">
            <a:avLst/>
          </a:prstGeom>
          <a:noFill/>
          <a:ln>
            <a:noFill/>
          </a:ln>
        </p:spPr>
        <p:txBody>
          <a:bodyPr anchorCtr="1" anchor="t" bIns="45000" lIns="90000" spcFirstLastPara="1" rIns="90000" wrap="square" tIns="45000">
            <a:noAutofit/>
          </a:bodyPr>
          <a:lstStyle/>
          <a:p>
            <a:pPr indent="0" lvl="0" marL="0" marR="0" rtl="0" algn="ctr">
              <a:spcBef>
                <a:spcPts val="0"/>
              </a:spcBef>
              <a:spcAft>
                <a:spcPts val="0"/>
              </a:spcAft>
              <a:buNone/>
            </a:pPr>
            <a:r>
              <a:rPr b="0" lang="en-US" sz="1200" strike="noStrike">
                <a:latin typeface="Arial"/>
                <a:ea typeface="Arial"/>
                <a:cs typeface="Arial"/>
                <a:sym typeface="Arial"/>
              </a:rPr>
              <a:t>Metadata are a key part of every data analysis, but </a:t>
            </a:r>
            <a:r>
              <a:rPr b="1" lang="en-US" sz="1200" strike="noStrike">
                <a:latin typeface="Arial"/>
                <a:ea typeface="Arial"/>
                <a:cs typeface="Arial"/>
                <a:sym typeface="Arial"/>
              </a:rPr>
              <a:t>the larger and more complex the dataset, the more essential accurate and complete metadata become</a:t>
            </a:r>
            <a:r>
              <a:rPr b="0" lang="en-US" sz="1200" strike="noStrike">
                <a:latin typeface="Arial"/>
                <a:ea typeface="Arial"/>
                <a:cs typeface="Arial"/>
                <a:sym typeface="Arial"/>
              </a:rPr>
              <a:t>. </a:t>
            </a:r>
            <a:endParaRPr b="0" sz="1200" strike="noStrike">
              <a:latin typeface="Arial"/>
              <a:ea typeface="Arial"/>
              <a:cs typeface="Arial"/>
              <a:sym typeface="Arial"/>
            </a:endParaRPr>
          </a:p>
        </p:txBody>
      </p:sp>
      <p:sp>
        <p:nvSpPr>
          <p:cNvPr id="107" name="Google Shape;107;p17"/>
          <p:cNvSpPr txBox="1"/>
          <p:nvPr/>
        </p:nvSpPr>
        <p:spPr>
          <a:xfrm>
            <a:off x="2409480" y="4680000"/>
            <a:ext cx="5261040" cy="431640"/>
          </a:xfrm>
          <a:prstGeom prst="rect">
            <a:avLst/>
          </a:prstGeom>
          <a:noFill/>
          <a:ln>
            <a:noFill/>
          </a:ln>
        </p:spPr>
        <p:txBody>
          <a:bodyPr anchorCtr="1" anchor="t" bIns="45000" lIns="90000" spcFirstLastPara="1" rIns="90000" wrap="square" tIns="45000">
            <a:noAutofit/>
          </a:bodyPr>
          <a:lstStyle/>
          <a:p>
            <a:pPr indent="0" lvl="0" marL="0" marR="0" rtl="0" algn="ctr">
              <a:spcBef>
                <a:spcPts val="0"/>
              </a:spcBef>
              <a:spcAft>
                <a:spcPts val="0"/>
              </a:spcAft>
              <a:buNone/>
            </a:pPr>
            <a:r>
              <a:rPr b="1" lang="en-US" sz="1200" strike="noStrike">
                <a:latin typeface="Arial"/>
                <a:ea typeface="Arial"/>
                <a:cs typeface="Arial"/>
                <a:sym typeface="Arial"/>
              </a:rPr>
              <a:t>Numbers alone are just numbers, context turn them meaningful!</a:t>
            </a:r>
            <a:endParaRPr b="0" sz="1200" strike="noStrike">
              <a:latin typeface="Arial"/>
              <a:ea typeface="Arial"/>
              <a:cs typeface="Arial"/>
              <a:sym typeface="Arial"/>
            </a:endParaRPr>
          </a:p>
        </p:txBody>
      </p:sp>
      <p:sp>
        <p:nvSpPr>
          <p:cNvPr id="108" name="Google Shape;108;p17"/>
          <p:cNvSpPr/>
          <p:nvPr/>
        </p:nvSpPr>
        <p:spPr>
          <a:xfrm>
            <a:off x="2520000" y="4644000"/>
            <a:ext cx="5040000" cy="360000"/>
          </a:xfrm>
          <a:prstGeom prst="rect">
            <a:avLst/>
          </a:prstGeom>
          <a:noFill/>
          <a:ln cap="flat" cmpd="sng" w="36000">
            <a:solidFill>
              <a:srgbClr val="468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17"/>
          <p:cNvPicPr preferRelativeResize="0"/>
          <p:nvPr/>
        </p:nvPicPr>
        <p:blipFill>
          <a:blip r:embed="rId3">
            <a:alphaModFix/>
          </a:blip>
          <a:stretch>
            <a:fillRect/>
          </a:stretch>
        </p:blipFill>
        <p:spPr>
          <a:xfrm>
            <a:off x="8185700" y="451675"/>
            <a:ext cx="988325" cy="988325"/>
          </a:xfrm>
          <a:prstGeom prst="rect">
            <a:avLst/>
          </a:prstGeom>
          <a:noFill/>
          <a:ln>
            <a:noFill/>
          </a:ln>
        </p:spPr>
      </p:pic>
      <p:graphicFrame>
        <p:nvGraphicFramePr>
          <p:cNvPr id="110" name="Google Shape;110;p17"/>
          <p:cNvGraphicFramePr/>
          <p:nvPr/>
        </p:nvGraphicFramePr>
        <p:xfrm>
          <a:off x="1027080" y="2199960"/>
          <a:ext cx="3000000" cy="3000000"/>
        </p:xfrm>
        <a:graphic>
          <a:graphicData uri="http://schemas.openxmlformats.org/drawingml/2006/table">
            <a:tbl>
              <a:tblPr>
                <a:noFill/>
                <a:tableStyleId>{FBF6C270-3839-495F-BF6B-5D2B0D70D4C5}</a:tableStyleId>
              </a:tblPr>
              <a:tblGrid>
                <a:gridCol w="1858675"/>
                <a:gridCol w="2116800"/>
                <a:gridCol w="4326850"/>
              </a:tblGrid>
              <a:tr h="346325">
                <a:tc>
                  <a:txBody>
                    <a:bodyPr/>
                    <a:lstStyle/>
                    <a:p>
                      <a:pPr indent="0" lvl="0" marL="0" marR="0" rtl="0" algn="l">
                        <a:spcBef>
                          <a:spcPts val="0"/>
                        </a:spcBef>
                        <a:spcAft>
                          <a:spcPts val="0"/>
                        </a:spcAft>
                        <a:buNone/>
                      </a:pPr>
                      <a:r>
                        <a:rPr b="1" lang="en-US" sz="1200" u="none" cap="none" strike="noStrike">
                          <a:latin typeface="Arial"/>
                          <a:ea typeface="Arial"/>
                          <a:cs typeface="Arial"/>
                          <a:sym typeface="Arial"/>
                        </a:rPr>
                        <a:t>Clinical environment</a:t>
                      </a:r>
                      <a:endParaRPr b="0" sz="1200" strike="noStrike">
                        <a:latin typeface="Arial"/>
                        <a:ea typeface="Arial"/>
                        <a:cs typeface="Arial"/>
                        <a:sym typeface="Arial"/>
                      </a:endParaRPr>
                    </a:p>
                  </a:txBody>
                  <a:tcPr marT="45725" marB="45725" marR="36000" marL="36000">
                    <a:lnL cap="flat" cmpd="sng" w="10800">
                      <a:solidFill>
                        <a:srgbClr val="468A1A"/>
                      </a:solidFill>
                      <a:prstDash val="solid"/>
                      <a:round/>
                      <a:headEnd len="sm" w="sm" type="none"/>
                      <a:tailEnd len="sm" w="sm" type="none"/>
                    </a:lnL>
                    <a:lnR cap="flat" cmpd="sng" w="10800">
                      <a:solidFill>
                        <a:srgbClr val="468A1A"/>
                      </a:solidFill>
                      <a:prstDash val="solid"/>
                      <a:round/>
                      <a:headEnd len="sm" w="sm" type="none"/>
                      <a:tailEnd len="sm" w="sm" type="none"/>
                    </a:lnR>
                    <a:lnT cap="flat" cmpd="sng" w="10800">
                      <a:solidFill>
                        <a:srgbClr val="468A1A"/>
                      </a:solidFill>
                      <a:prstDash val="solid"/>
                      <a:round/>
                      <a:headEnd len="sm" w="sm" type="none"/>
                      <a:tailEnd len="sm" w="sm" type="none"/>
                    </a:lnT>
                    <a:lnB cap="flat" cmpd="sng" w="10800">
                      <a:solidFill>
                        <a:srgbClr val="468A1A"/>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Patients clinical data</a:t>
                      </a:r>
                      <a:endParaRPr b="0" sz="1200" strike="noStrike">
                        <a:latin typeface="Arial"/>
                        <a:ea typeface="Arial"/>
                        <a:cs typeface="Arial"/>
                        <a:sym typeface="Arial"/>
                      </a:endParaRPr>
                    </a:p>
                  </a:txBody>
                  <a:tcPr marT="45725" marB="45725" marR="36000" marL="36000">
                    <a:lnL cap="flat" cmpd="sng" w="10800">
                      <a:solidFill>
                        <a:srgbClr val="468A1A"/>
                      </a:solidFill>
                      <a:prstDash val="solid"/>
                      <a:round/>
                      <a:headEnd len="sm" w="sm" type="none"/>
                      <a:tailEnd len="sm" w="sm" type="none"/>
                    </a:lnL>
                    <a:lnR cap="flat" cmpd="sng" w="10800">
                      <a:solidFill>
                        <a:srgbClr val="468A1A"/>
                      </a:solidFill>
                      <a:prstDash val="solid"/>
                      <a:round/>
                      <a:headEnd len="sm" w="sm" type="none"/>
                      <a:tailEnd len="sm" w="sm" type="none"/>
                    </a:lnR>
                    <a:lnT cap="flat" cmpd="sng" w="10800">
                      <a:solidFill>
                        <a:srgbClr val="468A1A"/>
                      </a:solidFill>
                      <a:prstDash val="solid"/>
                      <a:round/>
                      <a:headEnd len="sm" w="sm" type="none"/>
                      <a:tailEnd len="sm" w="sm" type="none"/>
                    </a:lnT>
                    <a:lnB cap="flat" cmpd="sng" w="10800">
                      <a:solidFill>
                        <a:srgbClr val="468A1A"/>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Anagraphics</a:t>
                      </a:r>
                      <a:r>
                        <a:rPr b="0" lang="en-US" sz="1200" strike="noStrike">
                          <a:latin typeface="Arial"/>
                          <a:ea typeface="Arial"/>
                          <a:cs typeface="Arial"/>
                          <a:sym typeface="Arial"/>
                        </a:rPr>
                        <a:t>, diagnosis, comorbidities, therapy, etc</a:t>
                      </a:r>
                      <a:endParaRPr b="0" sz="1200" strike="noStrike">
                        <a:latin typeface="Arial"/>
                        <a:ea typeface="Arial"/>
                        <a:cs typeface="Arial"/>
                        <a:sym typeface="Arial"/>
                      </a:endParaRPr>
                    </a:p>
                  </a:txBody>
                  <a:tcPr marT="45725" marB="45725" marR="36000" marL="36000">
                    <a:lnL cap="flat" cmpd="sng" w="10800">
                      <a:solidFill>
                        <a:srgbClr val="468A1A"/>
                      </a:solidFill>
                      <a:prstDash val="solid"/>
                      <a:round/>
                      <a:headEnd len="sm" w="sm" type="none"/>
                      <a:tailEnd len="sm" w="sm" type="none"/>
                    </a:lnL>
                    <a:lnR cap="flat" cmpd="sng" w="10800">
                      <a:solidFill>
                        <a:srgbClr val="468A1A"/>
                      </a:solidFill>
                      <a:prstDash val="solid"/>
                      <a:round/>
                      <a:headEnd len="sm" w="sm" type="none"/>
                      <a:tailEnd len="sm" w="sm" type="none"/>
                    </a:lnR>
                    <a:lnT cap="flat" cmpd="sng" w="10800">
                      <a:solidFill>
                        <a:srgbClr val="468A1A"/>
                      </a:solidFill>
                      <a:prstDash val="solid"/>
                      <a:round/>
                      <a:headEnd len="sm" w="sm" type="none"/>
                      <a:tailEnd len="sm" w="sm" type="none"/>
                    </a:lnT>
                    <a:lnB cap="flat" cmpd="sng" w="10800">
                      <a:solidFill>
                        <a:srgbClr val="468A1A"/>
                      </a:solidFill>
                      <a:prstDash val="solid"/>
                      <a:round/>
                      <a:headEnd len="sm" w="sm" type="none"/>
                      <a:tailEnd len="sm" w="sm" type="none"/>
                    </a:lnB>
                  </a:tcPr>
                </a:tc>
              </a:tr>
              <a:tr h="346325">
                <a:tc>
                  <a:txBody>
                    <a:bodyPr/>
                    <a:lstStyle/>
                    <a:p>
                      <a:pPr indent="0" lvl="0" marL="0" marR="0" rtl="0" algn="l">
                        <a:spcBef>
                          <a:spcPts val="0"/>
                        </a:spcBef>
                        <a:spcAft>
                          <a:spcPts val="0"/>
                        </a:spcAft>
                        <a:buNone/>
                      </a:pPr>
                      <a:r>
                        <a:rPr b="1" lang="en-US" sz="1200" strike="noStrike">
                          <a:latin typeface="Arial"/>
                          <a:ea typeface="Arial"/>
                          <a:cs typeface="Arial"/>
                          <a:sym typeface="Arial"/>
                        </a:rPr>
                        <a:t>Laboratory environment</a:t>
                      </a:r>
                      <a:endParaRPr b="0" sz="1200" strike="noStrike">
                        <a:latin typeface="Arial"/>
                        <a:ea typeface="Arial"/>
                        <a:cs typeface="Arial"/>
                        <a:sym typeface="Arial"/>
                      </a:endParaRPr>
                    </a:p>
                  </a:txBody>
                  <a:tcPr marT="45725" marB="45725" marR="36000" marL="36000">
                    <a:lnL cap="flat" cmpd="sng" w="10800">
                      <a:solidFill>
                        <a:srgbClr val="468A1A"/>
                      </a:solidFill>
                      <a:prstDash val="solid"/>
                      <a:round/>
                      <a:headEnd len="sm" w="sm" type="none"/>
                      <a:tailEnd len="sm" w="sm" type="none"/>
                    </a:lnL>
                    <a:lnR cap="flat" cmpd="sng" w="10800">
                      <a:solidFill>
                        <a:srgbClr val="468A1A"/>
                      </a:solidFill>
                      <a:prstDash val="solid"/>
                      <a:round/>
                      <a:headEnd len="sm" w="sm" type="none"/>
                      <a:tailEnd len="sm" w="sm" type="none"/>
                    </a:lnR>
                    <a:lnT cap="flat" cmpd="sng" w="10800">
                      <a:solidFill>
                        <a:srgbClr val="468A1A"/>
                      </a:solidFill>
                      <a:prstDash val="solid"/>
                      <a:round/>
                      <a:headEnd len="sm" w="sm" type="none"/>
                      <a:tailEnd len="sm" w="sm" type="none"/>
                    </a:lnT>
                    <a:lnB cap="flat" cmpd="sng" w="10800">
                      <a:solidFill>
                        <a:srgbClr val="468A1A"/>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Experimental design </a:t>
                      </a:r>
                      <a:r>
                        <a:rPr lang="en-US" sz="1200"/>
                        <a:t>structure</a:t>
                      </a:r>
                      <a:endParaRPr b="0" sz="1200" strike="noStrike">
                        <a:latin typeface="Arial"/>
                        <a:ea typeface="Arial"/>
                        <a:cs typeface="Arial"/>
                        <a:sym typeface="Arial"/>
                      </a:endParaRPr>
                    </a:p>
                  </a:txBody>
                  <a:tcPr marT="45725" marB="45725" marR="36000" marL="36000">
                    <a:lnL cap="flat" cmpd="sng" w="10800">
                      <a:solidFill>
                        <a:srgbClr val="468A1A"/>
                      </a:solidFill>
                      <a:prstDash val="solid"/>
                      <a:round/>
                      <a:headEnd len="sm" w="sm" type="none"/>
                      <a:tailEnd len="sm" w="sm" type="none"/>
                    </a:lnL>
                    <a:lnR cap="flat" cmpd="sng" w="10800">
                      <a:solidFill>
                        <a:srgbClr val="468A1A"/>
                      </a:solidFill>
                      <a:prstDash val="solid"/>
                      <a:round/>
                      <a:headEnd len="sm" w="sm" type="none"/>
                      <a:tailEnd len="sm" w="sm" type="none"/>
                    </a:lnR>
                    <a:lnT cap="flat" cmpd="sng" w="10800">
                      <a:solidFill>
                        <a:srgbClr val="468A1A"/>
                      </a:solidFill>
                      <a:prstDash val="solid"/>
                      <a:round/>
                      <a:headEnd len="sm" w="sm" type="none"/>
                      <a:tailEnd len="sm" w="sm" type="none"/>
                    </a:lnT>
                    <a:lnB cap="flat" cmpd="sng" w="10800">
                      <a:solidFill>
                        <a:srgbClr val="468A1A"/>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Animal model/cell line, treatment, condition, replicates, </a:t>
                      </a:r>
                      <a:r>
                        <a:rPr lang="en-US" sz="1200"/>
                        <a:t>culture</a:t>
                      </a:r>
                      <a:r>
                        <a:rPr b="0" lang="en-US" sz="1200" strike="noStrike">
                          <a:latin typeface="Arial"/>
                          <a:ea typeface="Arial"/>
                          <a:cs typeface="Arial"/>
                          <a:sym typeface="Arial"/>
                        </a:rPr>
                        <a:t> condition, etc.</a:t>
                      </a:r>
                      <a:endParaRPr b="0" sz="1200" strike="noStrike">
                        <a:latin typeface="Arial"/>
                        <a:ea typeface="Arial"/>
                        <a:cs typeface="Arial"/>
                        <a:sym typeface="Arial"/>
                      </a:endParaRPr>
                    </a:p>
                  </a:txBody>
                  <a:tcPr marT="45725" marB="45725" marR="36000" marL="36000">
                    <a:lnL cap="flat" cmpd="sng" w="10800">
                      <a:solidFill>
                        <a:srgbClr val="468A1A"/>
                      </a:solidFill>
                      <a:prstDash val="solid"/>
                      <a:round/>
                      <a:headEnd len="sm" w="sm" type="none"/>
                      <a:tailEnd len="sm" w="sm" type="none"/>
                    </a:lnL>
                    <a:lnR cap="flat" cmpd="sng" w="10800">
                      <a:solidFill>
                        <a:srgbClr val="468A1A"/>
                      </a:solidFill>
                      <a:prstDash val="solid"/>
                      <a:round/>
                      <a:headEnd len="sm" w="sm" type="none"/>
                      <a:tailEnd len="sm" w="sm" type="none"/>
                    </a:lnR>
                    <a:lnT cap="flat" cmpd="sng" w="10800">
                      <a:solidFill>
                        <a:srgbClr val="468A1A"/>
                      </a:solidFill>
                      <a:prstDash val="solid"/>
                      <a:round/>
                      <a:headEnd len="sm" w="sm" type="none"/>
                      <a:tailEnd len="sm" w="sm" type="none"/>
                    </a:lnT>
                    <a:lnB cap="flat" cmpd="sng" w="10800">
                      <a:solidFill>
                        <a:srgbClr val="468A1A"/>
                      </a:solidFill>
                      <a:prstDash val="solid"/>
                      <a:round/>
                      <a:headEnd len="sm" w="sm" type="none"/>
                      <a:tailEnd len="sm" w="sm" type="none"/>
                    </a:lnB>
                  </a:tcPr>
                </a:tc>
              </a:tr>
              <a:tr h="346325">
                <a:tc>
                  <a:txBody>
                    <a:bodyPr/>
                    <a:lstStyle/>
                    <a:p>
                      <a:pPr indent="0" lvl="0" marL="0" marR="0" rtl="0" algn="l">
                        <a:spcBef>
                          <a:spcPts val="0"/>
                        </a:spcBef>
                        <a:spcAft>
                          <a:spcPts val="0"/>
                        </a:spcAft>
                        <a:buNone/>
                      </a:pPr>
                      <a:r>
                        <a:rPr b="1" lang="en-US" sz="1200" strike="noStrike">
                          <a:latin typeface="Arial"/>
                          <a:ea typeface="Arial"/>
                          <a:cs typeface="Arial"/>
                          <a:sym typeface="Arial"/>
                        </a:rPr>
                        <a:t>Environmental research</a:t>
                      </a:r>
                      <a:r>
                        <a:rPr b="0" lang="en-US" sz="1200" strike="noStrike">
                          <a:latin typeface="Arial"/>
                          <a:ea typeface="Arial"/>
                          <a:cs typeface="Arial"/>
                          <a:sym typeface="Arial"/>
                        </a:rPr>
                        <a:t> </a:t>
                      </a:r>
                      <a:endParaRPr b="0" sz="1200" strike="noStrike">
                        <a:latin typeface="Arial"/>
                        <a:ea typeface="Arial"/>
                        <a:cs typeface="Arial"/>
                        <a:sym typeface="Arial"/>
                      </a:endParaRPr>
                    </a:p>
                  </a:txBody>
                  <a:tcPr marT="45725" marB="45725" marR="36000" marL="36000">
                    <a:lnL cap="flat" cmpd="sng" w="10800">
                      <a:solidFill>
                        <a:srgbClr val="468A1A"/>
                      </a:solidFill>
                      <a:prstDash val="solid"/>
                      <a:round/>
                      <a:headEnd len="sm" w="sm" type="none"/>
                      <a:tailEnd len="sm" w="sm" type="none"/>
                    </a:lnL>
                    <a:lnR cap="flat" cmpd="sng" w="10800">
                      <a:solidFill>
                        <a:srgbClr val="468A1A"/>
                      </a:solidFill>
                      <a:prstDash val="solid"/>
                      <a:round/>
                      <a:headEnd len="sm" w="sm" type="none"/>
                      <a:tailEnd len="sm" w="sm" type="none"/>
                    </a:lnR>
                    <a:lnT cap="flat" cmpd="sng" w="10800">
                      <a:solidFill>
                        <a:srgbClr val="468A1A"/>
                      </a:solidFill>
                      <a:prstDash val="solid"/>
                      <a:round/>
                      <a:headEnd len="sm" w="sm" type="none"/>
                      <a:tailEnd len="sm" w="sm" type="none"/>
                    </a:lnT>
                    <a:lnB cap="flat" cmpd="sng" w="10800">
                      <a:solidFill>
                        <a:srgbClr val="468A1A"/>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Environmental conditions</a:t>
                      </a:r>
                      <a:endParaRPr b="0" sz="1200" strike="noStrike">
                        <a:latin typeface="Arial"/>
                        <a:ea typeface="Arial"/>
                        <a:cs typeface="Arial"/>
                        <a:sym typeface="Arial"/>
                      </a:endParaRPr>
                    </a:p>
                  </a:txBody>
                  <a:tcPr marT="45725" marB="45725" marR="36000" marL="36000">
                    <a:lnL cap="flat" cmpd="sng" w="10800">
                      <a:solidFill>
                        <a:srgbClr val="468A1A"/>
                      </a:solidFill>
                      <a:prstDash val="solid"/>
                      <a:round/>
                      <a:headEnd len="sm" w="sm" type="none"/>
                      <a:tailEnd len="sm" w="sm" type="none"/>
                    </a:lnL>
                    <a:lnR cap="flat" cmpd="sng" w="10800">
                      <a:solidFill>
                        <a:srgbClr val="468A1A"/>
                      </a:solidFill>
                      <a:prstDash val="solid"/>
                      <a:round/>
                      <a:headEnd len="sm" w="sm" type="none"/>
                      <a:tailEnd len="sm" w="sm" type="none"/>
                    </a:lnR>
                    <a:lnT cap="flat" cmpd="sng" w="10800">
                      <a:solidFill>
                        <a:srgbClr val="468A1A"/>
                      </a:solidFill>
                      <a:prstDash val="solid"/>
                      <a:round/>
                      <a:headEnd len="sm" w="sm" type="none"/>
                      <a:tailEnd len="sm" w="sm" type="none"/>
                    </a:lnT>
                    <a:lnB cap="flat" cmpd="sng" w="10800">
                      <a:solidFill>
                        <a:srgbClr val="468A1A"/>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Location, temperature, sample type, sample pH, etc.</a:t>
                      </a:r>
                      <a:endParaRPr b="0" sz="1200" strike="noStrike">
                        <a:latin typeface="Arial"/>
                        <a:ea typeface="Arial"/>
                        <a:cs typeface="Arial"/>
                        <a:sym typeface="Arial"/>
                      </a:endParaRPr>
                    </a:p>
                  </a:txBody>
                  <a:tcPr marT="45725" marB="45725" marR="36000" marL="36000">
                    <a:lnL cap="flat" cmpd="sng" w="10800">
                      <a:solidFill>
                        <a:srgbClr val="468A1A"/>
                      </a:solidFill>
                      <a:prstDash val="solid"/>
                      <a:round/>
                      <a:headEnd len="sm" w="sm" type="none"/>
                      <a:tailEnd len="sm" w="sm" type="none"/>
                    </a:lnL>
                    <a:lnR cap="flat" cmpd="sng" w="10800">
                      <a:solidFill>
                        <a:srgbClr val="468A1A"/>
                      </a:solidFill>
                      <a:prstDash val="solid"/>
                      <a:round/>
                      <a:headEnd len="sm" w="sm" type="none"/>
                      <a:tailEnd len="sm" w="sm" type="none"/>
                    </a:lnR>
                    <a:lnT cap="flat" cmpd="sng" w="10800">
                      <a:solidFill>
                        <a:srgbClr val="468A1A"/>
                      </a:solidFill>
                      <a:prstDash val="solid"/>
                      <a:round/>
                      <a:headEnd len="sm" w="sm" type="none"/>
                      <a:tailEnd len="sm" w="sm" type="none"/>
                    </a:lnT>
                    <a:lnB cap="flat" cmpd="sng" w="10800">
                      <a:solidFill>
                        <a:srgbClr val="468A1A"/>
                      </a:solidFill>
                      <a:prstDash val="solid"/>
                      <a:round/>
                      <a:headEnd len="sm" w="sm" type="none"/>
                      <a:tailEnd len="sm" w="sm" type="none"/>
                    </a:lnB>
                  </a:tcPr>
                </a:tc>
              </a:tr>
              <a:tr h="346325">
                <a:tc>
                  <a:txBody>
                    <a:bodyPr/>
                    <a:lstStyle/>
                    <a:p>
                      <a:pPr indent="0" lvl="0" marL="0" marR="0" rtl="0" algn="l">
                        <a:spcBef>
                          <a:spcPts val="0"/>
                        </a:spcBef>
                        <a:spcAft>
                          <a:spcPts val="0"/>
                        </a:spcAft>
                        <a:buNone/>
                      </a:pPr>
                      <a:r>
                        <a:rPr b="1" lang="en-US" sz="1200" strike="noStrike">
                          <a:latin typeface="Arial"/>
                          <a:ea typeface="Arial"/>
                          <a:cs typeface="Arial"/>
                          <a:sym typeface="Arial"/>
                        </a:rPr>
                        <a:t>Drug </a:t>
                      </a:r>
                      <a:r>
                        <a:rPr b="1" lang="en-US" sz="1200"/>
                        <a:t>development</a:t>
                      </a:r>
                      <a:endParaRPr b="0" sz="1200" strike="noStrike">
                        <a:latin typeface="Arial"/>
                        <a:ea typeface="Arial"/>
                        <a:cs typeface="Arial"/>
                        <a:sym typeface="Arial"/>
                      </a:endParaRPr>
                    </a:p>
                  </a:txBody>
                  <a:tcPr marT="45725" marB="45725" marR="36000" marL="36000">
                    <a:lnL cap="flat" cmpd="sng" w="10800">
                      <a:solidFill>
                        <a:srgbClr val="468A1A"/>
                      </a:solidFill>
                      <a:prstDash val="solid"/>
                      <a:round/>
                      <a:headEnd len="sm" w="sm" type="none"/>
                      <a:tailEnd len="sm" w="sm" type="none"/>
                    </a:lnL>
                    <a:lnR cap="flat" cmpd="sng" w="10800">
                      <a:solidFill>
                        <a:srgbClr val="468A1A"/>
                      </a:solidFill>
                      <a:prstDash val="solid"/>
                      <a:round/>
                      <a:headEnd len="sm" w="sm" type="none"/>
                      <a:tailEnd len="sm" w="sm" type="none"/>
                    </a:lnR>
                    <a:lnT cap="flat" cmpd="sng" w="10800">
                      <a:solidFill>
                        <a:srgbClr val="468A1A"/>
                      </a:solidFill>
                      <a:prstDash val="solid"/>
                      <a:round/>
                      <a:headEnd len="sm" w="sm" type="none"/>
                      <a:tailEnd len="sm" w="sm" type="none"/>
                    </a:lnT>
                    <a:lnB cap="flat" cmpd="sng" w="10800">
                      <a:solidFill>
                        <a:srgbClr val="468A1A"/>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Experimental conditions</a:t>
                      </a:r>
                      <a:endParaRPr b="0" sz="1200" strike="noStrike">
                        <a:latin typeface="Arial"/>
                        <a:ea typeface="Arial"/>
                        <a:cs typeface="Arial"/>
                        <a:sym typeface="Arial"/>
                      </a:endParaRPr>
                    </a:p>
                  </a:txBody>
                  <a:tcPr marT="45725" marB="45725" marR="36000" marL="36000">
                    <a:lnL cap="flat" cmpd="sng" w="10800">
                      <a:solidFill>
                        <a:srgbClr val="468A1A"/>
                      </a:solidFill>
                      <a:prstDash val="solid"/>
                      <a:round/>
                      <a:headEnd len="sm" w="sm" type="none"/>
                      <a:tailEnd len="sm" w="sm" type="none"/>
                    </a:lnL>
                    <a:lnR cap="flat" cmpd="sng" w="10800">
                      <a:solidFill>
                        <a:srgbClr val="468A1A"/>
                      </a:solidFill>
                      <a:prstDash val="solid"/>
                      <a:round/>
                      <a:headEnd len="sm" w="sm" type="none"/>
                      <a:tailEnd len="sm" w="sm" type="none"/>
                    </a:lnR>
                    <a:lnT cap="flat" cmpd="sng" w="10800">
                      <a:solidFill>
                        <a:srgbClr val="468A1A"/>
                      </a:solidFill>
                      <a:prstDash val="solid"/>
                      <a:round/>
                      <a:headEnd len="sm" w="sm" type="none"/>
                      <a:tailEnd len="sm" w="sm" type="none"/>
                    </a:lnT>
                    <a:lnB cap="flat" cmpd="sng" w="10800">
                      <a:solidFill>
                        <a:srgbClr val="468A1A"/>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Dose, treatment duration, administration route, test subject, etc.</a:t>
                      </a:r>
                      <a:endParaRPr b="0" sz="1200" strike="noStrike">
                        <a:latin typeface="Arial"/>
                        <a:ea typeface="Arial"/>
                        <a:cs typeface="Arial"/>
                        <a:sym typeface="Arial"/>
                      </a:endParaRPr>
                    </a:p>
                  </a:txBody>
                  <a:tcPr marT="45725" marB="45725" marR="36000" marL="36000">
                    <a:lnL cap="flat" cmpd="sng" w="10800">
                      <a:solidFill>
                        <a:srgbClr val="468A1A"/>
                      </a:solidFill>
                      <a:prstDash val="solid"/>
                      <a:round/>
                      <a:headEnd len="sm" w="sm" type="none"/>
                      <a:tailEnd len="sm" w="sm" type="none"/>
                    </a:lnL>
                    <a:lnR cap="flat" cmpd="sng" w="10800">
                      <a:solidFill>
                        <a:srgbClr val="468A1A"/>
                      </a:solidFill>
                      <a:prstDash val="solid"/>
                      <a:round/>
                      <a:headEnd len="sm" w="sm" type="none"/>
                      <a:tailEnd len="sm" w="sm" type="none"/>
                    </a:lnR>
                    <a:lnT cap="flat" cmpd="sng" w="10800">
                      <a:solidFill>
                        <a:srgbClr val="468A1A"/>
                      </a:solidFill>
                      <a:prstDash val="solid"/>
                      <a:round/>
                      <a:headEnd len="sm" w="sm" type="none"/>
                      <a:tailEnd len="sm" w="sm" type="none"/>
                    </a:lnT>
                    <a:lnB cap="flat" cmpd="sng" w="10800">
                      <a:solidFill>
                        <a:srgbClr val="468A1A"/>
                      </a:solidFill>
                      <a:prstDash val="solid"/>
                      <a:round/>
                      <a:headEnd len="sm" w="sm" type="none"/>
                      <a:tailEnd len="sm" w="sm" type="none"/>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cxnSp>
        <p:nvCxnSpPr>
          <p:cNvPr id="115" name="Google Shape;115;p18"/>
          <p:cNvCxnSpPr/>
          <p:nvPr/>
        </p:nvCxnSpPr>
        <p:spPr>
          <a:xfrm>
            <a:off x="180000" y="540000"/>
            <a:ext cx="7920000" cy="0"/>
          </a:xfrm>
          <a:prstGeom prst="straightConnector1">
            <a:avLst/>
          </a:prstGeom>
          <a:noFill/>
          <a:ln cap="flat" cmpd="sng" w="36000">
            <a:solidFill>
              <a:srgbClr val="468A1A"/>
            </a:solidFill>
            <a:prstDash val="solid"/>
            <a:round/>
            <a:headEnd len="sm" w="sm" type="none"/>
            <a:tailEnd len="sm" w="sm" type="none"/>
          </a:ln>
        </p:spPr>
      </p:cxnSp>
      <p:sp>
        <p:nvSpPr>
          <p:cNvPr id="116" name="Google Shape;116;p18"/>
          <p:cNvSpPr txBox="1"/>
          <p:nvPr/>
        </p:nvSpPr>
        <p:spPr>
          <a:xfrm>
            <a:off x="120960" y="72360"/>
            <a:ext cx="5207040" cy="40284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2200" strike="noStrike">
                <a:solidFill>
                  <a:srgbClr val="468A1A"/>
                </a:solidFill>
                <a:latin typeface="Arial"/>
                <a:ea typeface="Arial"/>
                <a:cs typeface="Arial"/>
                <a:sym typeface="Arial"/>
              </a:rPr>
              <a:t>Metadata: what are we talking about?</a:t>
            </a:r>
            <a:endParaRPr b="0" sz="2200" strike="noStrike">
              <a:latin typeface="Arial"/>
              <a:ea typeface="Arial"/>
              <a:cs typeface="Arial"/>
              <a:sym typeface="Arial"/>
            </a:endParaRPr>
          </a:p>
        </p:txBody>
      </p:sp>
      <p:sp>
        <p:nvSpPr>
          <p:cNvPr id="117" name="Google Shape;117;p18"/>
          <p:cNvSpPr txBox="1"/>
          <p:nvPr/>
        </p:nvSpPr>
        <p:spPr>
          <a:xfrm>
            <a:off x="1440000" y="900000"/>
            <a:ext cx="7200000" cy="360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1500" strike="noStrike">
                <a:solidFill>
                  <a:srgbClr val="000000"/>
                </a:solidFill>
                <a:latin typeface="Arial"/>
                <a:ea typeface="Arial"/>
                <a:cs typeface="Arial"/>
                <a:sym typeface="Arial"/>
              </a:rPr>
              <a:t>Metadata describe and provide information about our dataset of interest. </a:t>
            </a:r>
            <a:endParaRPr b="0" sz="1500" strike="noStrike">
              <a:latin typeface="Arial"/>
              <a:ea typeface="Arial"/>
              <a:cs typeface="Arial"/>
              <a:sym typeface="Arial"/>
            </a:endParaRPr>
          </a:p>
        </p:txBody>
      </p:sp>
      <p:sp>
        <p:nvSpPr>
          <p:cNvPr id="118" name="Google Shape;118;p18"/>
          <p:cNvSpPr txBox="1"/>
          <p:nvPr/>
        </p:nvSpPr>
        <p:spPr>
          <a:xfrm>
            <a:off x="360000" y="1440000"/>
            <a:ext cx="9180000" cy="431640"/>
          </a:xfrm>
          <a:prstGeom prst="rect">
            <a:avLst/>
          </a:prstGeom>
          <a:noFill/>
          <a:ln>
            <a:noFill/>
          </a:ln>
        </p:spPr>
        <p:txBody>
          <a:bodyPr anchorCtr="1" anchor="t" bIns="45000" lIns="90000" spcFirstLastPara="1" rIns="90000" wrap="square" tIns="45000">
            <a:noAutofit/>
          </a:bodyPr>
          <a:lstStyle/>
          <a:p>
            <a:pPr indent="0" lvl="0" marL="0" marR="0" rtl="0" algn="ctr">
              <a:spcBef>
                <a:spcPts val="0"/>
              </a:spcBef>
              <a:spcAft>
                <a:spcPts val="0"/>
              </a:spcAft>
              <a:buNone/>
            </a:pPr>
            <a:r>
              <a:rPr b="0" lang="en-US" sz="1200" strike="noStrike">
                <a:latin typeface="Arial"/>
                <a:ea typeface="Arial"/>
                <a:cs typeface="Arial"/>
                <a:sym typeface="Arial"/>
              </a:rPr>
              <a:t>Metadata </a:t>
            </a:r>
            <a:r>
              <a:rPr b="0" lang="en-US" sz="1200" strike="noStrike">
                <a:solidFill>
                  <a:srgbClr val="C9211E"/>
                </a:solidFill>
                <a:latin typeface="Arial"/>
                <a:ea typeface="Arial"/>
                <a:cs typeface="Arial"/>
                <a:sym typeface="Arial"/>
              </a:rPr>
              <a:t>vary depending on the research context</a:t>
            </a:r>
            <a:r>
              <a:rPr b="0" lang="en-US" sz="1200" strike="noStrike">
                <a:latin typeface="Arial"/>
                <a:ea typeface="Arial"/>
                <a:cs typeface="Arial"/>
                <a:sym typeface="Arial"/>
              </a:rPr>
              <a:t>. They describe the characteristics, origin, conditions, and processing of the data, making datasets easier to interpret, organize, and reuse. </a:t>
            </a:r>
            <a:endParaRPr b="0" sz="1200" strike="noStrike">
              <a:latin typeface="Arial"/>
              <a:ea typeface="Arial"/>
              <a:cs typeface="Arial"/>
              <a:sym typeface="Arial"/>
            </a:endParaRPr>
          </a:p>
        </p:txBody>
      </p:sp>
      <p:sp>
        <p:nvSpPr>
          <p:cNvPr id="119" name="Google Shape;119;p18"/>
          <p:cNvSpPr txBox="1"/>
          <p:nvPr/>
        </p:nvSpPr>
        <p:spPr>
          <a:xfrm>
            <a:off x="1717920" y="3996360"/>
            <a:ext cx="6644160" cy="431640"/>
          </a:xfrm>
          <a:prstGeom prst="rect">
            <a:avLst/>
          </a:prstGeom>
          <a:noFill/>
          <a:ln>
            <a:noFill/>
          </a:ln>
        </p:spPr>
        <p:txBody>
          <a:bodyPr anchorCtr="1" anchor="t" bIns="45000" lIns="90000" spcFirstLastPara="1" rIns="90000" wrap="square" tIns="45000">
            <a:noAutofit/>
          </a:bodyPr>
          <a:lstStyle/>
          <a:p>
            <a:pPr indent="0" lvl="0" marL="0" marR="0" rtl="0" algn="ctr">
              <a:spcBef>
                <a:spcPts val="0"/>
              </a:spcBef>
              <a:spcAft>
                <a:spcPts val="0"/>
              </a:spcAft>
              <a:buNone/>
            </a:pPr>
            <a:r>
              <a:rPr b="0" lang="en-US" sz="1200" strike="noStrike">
                <a:latin typeface="Arial"/>
                <a:ea typeface="Arial"/>
                <a:cs typeface="Arial"/>
                <a:sym typeface="Arial"/>
              </a:rPr>
              <a:t>Metadata are a key part of every data analysis, but </a:t>
            </a:r>
            <a:r>
              <a:rPr b="1" lang="en-US" sz="1200" strike="noStrike">
                <a:latin typeface="Arial"/>
                <a:ea typeface="Arial"/>
                <a:cs typeface="Arial"/>
                <a:sym typeface="Arial"/>
              </a:rPr>
              <a:t>the larger and more complex the dataset, the more essential accurate and complete metadata become</a:t>
            </a:r>
            <a:r>
              <a:rPr b="0" lang="en-US" sz="1200" strike="noStrike">
                <a:latin typeface="Arial"/>
                <a:ea typeface="Arial"/>
                <a:cs typeface="Arial"/>
                <a:sym typeface="Arial"/>
              </a:rPr>
              <a:t>. </a:t>
            </a:r>
            <a:endParaRPr b="0" sz="1200" strike="noStrike">
              <a:latin typeface="Arial"/>
              <a:ea typeface="Arial"/>
              <a:cs typeface="Arial"/>
              <a:sym typeface="Arial"/>
            </a:endParaRPr>
          </a:p>
        </p:txBody>
      </p:sp>
      <p:sp>
        <p:nvSpPr>
          <p:cNvPr id="120" name="Google Shape;120;p18"/>
          <p:cNvSpPr txBox="1"/>
          <p:nvPr/>
        </p:nvSpPr>
        <p:spPr>
          <a:xfrm>
            <a:off x="2409480" y="4680000"/>
            <a:ext cx="5261040" cy="431640"/>
          </a:xfrm>
          <a:prstGeom prst="rect">
            <a:avLst/>
          </a:prstGeom>
          <a:noFill/>
          <a:ln>
            <a:noFill/>
          </a:ln>
        </p:spPr>
        <p:txBody>
          <a:bodyPr anchorCtr="1" anchor="t" bIns="45000" lIns="90000" spcFirstLastPara="1" rIns="90000" wrap="square" tIns="45000">
            <a:noAutofit/>
          </a:bodyPr>
          <a:lstStyle/>
          <a:p>
            <a:pPr indent="0" lvl="0" marL="0" marR="0" rtl="0" algn="ctr">
              <a:spcBef>
                <a:spcPts val="0"/>
              </a:spcBef>
              <a:spcAft>
                <a:spcPts val="0"/>
              </a:spcAft>
              <a:buNone/>
            </a:pPr>
            <a:r>
              <a:rPr b="1" lang="en-US" sz="1200" strike="noStrike">
                <a:latin typeface="Arial"/>
                <a:ea typeface="Arial"/>
                <a:cs typeface="Arial"/>
                <a:sym typeface="Arial"/>
              </a:rPr>
              <a:t>Numbers alone are just numbers, context turn them meaningful!</a:t>
            </a:r>
            <a:endParaRPr b="0" sz="1200" strike="noStrike">
              <a:latin typeface="Arial"/>
              <a:ea typeface="Arial"/>
              <a:cs typeface="Arial"/>
              <a:sym typeface="Arial"/>
            </a:endParaRPr>
          </a:p>
        </p:txBody>
      </p:sp>
      <p:sp>
        <p:nvSpPr>
          <p:cNvPr id="121" name="Google Shape;121;p18"/>
          <p:cNvSpPr/>
          <p:nvPr/>
        </p:nvSpPr>
        <p:spPr>
          <a:xfrm>
            <a:off x="2520000" y="4644000"/>
            <a:ext cx="5040000" cy="360000"/>
          </a:xfrm>
          <a:prstGeom prst="rect">
            <a:avLst/>
          </a:prstGeom>
          <a:noFill/>
          <a:ln cap="flat" cmpd="sng" w="36000">
            <a:solidFill>
              <a:srgbClr val="468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8"/>
          <p:cNvSpPr txBox="1"/>
          <p:nvPr/>
        </p:nvSpPr>
        <p:spPr>
          <a:xfrm rot="-1309200">
            <a:off x="7633440" y="4194360"/>
            <a:ext cx="2395080" cy="858240"/>
          </a:xfrm>
          <a:prstGeom prst="rect">
            <a:avLst/>
          </a:prstGeom>
          <a:noFill/>
          <a:ln>
            <a:noFill/>
          </a:ln>
        </p:spPr>
        <p:txBody>
          <a:bodyPr anchorCtr="1" anchor="t" bIns="45000" lIns="90000" spcFirstLastPara="1" rIns="90000" wrap="square" tIns="45000">
            <a:noAutofit/>
          </a:bodyPr>
          <a:lstStyle/>
          <a:p>
            <a:pPr indent="0" lvl="0" marL="0" marR="0" rtl="0" algn="ctr">
              <a:spcBef>
                <a:spcPts val="0"/>
              </a:spcBef>
              <a:spcAft>
                <a:spcPts val="0"/>
              </a:spcAft>
              <a:buNone/>
            </a:pPr>
            <a:r>
              <a:rPr b="1" lang="en-US" sz="1800" strike="noStrike">
                <a:solidFill>
                  <a:srgbClr val="F10D0C"/>
                </a:solidFill>
                <a:latin typeface="Arial"/>
                <a:ea typeface="Arial"/>
                <a:cs typeface="Arial"/>
                <a:sym typeface="Arial"/>
              </a:rPr>
              <a:t>This only gets more crucial in a pediatric environment!</a:t>
            </a:r>
            <a:endParaRPr b="0" sz="1800" strike="noStrike">
              <a:latin typeface="Arial"/>
              <a:ea typeface="Arial"/>
              <a:cs typeface="Arial"/>
              <a:sym typeface="Arial"/>
            </a:endParaRPr>
          </a:p>
        </p:txBody>
      </p:sp>
      <p:pic>
        <p:nvPicPr>
          <p:cNvPr id="123" name="Google Shape;123;p18"/>
          <p:cNvPicPr preferRelativeResize="0"/>
          <p:nvPr/>
        </p:nvPicPr>
        <p:blipFill>
          <a:blip r:embed="rId3">
            <a:alphaModFix/>
          </a:blip>
          <a:stretch>
            <a:fillRect/>
          </a:stretch>
        </p:blipFill>
        <p:spPr>
          <a:xfrm>
            <a:off x="8185700" y="451675"/>
            <a:ext cx="988325" cy="988325"/>
          </a:xfrm>
          <a:prstGeom prst="rect">
            <a:avLst/>
          </a:prstGeom>
          <a:noFill/>
          <a:ln>
            <a:noFill/>
          </a:ln>
        </p:spPr>
      </p:pic>
      <p:graphicFrame>
        <p:nvGraphicFramePr>
          <p:cNvPr id="124" name="Google Shape;124;p18"/>
          <p:cNvGraphicFramePr/>
          <p:nvPr/>
        </p:nvGraphicFramePr>
        <p:xfrm>
          <a:off x="1027080" y="2199960"/>
          <a:ext cx="3000000" cy="3000000"/>
        </p:xfrm>
        <a:graphic>
          <a:graphicData uri="http://schemas.openxmlformats.org/drawingml/2006/table">
            <a:tbl>
              <a:tblPr>
                <a:noFill/>
                <a:tableStyleId>{FBF6C270-3839-495F-BF6B-5D2B0D70D4C5}</a:tableStyleId>
              </a:tblPr>
              <a:tblGrid>
                <a:gridCol w="1858675"/>
                <a:gridCol w="2116800"/>
                <a:gridCol w="4326850"/>
              </a:tblGrid>
              <a:tr h="346325">
                <a:tc>
                  <a:txBody>
                    <a:bodyPr/>
                    <a:lstStyle/>
                    <a:p>
                      <a:pPr indent="0" lvl="0" marL="0" marR="0" rtl="0" algn="l">
                        <a:spcBef>
                          <a:spcPts val="0"/>
                        </a:spcBef>
                        <a:spcAft>
                          <a:spcPts val="0"/>
                        </a:spcAft>
                        <a:buNone/>
                      </a:pPr>
                      <a:r>
                        <a:rPr b="1" lang="en-US" sz="1200" u="none" cap="none" strike="noStrike">
                          <a:latin typeface="Arial"/>
                          <a:ea typeface="Arial"/>
                          <a:cs typeface="Arial"/>
                          <a:sym typeface="Arial"/>
                        </a:rPr>
                        <a:t>Clinical environment</a:t>
                      </a:r>
                      <a:endParaRPr b="0" sz="1200" strike="noStrike">
                        <a:latin typeface="Arial"/>
                        <a:ea typeface="Arial"/>
                        <a:cs typeface="Arial"/>
                        <a:sym typeface="Arial"/>
                      </a:endParaRPr>
                    </a:p>
                  </a:txBody>
                  <a:tcPr marT="45725" marB="45725" marR="36000" marL="36000">
                    <a:lnL cap="flat" cmpd="sng" w="10800">
                      <a:solidFill>
                        <a:srgbClr val="468A1A"/>
                      </a:solidFill>
                      <a:prstDash val="solid"/>
                      <a:round/>
                      <a:headEnd len="sm" w="sm" type="none"/>
                      <a:tailEnd len="sm" w="sm" type="none"/>
                    </a:lnL>
                    <a:lnR cap="flat" cmpd="sng" w="10800">
                      <a:solidFill>
                        <a:srgbClr val="468A1A"/>
                      </a:solidFill>
                      <a:prstDash val="solid"/>
                      <a:round/>
                      <a:headEnd len="sm" w="sm" type="none"/>
                      <a:tailEnd len="sm" w="sm" type="none"/>
                    </a:lnR>
                    <a:lnT cap="flat" cmpd="sng" w="10800">
                      <a:solidFill>
                        <a:srgbClr val="468A1A"/>
                      </a:solidFill>
                      <a:prstDash val="solid"/>
                      <a:round/>
                      <a:headEnd len="sm" w="sm" type="none"/>
                      <a:tailEnd len="sm" w="sm" type="none"/>
                    </a:lnT>
                    <a:lnB cap="flat" cmpd="sng" w="10800">
                      <a:solidFill>
                        <a:srgbClr val="468A1A"/>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Patients clinical data</a:t>
                      </a:r>
                      <a:endParaRPr b="0" sz="1200" strike="noStrike">
                        <a:latin typeface="Arial"/>
                        <a:ea typeface="Arial"/>
                        <a:cs typeface="Arial"/>
                        <a:sym typeface="Arial"/>
                      </a:endParaRPr>
                    </a:p>
                  </a:txBody>
                  <a:tcPr marT="45725" marB="45725" marR="36000" marL="36000">
                    <a:lnL cap="flat" cmpd="sng" w="10800">
                      <a:solidFill>
                        <a:srgbClr val="468A1A"/>
                      </a:solidFill>
                      <a:prstDash val="solid"/>
                      <a:round/>
                      <a:headEnd len="sm" w="sm" type="none"/>
                      <a:tailEnd len="sm" w="sm" type="none"/>
                    </a:lnL>
                    <a:lnR cap="flat" cmpd="sng" w="10800">
                      <a:solidFill>
                        <a:srgbClr val="468A1A"/>
                      </a:solidFill>
                      <a:prstDash val="solid"/>
                      <a:round/>
                      <a:headEnd len="sm" w="sm" type="none"/>
                      <a:tailEnd len="sm" w="sm" type="none"/>
                    </a:lnR>
                    <a:lnT cap="flat" cmpd="sng" w="10800">
                      <a:solidFill>
                        <a:srgbClr val="468A1A"/>
                      </a:solidFill>
                      <a:prstDash val="solid"/>
                      <a:round/>
                      <a:headEnd len="sm" w="sm" type="none"/>
                      <a:tailEnd len="sm" w="sm" type="none"/>
                    </a:lnT>
                    <a:lnB cap="flat" cmpd="sng" w="10800">
                      <a:solidFill>
                        <a:srgbClr val="468A1A"/>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Anagraphics</a:t>
                      </a:r>
                      <a:r>
                        <a:rPr b="0" lang="en-US" sz="1200" strike="noStrike">
                          <a:latin typeface="Arial"/>
                          <a:ea typeface="Arial"/>
                          <a:cs typeface="Arial"/>
                          <a:sym typeface="Arial"/>
                        </a:rPr>
                        <a:t>, diagnosis, comorbidities, therapy, etc</a:t>
                      </a:r>
                      <a:endParaRPr b="0" sz="1200" strike="noStrike">
                        <a:latin typeface="Arial"/>
                        <a:ea typeface="Arial"/>
                        <a:cs typeface="Arial"/>
                        <a:sym typeface="Arial"/>
                      </a:endParaRPr>
                    </a:p>
                  </a:txBody>
                  <a:tcPr marT="45725" marB="45725" marR="36000" marL="36000">
                    <a:lnL cap="flat" cmpd="sng" w="10800">
                      <a:solidFill>
                        <a:srgbClr val="468A1A"/>
                      </a:solidFill>
                      <a:prstDash val="solid"/>
                      <a:round/>
                      <a:headEnd len="sm" w="sm" type="none"/>
                      <a:tailEnd len="sm" w="sm" type="none"/>
                    </a:lnL>
                    <a:lnR cap="flat" cmpd="sng" w="10800">
                      <a:solidFill>
                        <a:srgbClr val="468A1A"/>
                      </a:solidFill>
                      <a:prstDash val="solid"/>
                      <a:round/>
                      <a:headEnd len="sm" w="sm" type="none"/>
                      <a:tailEnd len="sm" w="sm" type="none"/>
                    </a:lnR>
                    <a:lnT cap="flat" cmpd="sng" w="10800">
                      <a:solidFill>
                        <a:srgbClr val="468A1A"/>
                      </a:solidFill>
                      <a:prstDash val="solid"/>
                      <a:round/>
                      <a:headEnd len="sm" w="sm" type="none"/>
                      <a:tailEnd len="sm" w="sm" type="none"/>
                    </a:lnT>
                    <a:lnB cap="flat" cmpd="sng" w="10800">
                      <a:solidFill>
                        <a:srgbClr val="468A1A"/>
                      </a:solidFill>
                      <a:prstDash val="solid"/>
                      <a:round/>
                      <a:headEnd len="sm" w="sm" type="none"/>
                      <a:tailEnd len="sm" w="sm" type="none"/>
                    </a:lnB>
                  </a:tcPr>
                </a:tc>
              </a:tr>
              <a:tr h="346325">
                <a:tc>
                  <a:txBody>
                    <a:bodyPr/>
                    <a:lstStyle/>
                    <a:p>
                      <a:pPr indent="0" lvl="0" marL="0" marR="0" rtl="0" algn="l">
                        <a:spcBef>
                          <a:spcPts val="0"/>
                        </a:spcBef>
                        <a:spcAft>
                          <a:spcPts val="0"/>
                        </a:spcAft>
                        <a:buNone/>
                      </a:pPr>
                      <a:r>
                        <a:rPr b="1" lang="en-US" sz="1200" strike="noStrike">
                          <a:latin typeface="Arial"/>
                          <a:ea typeface="Arial"/>
                          <a:cs typeface="Arial"/>
                          <a:sym typeface="Arial"/>
                        </a:rPr>
                        <a:t>Laboratory environment</a:t>
                      </a:r>
                      <a:endParaRPr b="0" sz="1200" strike="noStrike">
                        <a:latin typeface="Arial"/>
                        <a:ea typeface="Arial"/>
                        <a:cs typeface="Arial"/>
                        <a:sym typeface="Arial"/>
                      </a:endParaRPr>
                    </a:p>
                  </a:txBody>
                  <a:tcPr marT="45725" marB="45725" marR="36000" marL="36000">
                    <a:lnL cap="flat" cmpd="sng" w="10800">
                      <a:solidFill>
                        <a:srgbClr val="468A1A"/>
                      </a:solidFill>
                      <a:prstDash val="solid"/>
                      <a:round/>
                      <a:headEnd len="sm" w="sm" type="none"/>
                      <a:tailEnd len="sm" w="sm" type="none"/>
                    </a:lnL>
                    <a:lnR cap="flat" cmpd="sng" w="10800">
                      <a:solidFill>
                        <a:srgbClr val="468A1A"/>
                      </a:solidFill>
                      <a:prstDash val="solid"/>
                      <a:round/>
                      <a:headEnd len="sm" w="sm" type="none"/>
                      <a:tailEnd len="sm" w="sm" type="none"/>
                    </a:lnR>
                    <a:lnT cap="flat" cmpd="sng" w="10800">
                      <a:solidFill>
                        <a:srgbClr val="468A1A"/>
                      </a:solidFill>
                      <a:prstDash val="solid"/>
                      <a:round/>
                      <a:headEnd len="sm" w="sm" type="none"/>
                      <a:tailEnd len="sm" w="sm" type="none"/>
                    </a:lnT>
                    <a:lnB cap="flat" cmpd="sng" w="10800">
                      <a:solidFill>
                        <a:srgbClr val="468A1A"/>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Experimental design </a:t>
                      </a:r>
                      <a:r>
                        <a:rPr lang="en-US" sz="1200"/>
                        <a:t>structure</a:t>
                      </a:r>
                      <a:endParaRPr b="0" sz="1200" strike="noStrike">
                        <a:latin typeface="Arial"/>
                        <a:ea typeface="Arial"/>
                        <a:cs typeface="Arial"/>
                        <a:sym typeface="Arial"/>
                      </a:endParaRPr>
                    </a:p>
                  </a:txBody>
                  <a:tcPr marT="45725" marB="45725" marR="36000" marL="36000">
                    <a:lnL cap="flat" cmpd="sng" w="10800">
                      <a:solidFill>
                        <a:srgbClr val="468A1A"/>
                      </a:solidFill>
                      <a:prstDash val="solid"/>
                      <a:round/>
                      <a:headEnd len="sm" w="sm" type="none"/>
                      <a:tailEnd len="sm" w="sm" type="none"/>
                    </a:lnL>
                    <a:lnR cap="flat" cmpd="sng" w="10800">
                      <a:solidFill>
                        <a:srgbClr val="468A1A"/>
                      </a:solidFill>
                      <a:prstDash val="solid"/>
                      <a:round/>
                      <a:headEnd len="sm" w="sm" type="none"/>
                      <a:tailEnd len="sm" w="sm" type="none"/>
                    </a:lnR>
                    <a:lnT cap="flat" cmpd="sng" w="10800">
                      <a:solidFill>
                        <a:srgbClr val="468A1A"/>
                      </a:solidFill>
                      <a:prstDash val="solid"/>
                      <a:round/>
                      <a:headEnd len="sm" w="sm" type="none"/>
                      <a:tailEnd len="sm" w="sm" type="none"/>
                    </a:lnT>
                    <a:lnB cap="flat" cmpd="sng" w="10800">
                      <a:solidFill>
                        <a:srgbClr val="468A1A"/>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Animal model/cell line, treatment, condition, replicates, </a:t>
                      </a:r>
                      <a:r>
                        <a:rPr lang="en-US" sz="1200"/>
                        <a:t>culture</a:t>
                      </a:r>
                      <a:r>
                        <a:rPr b="0" lang="en-US" sz="1200" strike="noStrike">
                          <a:latin typeface="Arial"/>
                          <a:ea typeface="Arial"/>
                          <a:cs typeface="Arial"/>
                          <a:sym typeface="Arial"/>
                        </a:rPr>
                        <a:t> condition, etc.</a:t>
                      </a:r>
                      <a:endParaRPr b="0" sz="1200" strike="noStrike">
                        <a:latin typeface="Arial"/>
                        <a:ea typeface="Arial"/>
                        <a:cs typeface="Arial"/>
                        <a:sym typeface="Arial"/>
                      </a:endParaRPr>
                    </a:p>
                  </a:txBody>
                  <a:tcPr marT="45725" marB="45725" marR="36000" marL="36000">
                    <a:lnL cap="flat" cmpd="sng" w="10800">
                      <a:solidFill>
                        <a:srgbClr val="468A1A"/>
                      </a:solidFill>
                      <a:prstDash val="solid"/>
                      <a:round/>
                      <a:headEnd len="sm" w="sm" type="none"/>
                      <a:tailEnd len="sm" w="sm" type="none"/>
                    </a:lnL>
                    <a:lnR cap="flat" cmpd="sng" w="10800">
                      <a:solidFill>
                        <a:srgbClr val="468A1A"/>
                      </a:solidFill>
                      <a:prstDash val="solid"/>
                      <a:round/>
                      <a:headEnd len="sm" w="sm" type="none"/>
                      <a:tailEnd len="sm" w="sm" type="none"/>
                    </a:lnR>
                    <a:lnT cap="flat" cmpd="sng" w="10800">
                      <a:solidFill>
                        <a:srgbClr val="468A1A"/>
                      </a:solidFill>
                      <a:prstDash val="solid"/>
                      <a:round/>
                      <a:headEnd len="sm" w="sm" type="none"/>
                      <a:tailEnd len="sm" w="sm" type="none"/>
                    </a:lnT>
                    <a:lnB cap="flat" cmpd="sng" w="10800">
                      <a:solidFill>
                        <a:srgbClr val="468A1A"/>
                      </a:solidFill>
                      <a:prstDash val="solid"/>
                      <a:round/>
                      <a:headEnd len="sm" w="sm" type="none"/>
                      <a:tailEnd len="sm" w="sm" type="none"/>
                    </a:lnB>
                  </a:tcPr>
                </a:tc>
              </a:tr>
              <a:tr h="346325">
                <a:tc>
                  <a:txBody>
                    <a:bodyPr/>
                    <a:lstStyle/>
                    <a:p>
                      <a:pPr indent="0" lvl="0" marL="0" marR="0" rtl="0" algn="l">
                        <a:spcBef>
                          <a:spcPts val="0"/>
                        </a:spcBef>
                        <a:spcAft>
                          <a:spcPts val="0"/>
                        </a:spcAft>
                        <a:buNone/>
                      </a:pPr>
                      <a:r>
                        <a:rPr b="1" lang="en-US" sz="1200" strike="noStrike">
                          <a:latin typeface="Arial"/>
                          <a:ea typeface="Arial"/>
                          <a:cs typeface="Arial"/>
                          <a:sym typeface="Arial"/>
                        </a:rPr>
                        <a:t>Environmental research</a:t>
                      </a:r>
                      <a:r>
                        <a:rPr b="0" lang="en-US" sz="1200" strike="noStrike">
                          <a:latin typeface="Arial"/>
                          <a:ea typeface="Arial"/>
                          <a:cs typeface="Arial"/>
                          <a:sym typeface="Arial"/>
                        </a:rPr>
                        <a:t> </a:t>
                      </a:r>
                      <a:endParaRPr b="0" sz="1200" strike="noStrike">
                        <a:latin typeface="Arial"/>
                        <a:ea typeface="Arial"/>
                        <a:cs typeface="Arial"/>
                        <a:sym typeface="Arial"/>
                      </a:endParaRPr>
                    </a:p>
                  </a:txBody>
                  <a:tcPr marT="45725" marB="45725" marR="36000" marL="36000">
                    <a:lnL cap="flat" cmpd="sng" w="10800">
                      <a:solidFill>
                        <a:srgbClr val="468A1A"/>
                      </a:solidFill>
                      <a:prstDash val="solid"/>
                      <a:round/>
                      <a:headEnd len="sm" w="sm" type="none"/>
                      <a:tailEnd len="sm" w="sm" type="none"/>
                    </a:lnL>
                    <a:lnR cap="flat" cmpd="sng" w="10800">
                      <a:solidFill>
                        <a:srgbClr val="468A1A"/>
                      </a:solidFill>
                      <a:prstDash val="solid"/>
                      <a:round/>
                      <a:headEnd len="sm" w="sm" type="none"/>
                      <a:tailEnd len="sm" w="sm" type="none"/>
                    </a:lnR>
                    <a:lnT cap="flat" cmpd="sng" w="10800">
                      <a:solidFill>
                        <a:srgbClr val="468A1A"/>
                      </a:solidFill>
                      <a:prstDash val="solid"/>
                      <a:round/>
                      <a:headEnd len="sm" w="sm" type="none"/>
                      <a:tailEnd len="sm" w="sm" type="none"/>
                    </a:lnT>
                    <a:lnB cap="flat" cmpd="sng" w="10800">
                      <a:solidFill>
                        <a:srgbClr val="468A1A"/>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Environmental conditions</a:t>
                      </a:r>
                      <a:endParaRPr b="0" sz="1200" strike="noStrike">
                        <a:latin typeface="Arial"/>
                        <a:ea typeface="Arial"/>
                        <a:cs typeface="Arial"/>
                        <a:sym typeface="Arial"/>
                      </a:endParaRPr>
                    </a:p>
                  </a:txBody>
                  <a:tcPr marT="45725" marB="45725" marR="36000" marL="36000">
                    <a:lnL cap="flat" cmpd="sng" w="10800">
                      <a:solidFill>
                        <a:srgbClr val="468A1A"/>
                      </a:solidFill>
                      <a:prstDash val="solid"/>
                      <a:round/>
                      <a:headEnd len="sm" w="sm" type="none"/>
                      <a:tailEnd len="sm" w="sm" type="none"/>
                    </a:lnL>
                    <a:lnR cap="flat" cmpd="sng" w="10800">
                      <a:solidFill>
                        <a:srgbClr val="468A1A"/>
                      </a:solidFill>
                      <a:prstDash val="solid"/>
                      <a:round/>
                      <a:headEnd len="sm" w="sm" type="none"/>
                      <a:tailEnd len="sm" w="sm" type="none"/>
                    </a:lnR>
                    <a:lnT cap="flat" cmpd="sng" w="10800">
                      <a:solidFill>
                        <a:srgbClr val="468A1A"/>
                      </a:solidFill>
                      <a:prstDash val="solid"/>
                      <a:round/>
                      <a:headEnd len="sm" w="sm" type="none"/>
                      <a:tailEnd len="sm" w="sm" type="none"/>
                    </a:lnT>
                    <a:lnB cap="flat" cmpd="sng" w="10800">
                      <a:solidFill>
                        <a:srgbClr val="468A1A"/>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Location, temperature, sample type, sample pH, etc.</a:t>
                      </a:r>
                      <a:endParaRPr b="0" sz="1200" strike="noStrike">
                        <a:latin typeface="Arial"/>
                        <a:ea typeface="Arial"/>
                        <a:cs typeface="Arial"/>
                        <a:sym typeface="Arial"/>
                      </a:endParaRPr>
                    </a:p>
                  </a:txBody>
                  <a:tcPr marT="45725" marB="45725" marR="36000" marL="36000">
                    <a:lnL cap="flat" cmpd="sng" w="10800">
                      <a:solidFill>
                        <a:srgbClr val="468A1A"/>
                      </a:solidFill>
                      <a:prstDash val="solid"/>
                      <a:round/>
                      <a:headEnd len="sm" w="sm" type="none"/>
                      <a:tailEnd len="sm" w="sm" type="none"/>
                    </a:lnL>
                    <a:lnR cap="flat" cmpd="sng" w="10800">
                      <a:solidFill>
                        <a:srgbClr val="468A1A"/>
                      </a:solidFill>
                      <a:prstDash val="solid"/>
                      <a:round/>
                      <a:headEnd len="sm" w="sm" type="none"/>
                      <a:tailEnd len="sm" w="sm" type="none"/>
                    </a:lnR>
                    <a:lnT cap="flat" cmpd="sng" w="10800">
                      <a:solidFill>
                        <a:srgbClr val="468A1A"/>
                      </a:solidFill>
                      <a:prstDash val="solid"/>
                      <a:round/>
                      <a:headEnd len="sm" w="sm" type="none"/>
                      <a:tailEnd len="sm" w="sm" type="none"/>
                    </a:lnT>
                    <a:lnB cap="flat" cmpd="sng" w="10800">
                      <a:solidFill>
                        <a:srgbClr val="468A1A"/>
                      </a:solidFill>
                      <a:prstDash val="solid"/>
                      <a:round/>
                      <a:headEnd len="sm" w="sm" type="none"/>
                      <a:tailEnd len="sm" w="sm" type="none"/>
                    </a:lnB>
                  </a:tcPr>
                </a:tc>
              </a:tr>
              <a:tr h="346325">
                <a:tc>
                  <a:txBody>
                    <a:bodyPr/>
                    <a:lstStyle/>
                    <a:p>
                      <a:pPr indent="0" lvl="0" marL="0" marR="0" rtl="0" algn="l">
                        <a:spcBef>
                          <a:spcPts val="0"/>
                        </a:spcBef>
                        <a:spcAft>
                          <a:spcPts val="0"/>
                        </a:spcAft>
                        <a:buNone/>
                      </a:pPr>
                      <a:r>
                        <a:rPr b="1" lang="en-US" sz="1200" strike="noStrike">
                          <a:latin typeface="Arial"/>
                          <a:ea typeface="Arial"/>
                          <a:cs typeface="Arial"/>
                          <a:sym typeface="Arial"/>
                        </a:rPr>
                        <a:t>Drug </a:t>
                      </a:r>
                      <a:r>
                        <a:rPr b="1" lang="en-US" sz="1200"/>
                        <a:t>development</a:t>
                      </a:r>
                      <a:endParaRPr b="0" sz="1200" strike="noStrike">
                        <a:latin typeface="Arial"/>
                        <a:ea typeface="Arial"/>
                        <a:cs typeface="Arial"/>
                        <a:sym typeface="Arial"/>
                      </a:endParaRPr>
                    </a:p>
                  </a:txBody>
                  <a:tcPr marT="45725" marB="45725" marR="36000" marL="36000">
                    <a:lnL cap="flat" cmpd="sng" w="10800">
                      <a:solidFill>
                        <a:srgbClr val="468A1A"/>
                      </a:solidFill>
                      <a:prstDash val="solid"/>
                      <a:round/>
                      <a:headEnd len="sm" w="sm" type="none"/>
                      <a:tailEnd len="sm" w="sm" type="none"/>
                    </a:lnL>
                    <a:lnR cap="flat" cmpd="sng" w="10800">
                      <a:solidFill>
                        <a:srgbClr val="468A1A"/>
                      </a:solidFill>
                      <a:prstDash val="solid"/>
                      <a:round/>
                      <a:headEnd len="sm" w="sm" type="none"/>
                      <a:tailEnd len="sm" w="sm" type="none"/>
                    </a:lnR>
                    <a:lnT cap="flat" cmpd="sng" w="10800">
                      <a:solidFill>
                        <a:srgbClr val="468A1A"/>
                      </a:solidFill>
                      <a:prstDash val="solid"/>
                      <a:round/>
                      <a:headEnd len="sm" w="sm" type="none"/>
                      <a:tailEnd len="sm" w="sm" type="none"/>
                    </a:lnT>
                    <a:lnB cap="flat" cmpd="sng" w="10800">
                      <a:solidFill>
                        <a:srgbClr val="468A1A"/>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Experimental conditions</a:t>
                      </a:r>
                      <a:endParaRPr b="0" sz="1200" strike="noStrike">
                        <a:latin typeface="Arial"/>
                        <a:ea typeface="Arial"/>
                        <a:cs typeface="Arial"/>
                        <a:sym typeface="Arial"/>
                      </a:endParaRPr>
                    </a:p>
                  </a:txBody>
                  <a:tcPr marT="45725" marB="45725" marR="36000" marL="36000">
                    <a:lnL cap="flat" cmpd="sng" w="10800">
                      <a:solidFill>
                        <a:srgbClr val="468A1A"/>
                      </a:solidFill>
                      <a:prstDash val="solid"/>
                      <a:round/>
                      <a:headEnd len="sm" w="sm" type="none"/>
                      <a:tailEnd len="sm" w="sm" type="none"/>
                    </a:lnL>
                    <a:lnR cap="flat" cmpd="sng" w="10800">
                      <a:solidFill>
                        <a:srgbClr val="468A1A"/>
                      </a:solidFill>
                      <a:prstDash val="solid"/>
                      <a:round/>
                      <a:headEnd len="sm" w="sm" type="none"/>
                      <a:tailEnd len="sm" w="sm" type="none"/>
                    </a:lnR>
                    <a:lnT cap="flat" cmpd="sng" w="10800">
                      <a:solidFill>
                        <a:srgbClr val="468A1A"/>
                      </a:solidFill>
                      <a:prstDash val="solid"/>
                      <a:round/>
                      <a:headEnd len="sm" w="sm" type="none"/>
                      <a:tailEnd len="sm" w="sm" type="none"/>
                    </a:lnT>
                    <a:lnB cap="flat" cmpd="sng" w="10800">
                      <a:solidFill>
                        <a:srgbClr val="468A1A"/>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Dose, treatment duration, administration route, test subject, etc.</a:t>
                      </a:r>
                      <a:endParaRPr b="0" sz="1200" strike="noStrike">
                        <a:latin typeface="Arial"/>
                        <a:ea typeface="Arial"/>
                        <a:cs typeface="Arial"/>
                        <a:sym typeface="Arial"/>
                      </a:endParaRPr>
                    </a:p>
                  </a:txBody>
                  <a:tcPr marT="45725" marB="45725" marR="36000" marL="36000">
                    <a:lnL cap="flat" cmpd="sng" w="10800">
                      <a:solidFill>
                        <a:srgbClr val="468A1A"/>
                      </a:solidFill>
                      <a:prstDash val="solid"/>
                      <a:round/>
                      <a:headEnd len="sm" w="sm" type="none"/>
                      <a:tailEnd len="sm" w="sm" type="none"/>
                    </a:lnL>
                    <a:lnR cap="flat" cmpd="sng" w="10800">
                      <a:solidFill>
                        <a:srgbClr val="468A1A"/>
                      </a:solidFill>
                      <a:prstDash val="solid"/>
                      <a:round/>
                      <a:headEnd len="sm" w="sm" type="none"/>
                      <a:tailEnd len="sm" w="sm" type="none"/>
                    </a:lnR>
                    <a:lnT cap="flat" cmpd="sng" w="10800">
                      <a:solidFill>
                        <a:srgbClr val="468A1A"/>
                      </a:solidFill>
                      <a:prstDash val="solid"/>
                      <a:round/>
                      <a:headEnd len="sm" w="sm" type="none"/>
                      <a:tailEnd len="sm" w="sm" type="none"/>
                    </a:lnT>
                    <a:lnB cap="flat" cmpd="sng" w="10800">
                      <a:solidFill>
                        <a:srgbClr val="468A1A"/>
                      </a:solidFill>
                      <a:prstDash val="solid"/>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cxnSp>
        <p:nvCxnSpPr>
          <p:cNvPr id="129" name="Google Shape;129;p19"/>
          <p:cNvCxnSpPr/>
          <p:nvPr/>
        </p:nvCxnSpPr>
        <p:spPr>
          <a:xfrm>
            <a:off x="180000" y="540000"/>
            <a:ext cx="7920000" cy="0"/>
          </a:xfrm>
          <a:prstGeom prst="straightConnector1">
            <a:avLst/>
          </a:prstGeom>
          <a:noFill/>
          <a:ln cap="flat" cmpd="sng" w="36000">
            <a:solidFill>
              <a:srgbClr val="468A1A"/>
            </a:solidFill>
            <a:prstDash val="solid"/>
            <a:round/>
            <a:headEnd len="sm" w="sm" type="none"/>
            <a:tailEnd len="sm" w="sm" type="none"/>
          </a:ln>
        </p:spPr>
      </p:cxnSp>
      <p:sp>
        <p:nvSpPr>
          <p:cNvPr id="130" name="Google Shape;130;p19"/>
          <p:cNvSpPr txBox="1"/>
          <p:nvPr/>
        </p:nvSpPr>
        <p:spPr>
          <a:xfrm>
            <a:off x="192960" y="72000"/>
            <a:ext cx="4487040" cy="40284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2200" strike="noStrike">
                <a:solidFill>
                  <a:srgbClr val="468A1A"/>
                </a:solidFill>
                <a:latin typeface="Arial"/>
                <a:ea typeface="Arial"/>
                <a:cs typeface="Arial"/>
                <a:sym typeface="Arial"/>
              </a:rPr>
              <a:t>Part 1 — Why Metadata Matters</a:t>
            </a:r>
            <a:endParaRPr b="0" sz="2200" strike="noStrike">
              <a:latin typeface="Arial"/>
              <a:ea typeface="Arial"/>
              <a:cs typeface="Arial"/>
              <a:sym typeface="Arial"/>
            </a:endParaRPr>
          </a:p>
        </p:txBody>
      </p:sp>
      <p:pic>
        <p:nvPicPr>
          <p:cNvPr id="131" name="Google Shape;131;p19"/>
          <p:cNvPicPr preferRelativeResize="0"/>
          <p:nvPr/>
        </p:nvPicPr>
        <p:blipFill rotWithShape="1">
          <a:blip r:embed="rId3">
            <a:alphaModFix/>
          </a:blip>
          <a:srcRect b="12466" l="19259" r="19583" t="11799"/>
          <a:stretch/>
        </p:blipFill>
        <p:spPr>
          <a:xfrm>
            <a:off x="3525637" y="959663"/>
            <a:ext cx="3029350" cy="37512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cxnSp>
        <p:nvCxnSpPr>
          <p:cNvPr id="136" name="Google Shape;136;p20"/>
          <p:cNvCxnSpPr/>
          <p:nvPr/>
        </p:nvCxnSpPr>
        <p:spPr>
          <a:xfrm>
            <a:off x="180000" y="540000"/>
            <a:ext cx="7920000" cy="0"/>
          </a:xfrm>
          <a:prstGeom prst="straightConnector1">
            <a:avLst/>
          </a:prstGeom>
          <a:noFill/>
          <a:ln cap="flat" cmpd="sng" w="36000">
            <a:solidFill>
              <a:srgbClr val="468A1A"/>
            </a:solidFill>
            <a:prstDash val="solid"/>
            <a:round/>
            <a:headEnd len="sm" w="sm" type="none"/>
            <a:tailEnd len="sm" w="sm" type="none"/>
          </a:ln>
        </p:spPr>
      </p:cxnSp>
      <p:sp>
        <p:nvSpPr>
          <p:cNvPr id="137" name="Google Shape;137;p20"/>
          <p:cNvSpPr txBox="1"/>
          <p:nvPr/>
        </p:nvSpPr>
        <p:spPr>
          <a:xfrm>
            <a:off x="192960" y="72000"/>
            <a:ext cx="4487040" cy="40284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2200" strike="noStrike">
                <a:solidFill>
                  <a:srgbClr val="468A1A"/>
                </a:solidFill>
                <a:latin typeface="Arial"/>
                <a:ea typeface="Arial"/>
                <a:cs typeface="Arial"/>
                <a:sym typeface="Arial"/>
              </a:rPr>
              <a:t>Part 1 — Why Metadata Matters</a:t>
            </a:r>
            <a:endParaRPr b="0" sz="2200" strike="noStrike">
              <a:latin typeface="Arial"/>
              <a:ea typeface="Arial"/>
              <a:cs typeface="Arial"/>
              <a:sym typeface="Arial"/>
            </a:endParaRPr>
          </a:p>
        </p:txBody>
      </p:sp>
      <p:sp>
        <p:nvSpPr>
          <p:cNvPr id="138" name="Google Shape;138;p20"/>
          <p:cNvSpPr txBox="1"/>
          <p:nvPr/>
        </p:nvSpPr>
        <p:spPr>
          <a:xfrm>
            <a:off x="4140000" y="900000"/>
            <a:ext cx="6120000" cy="1882080"/>
          </a:xfrm>
          <a:prstGeom prst="rect">
            <a:avLst/>
          </a:prstGeom>
          <a:noFill/>
          <a:ln>
            <a:noFill/>
          </a:ln>
        </p:spPr>
        <p:txBody>
          <a:bodyPr anchorCtr="0" anchor="t" bIns="45000" lIns="90000" spcFirstLastPara="1" rIns="90000" wrap="square" tIns="45000">
            <a:noAutofit/>
          </a:bodyPr>
          <a:lstStyle/>
          <a:p>
            <a:pPr indent="-216000" lvl="0" marL="216000" marR="0" rtl="0" algn="l">
              <a:lnSpc>
                <a:spcPct val="150000"/>
              </a:lnSpc>
              <a:spcBef>
                <a:spcPts val="0"/>
              </a:spcBef>
              <a:spcAft>
                <a:spcPts val="0"/>
              </a:spcAft>
              <a:buClr>
                <a:srgbClr val="000000"/>
              </a:buClr>
              <a:buSzPts val="540"/>
              <a:buFont typeface="Noto Sans Symbols"/>
              <a:buChar char="●"/>
            </a:pPr>
            <a:r>
              <a:rPr b="0" lang="en-US" sz="1200" strike="noStrike">
                <a:latin typeface="Arial"/>
                <a:ea typeface="Arial"/>
                <a:cs typeface="Arial"/>
                <a:sym typeface="Arial"/>
              </a:rPr>
              <a:t>where, when, how, and under which conditions the data were generated </a:t>
            </a:r>
            <a:endParaRPr b="0" sz="1200" strike="noStrike">
              <a:latin typeface="Arial"/>
              <a:ea typeface="Arial"/>
              <a:cs typeface="Arial"/>
              <a:sym typeface="Arial"/>
            </a:endParaRPr>
          </a:p>
          <a:p>
            <a:pPr indent="-216000" lvl="0" marL="216000" marR="0" rtl="0" algn="l">
              <a:lnSpc>
                <a:spcPct val="150000"/>
              </a:lnSpc>
              <a:spcBef>
                <a:spcPts val="0"/>
              </a:spcBef>
              <a:spcAft>
                <a:spcPts val="0"/>
              </a:spcAft>
              <a:buClr>
                <a:srgbClr val="000000"/>
              </a:buClr>
              <a:buSzPts val="540"/>
              <a:buFont typeface="Noto Sans Symbols"/>
              <a:buChar char="●"/>
            </a:pPr>
            <a:r>
              <a:rPr b="0" lang="en-US" sz="1200" strike="noStrike">
                <a:latin typeface="Arial"/>
                <a:ea typeface="Arial"/>
                <a:cs typeface="Arial"/>
                <a:sym typeface="Arial"/>
              </a:rPr>
              <a:t>Unique identifiers are key in biobanking and sample storage</a:t>
            </a:r>
            <a:endParaRPr b="0" sz="1200" strike="noStrike">
              <a:latin typeface="Arial"/>
              <a:ea typeface="Arial"/>
              <a:cs typeface="Arial"/>
              <a:sym typeface="Arial"/>
            </a:endParaRPr>
          </a:p>
          <a:p>
            <a:pPr indent="-216000" lvl="0" marL="216000" marR="0" rtl="0" algn="l">
              <a:lnSpc>
                <a:spcPct val="150000"/>
              </a:lnSpc>
              <a:spcBef>
                <a:spcPts val="0"/>
              </a:spcBef>
              <a:spcAft>
                <a:spcPts val="0"/>
              </a:spcAft>
              <a:buClr>
                <a:srgbClr val="000000"/>
              </a:buClr>
              <a:buSzPts val="540"/>
              <a:buFont typeface="Noto Sans Symbols"/>
              <a:buChar char="●"/>
            </a:pPr>
            <a:r>
              <a:rPr b="0" lang="en-US" sz="1200" strike="noStrike">
                <a:latin typeface="Arial"/>
                <a:ea typeface="Arial"/>
                <a:cs typeface="Arial"/>
                <a:sym typeface="Arial"/>
              </a:rPr>
              <a:t>Same numbers, different meaning upon different age, cell type, tissue, etc.</a:t>
            </a:r>
            <a:endParaRPr b="0" sz="1200" strike="noStrike">
              <a:latin typeface="Arial"/>
              <a:ea typeface="Arial"/>
              <a:cs typeface="Arial"/>
              <a:sym typeface="Arial"/>
            </a:endParaRPr>
          </a:p>
          <a:p>
            <a:pPr indent="-216000" lvl="0" marL="216000" marR="0" rtl="0" algn="l">
              <a:lnSpc>
                <a:spcPct val="150000"/>
              </a:lnSpc>
              <a:spcBef>
                <a:spcPts val="0"/>
              </a:spcBef>
              <a:spcAft>
                <a:spcPts val="0"/>
              </a:spcAft>
              <a:buClr>
                <a:srgbClr val="000000"/>
              </a:buClr>
              <a:buSzPts val="540"/>
              <a:buFont typeface="Noto Sans Symbols"/>
              <a:buChar char="●"/>
            </a:pPr>
            <a:r>
              <a:rPr b="0" lang="en-US" sz="1200" strike="noStrike">
                <a:latin typeface="Arial"/>
                <a:ea typeface="Arial"/>
                <a:cs typeface="Arial"/>
                <a:sym typeface="Arial"/>
              </a:rPr>
              <a:t>Less data cleaning required, easier computational analysis </a:t>
            </a:r>
            <a:endParaRPr b="0" sz="1200" strike="noStrike">
              <a:latin typeface="Arial"/>
              <a:ea typeface="Arial"/>
              <a:cs typeface="Arial"/>
              <a:sym typeface="Arial"/>
            </a:endParaRPr>
          </a:p>
          <a:p>
            <a:pPr indent="-216000" lvl="0" marL="216000" marR="0" rtl="0" algn="l">
              <a:lnSpc>
                <a:spcPct val="150000"/>
              </a:lnSpc>
              <a:spcBef>
                <a:spcPts val="0"/>
              </a:spcBef>
              <a:spcAft>
                <a:spcPts val="0"/>
              </a:spcAft>
              <a:buClr>
                <a:srgbClr val="000000"/>
              </a:buClr>
              <a:buSzPts val="540"/>
              <a:buFont typeface="Noto Sans Symbols"/>
              <a:buChar char="●"/>
            </a:pPr>
            <a:r>
              <a:rPr b="0" lang="en-US" sz="1200" strike="noStrike">
                <a:latin typeface="Arial"/>
                <a:ea typeface="Arial"/>
                <a:cs typeface="Arial"/>
                <a:sym typeface="Arial"/>
              </a:rPr>
              <a:t>Same protocol applicable</a:t>
            </a:r>
            <a:endParaRPr b="0" sz="1200" strike="noStrike">
              <a:latin typeface="Arial"/>
              <a:ea typeface="Arial"/>
              <a:cs typeface="Arial"/>
              <a:sym typeface="Arial"/>
            </a:endParaRPr>
          </a:p>
          <a:p>
            <a:pPr indent="-216000" lvl="0" marL="216000" marR="0" rtl="0" algn="l">
              <a:lnSpc>
                <a:spcPct val="150000"/>
              </a:lnSpc>
              <a:spcBef>
                <a:spcPts val="0"/>
              </a:spcBef>
              <a:spcAft>
                <a:spcPts val="0"/>
              </a:spcAft>
              <a:buClr>
                <a:srgbClr val="000000"/>
              </a:buClr>
              <a:buSzPts val="540"/>
              <a:buFont typeface="Noto Sans Symbols"/>
              <a:buChar char="●"/>
            </a:pPr>
            <a:r>
              <a:rPr b="0" lang="en-US" sz="1200" strike="noStrike">
                <a:latin typeface="Arial"/>
                <a:ea typeface="Arial"/>
                <a:cs typeface="Arial"/>
                <a:sym typeface="Arial"/>
              </a:rPr>
              <a:t>Multicentric studies are key for rare diseases where samples are few and far apart</a:t>
            </a:r>
            <a:endParaRPr b="0" sz="1200" strike="noStrike">
              <a:latin typeface="Arial"/>
              <a:ea typeface="Arial"/>
              <a:cs typeface="Arial"/>
              <a:sym typeface="Arial"/>
            </a:endParaRPr>
          </a:p>
        </p:txBody>
      </p:sp>
      <p:sp>
        <p:nvSpPr>
          <p:cNvPr id="139" name="Google Shape;139;p20"/>
          <p:cNvSpPr/>
          <p:nvPr/>
        </p:nvSpPr>
        <p:spPr>
          <a:xfrm>
            <a:off x="3420000" y="1476000"/>
            <a:ext cx="540000" cy="540000"/>
          </a:xfrm>
          <a:custGeom>
            <a:rect b="b" l="l" r="r" t="t"/>
            <a:pathLst>
              <a:path extrusionOk="0" h="1502" w="1502">
                <a:moveTo>
                  <a:pt x="0" y="0"/>
                </a:moveTo>
                <a:lnTo>
                  <a:pt x="875" y="0"/>
                </a:lnTo>
                <a:lnTo>
                  <a:pt x="1501" y="750"/>
                </a:lnTo>
                <a:lnTo>
                  <a:pt x="875" y="1501"/>
                </a:lnTo>
                <a:lnTo>
                  <a:pt x="0" y="1501"/>
                </a:lnTo>
                <a:lnTo>
                  <a:pt x="625" y="750"/>
                </a:lnTo>
                <a:lnTo>
                  <a:pt x="0" y="0"/>
                </a:lnTo>
              </a:path>
            </a:pathLst>
          </a:custGeom>
          <a:solidFill>
            <a:srgbClr val="C9211E"/>
          </a:solidFill>
          <a:ln cap="flat" cmpd="sng" w="9525">
            <a:solidFill>
              <a:srgbClr val="C9211E"/>
            </a:solidFill>
            <a:prstDash val="solid"/>
            <a:round/>
            <a:headEnd len="sm" w="sm" type="none"/>
            <a:tailEnd len="sm" w="sm" type="none"/>
          </a:ln>
        </p:spPr>
      </p:sp>
      <p:sp>
        <p:nvSpPr>
          <p:cNvPr id="140" name="Google Shape;140;p20"/>
          <p:cNvSpPr txBox="1"/>
          <p:nvPr/>
        </p:nvSpPr>
        <p:spPr>
          <a:xfrm>
            <a:off x="110157" y="900000"/>
            <a:ext cx="3420000" cy="1800000"/>
          </a:xfrm>
          <a:prstGeom prst="rect">
            <a:avLst/>
          </a:prstGeom>
          <a:noFill/>
          <a:ln>
            <a:noFill/>
          </a:ln>
        </p:spPr>
        <p:txBody>
          <a:bodyPr anchorCtr="0" anchor="t" bIns="45000" lIns="90000" spcFirstLastPara="1" rIns="90000" wrap="square" tIns="45000">
            <a:noAutofit/>
          </a:bodyPr>
          <a:lstStyle/>
          <a:p>
            <a:pPr indent="-216000" lvl="0" marL="216000" marR="0" rtl="0" algn="l">
              <a:lnSpc>
                <a:spcPct val="150000"/>
              </a:lnSpc>
              <a:spcBef>
                <a:spcPts val="0"/>
              </a:spcBef>
              <a:spcAft>
                <a:spcPts val="0"/>
              </a:spcAft>
              <a:buClr>
                <a:srgbClr val="000000"/>
              </a:buClr>
              <a:buSzPts val="540"/>
              <a:buFont typeface="Noto Sans Symbols"/>
              <a:buChar char="●"/>
            </a:pPr>
            <a:r>
              <a:rPr lang="en-US" sz="1200"/>
              <a:t>PROVIDE CONTEXT</a:t>
            </a:r>
            <a:endParaRPr b="0" sz="1200" strike="noStrike">
              <a:latin typeface="Arial"/>
              <a:ea typeface="Arial"/>
              <a:cs typeface="Arial"/>
              <a:sym typeface="Arial"/>
            </a:endParaRPr>
          </a:p>
          <a:p>
            <a:pPr indent="-216000" lvl="0" marL="216000" marR="0" rtl="0" algn="l">
              <a:lnSpc>
                <a:spcPct val="150000"/>
              </a:lnSpc>
              <a:spcBef>
                <a:spcPts val="0"/>
              </a:spcBef>
              <a:spcAft>
                <a:spcPts val="0"/>
              </a:spcAft>
              <a:buClr>
                <a:srgbClr val="000000"/>
              </a:buClr>
              <a:buSzPts val="540"/>
              <a:buFont typeface="Noto Sans Symbols"/>
              <a:buChar char="●"/>
            </a:pPr>
            <a:r>
              <a:rPr lang="en-US" sz="1200"/>
              <a:t>IDENTIFY THE SAMPLE </a:t>
            </a:r>
            <a:endParaRPr b="0" sz="1200" strike="noStrike">
              <a:latin typeface="Arial"/>
              <a:ea typeface="Arial"/>
              <a:cs typeface="Arial"/>
              <a:sym typeface="Arial"/>
            </a:endParaRPr>
          </a:p>
          <a:p>
            <a:pPr indent="-216000" lvl="0" marL="216000" marR="0" rtl="0" algn="l">
              <a:lnSpc>
                <a:spcPct val="150000"/>
              </a:lnSpc>
              <a:spcBef>
                <a:spcPts val="0"/>
              </a:spcBef>
              <a:spcAft>
                <a:spcPts val="0"/>
              </a:spcAft>
              <a:buClr>
                <a:srgbClr val="000000"/>
              </a:buClr>
              <a:buSzPts val="540"/>
              <a:buFont typeface="Noto Sans Symbols"/>
              <a:buChar char="●"/>
            </a:pPr>
            <a:r>
              <a:rPr lang="en-US" sz="1200"/>
              <a:t>ENSURES CORRECT INTERPRETATION</a:t>
            </a:r>
            <a:endParaRPr b="0" sz="1200" strike="noStrike">
              <a:latin typeface="Arial"/>
              <a:ea typeface="Arial"/>
              <a:cs typeface="Arial"/>
              <a:sym typeface="Arial"/>
            </a:endParaRPr>
          </a:p>
          <a:p>
            <a:pPr indent="-216000" lvl="0" marL="216000" marR="0" rtl="0" algn="l">
              <a:lnSpc>
                <a:spcPct val="150000"/>
              </a:lnSpc>
              <a:spcBef>
                <a:spcPts val="0"/>
              </a:spcBef>
              <a:spcAft>
                <a:spcPts val="0"/>
              </a:spcAft>
              <a:buClr>
                <a:srgbClr val="000000"/>
              </a:buClr>
              <a:buSzPts val="540"/>
              <a:buFont typeface="Noto Sans Symbols"/>
              <a:buChar char="●"/>
            </a:pPr>
            <a:r>
              <a:rPr lang="en-US" sz="1200"/>
              <a:t>ENSURES DATA CONSISTENCY</a:t>
            </a:r>
            <a:endParaRPr b="0" sz="1200" strike="noStrike">
              <a:latin typeface="Arial"/>
              <a:ea typeface="Arial"/>
              <a:cs typeface="Arial"/>
              <a:sym typeface="Arial"/>
            </a:endParaRPr>
          </a:p>
          <a:p>
            <a:pPr indent="-216000" lvl="0" marL="216000" marR="0" rtl="0" algn="l">
              <a:lnSpc>
                <a:spcPct val="150000"/>
              </a:lnSpc>
              <a:spcBef>
                <a:spcPts val="0"/>
              </a:spcBef>
              <a:spcAft>
                <a:spcPts val="0"/>
              </a:spcAft>
              <a:buClr>
                <a:srgbClr val="000000"/>
              </a:buClr>
              <a:buSzPts val="540"/>
              <a:buFont typeface="Noto Sans Symbols"/>
              <a:buChar char="●"/>
            </a:pPr>
            <a:r>
              <a:rPr lang="en-US" sz="1200"/>
              <a:t>SUPPORTS REPRODUCIBILITY</a:t>
            </a:r>
            <a:endParaRPr b="0" sz="1200" strike="noStrike">
              <a:latin typeface="Arial"/>
              <a:ea typeface="Arial"/>
              <a:cs typeface="Arial"/>
              <a:sym typeface="Arial"/>
            </a:endParaRPr>
          </a:p>
          <a:p>
            <a:pPr indent="-216000" lvl="0" marL="216000" marR="0" rtl="0" algn="l">
              <a:lnSpc>
                <a:spcPct val="150000"/>
              </a:lnSpc>
              <a:spcBef>
                <a:spcPts val="0"/>
              </a:spcBef>
              <a:spcAft>
                <a:spcPts val="0"/>
              </a:spcAft>
              <a:buClr>
                <a:srgbClr val="000000"/>
              </a:buClr>
              <a:buSzPts val="540"/>
              <a:buFont typeface="Noto Sans Symbols"/>
              <a:buChar char="●"/>
            </a:pPr>
            <a:r>
              <a:rPr lang="en-US" sz="1200"/>
              <a:t>ENABLES DATA INTEGRATION</a:t>
            </a:r>
            <a:endParaRPr b="0" sz="1200" strike="noStrike">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cxnSp>
        <p:nvCxnSpPr>
          <p:cNvPr id="145" name="Google Shape;145;p21"/>
          <p:cNvCxnSpPr/>
          <p:nvPr/>
        </p:nvCxnSpPr>
        <p:spPr>
          <a:xfrm>
            <a:off x="180000" y="540000"/>
            <a:ext cx="7920000" cy="0"/>
          </a:xfrm>
          <a:prstGeom prst="straightConnector1">
            <a:avLst/>
          </a:prstGeom>
          <a:noFill/>
          <a:ln cap="flat" cmpd="sng" w="36000">
            <a:solidFill>
              <a:srgbClr val="468A1A"/>
            </a:solidFill>
            <a:prstDash val="solid"/>
            <a:round/>
            <a:headEnd len="sm" w="sm" type="none"/>
            <a:tailEnd len="sm" w="sm" type="none"/>
          </a:ln>
        </p:spPr>
      </p:cxnSp>
      <p:sp>
        <p:nvSpPr>
          <p:cNvPr id="146" name="Google Shape;146;p21"/>
          <p:cNvSpPr txBox="1"/>
          <p:nvPr/>
        </p:nvSpPr>
        <p:spPr>
          <a:xfrm>
            <a:off x="192960" y="72000"/>
            <a:ext cx="4487040" cy="40284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2200" strike="noStrike">
                <a:solidFill>
                  <a:srgbClr val="468A1A"/>
                </a:solidFill>
                <a:latin typeface="Arial"/>
                <a:ea typeface="Arial"/>
                <a:cs typeface="Arial"/>
                <a:sym typeface="Arial"/>
              </a:rPr>
              <a:t>Part 1 — Why Metadata Matters</a:t>
            </a:r>
            <a:endParaRPr b="0" sz="2200" strike="noStrike">
              <a:latin typeface="Arial"/>
              <a:ea typeface="Arial"/>
              <a:cs typeface="Arial"/>
              <a:sym typeface="Arial"/>
            </a:endParaRPr>
          </a:p>
        </p:txBody>
      </p:sp>
      <p:sp>
        <p:nvSpPr>
          <p:cNvPr id="147" name="Google Shape;147;p21"/>
          <p:cNvSpPr/>
          <p:nvPr/>
        </p:nvSpPr>
        <p:spPr>
          <a:xfrm>
            <a:off x="3420000" y="1476000"/>
            <a:ext cx="540000" cy="540000"/>
          </a:xfrm>
          <a:custGeom>
            <a:rect b="b" l="l" r="r" t="t"/>
            <a:pathLst>
              <a:path extrusionOk="0" h="1502" w="1502">
                <a:moveTo>
                  <a:pt x="0" y="0"/>
                </a:moveTo>
                <a:lnTo>
                  <a:pt x="875" y="0"/>
                </a:lnTo>
                <a:lnTo>
                  <a:pt x="1501" y="750"/>
                </a:lnTo>
                <a:lnTo>
                  <a:pt x="875" y="1501"/>
                </a:lnTo>
                <a:lnTo>
                  <a:pt x="0" y="1501"/>
                </a:lnTo>
                <a:lnTo>
                  <a:pt x="625" y="750"/>
                </a:lnTo>
                <a:lnTo>
                  <a:pt x="0" y="0"/>
                </a:lnTo>
              </a:path>
            </a:pathLst>
          </a:custGeom>
          <a:solidFill>
            <a:srgbClr val="C9211E"/>
          </a:solidFill>
          <a:ln cap="flat" cmpd="sng" w="9525">
            <a:solidFill>
              <a:srgbClr val="C9211E"/>
            </a:solidFill>
            <a:prstDash val="solid"/>
            <a:round/>
            <a:headEnd len="sm" w="sm" type="none"/>
            <a:tailEnd len="sm" w="sm" type="none"/>
          </a:ln>
        </p:spPr>
      </p:sp>
      <p:cxnSp>
        <p:nvCxnSpPr>
          <p:cNvPr id="148" name="Google Shape;148;p21"/>
          <p:cNvCxnSpPr/>
          <p:nvPr/>
        </p:nvCxnSpPr>
        <p:spPr>
          <a:xfrm>
            <a:off x="1980000" y="2844000"/>
            <a:ext cx="5400000" cy="0"/>
          </a:xfrm>
          <a:prstGeom prst="straightConnector1">
            <a:avLst/>
          </a:prstGeom>
          <a:noFill/>
          <a:ln cap="flat" cmpd="sng" w="9525">
            <a:solidFill>
              <a:srgbClr val="468A1A"/>
            </a:solidFill>
            <a:prstDash val="solid"/>
            <a:round/>
            <a:headEnd len="sm" w="sm" type="none"/>
            <a:tailEnd len="sm" w="sm" type="none"/>
          </a:ln>
        </p:spPr>
      </p:cxnSp>
      <p:sp>
        <p:nvSpPr>
          <p:cNvPr id="149" name="Google Shape;149;p21"/>
          <p:cNvSpPr txBox="1"/>
          <p:nvPr/>
        </p:nvSpPr>
        <p:spPr>
          <a:xfrm>
            <a:off x="2520000" y="3060000"/>
            <a:ext cx="4320000" cy="42732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1"/>
          <p:cNvSpPr txBox="1"/>
          <p:nvPr/>
        </p:nvSpPr>
        <p:spPr>
          <a:xfrm>
            <a:off x="1440000" y="3060000"/>
            <a:ext cx="6840000" cy="51372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1500" strike="noStrike">
                <a:latin typeface="Arial"/>
                <a:ea typeface="Arial"/>
                <a:cs typeface="Arial"/>
                <a:sym typeface="Arial"/>
              </a:rPr>
              <a:t>Metadata also need to be easy to manipulate in computational analyses.</a:t>
            </a:r>
            <a:endParaRPr b="0" sz="1500" strike="noStrike">
              <a:latin typeface="Arial"/>
              <a:ea typeface="Arial"/>
              <a:cs typeface="Arial"/>
              <a:sym typeface="Arial"/>
            </a:endParaRPr>
          </a:p>
        </p:txBody>
      </p:sp>
      <p:sp>
        <p:nvSpPr>
          <p:cNvPr id="151" name="Google Shape;151;p21"/>
          <p:cNvSpPr txBox="1"/>
          <p:nvPr/>
        </p:nvSpPr>
        <p:spPr>
          <a:xfrm>
            <a:off x="3960000" y="3673886"/>
            <a:ext cx="2160000" cy="333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n-US" sz="1200" strike="noStrike">
                <a:latin typeface="Arial"/>
                <a:ea typeface="Arial"/>
                <a:cs typeface="Arial"/>
                <a:sym typeface="Arial"/>
              </a:rPr>
              <a:t>But they’re man-made, so...</a:t>
            </a:r>
            <a:endParaRPr b="0" sz="1200" strike="noStrike">
              <a:latin typeface="Arial"/>
              <a:ea typeface="Arial"/>
              <a:cs typeface="Arial"/>
              <a:sym typeface="Arial"/>
            </a:endParaRPr>
          </a:p>
        </p:txBody>
      </p:sp>
      <p:sp>
        <p:nvSpPr>
          <p:cNvPr id="152" name="Google Shape;152;p21"/>
          <p:cNvSpPr txBox="1"/>
          <p:nvPr/>
        </p:nvSpPr>
        <p:spPr>
          <a:xfrm>
            <a:off x="4140000" y="900000"/>
            <a:ext cx="6120000" cy="1882080"/>
          </a:xfrm>
          <a:prstGeom prst="rect">
            <a:avLst/>
          </a:prstGeom>
          <a:noFill/>
          <a:ln>
            <a:noFill/>
          </a:ln>
        </p:spPr>
        <p:txBody>
          <a:bodyPr anchorCtr="0" anchor="t" bIns="45000" lIns="90000" spcFirstLastPara="1" rIns="90000" wrap="square" tIns="45000">
            <a:noAutofit/>
          </a:bodyPr>
          <a:lstStyle/>
          <a:p>
            <a:pPr indent="-216000" lvl="0" marL="216000" marR="0" rtl="0" algn="l">
              <a:lnSpc>
                <a:spcPct val="150000"/>
              </a:lnSpc>
              <a:spcBef>
                <a:spcPts val="0"/>
              </a:spcBef>
              <a:spcAft>
                <a:spcPts val="0"/>
              </a:spcAft>
              <a:buClr>
                <a:srgbClr val="000000"/>
              </a:buClr>
              <a:buSzPts val="540"/>
              <a:buFont typeface="Noto Sans Symbols"/>
              <a:buChar char="●"/>
            </a:pPr>
            <a:r>
              <a:rPr b="0" lang="en-US" sz="1200" strike="noStrike">
                <a:latin typeface="Arial"/>
                <a:ea typeface="Arial"/>
                <a:cs typeface="Arial"/>
                <a:sym typeface="Arial"/>
              </a:rPr>
              <a:t>where, when, how, and under which conditions the data were generated </a:t>
            </a:r>
            <a:endParaRPr b="0" sz="1200" strike="noStrike">
              <a:latin typeface="Arial"/>
              <a:ea typeface="Arial"/>
              <a:cs typeface="Arial"/>
              <a:sym typeface="Arial"/>
            </a:endParaRPr>
          </a:p>
          <a:p>
            <a:pPr indent="-216000" lvl="0" marL="216000" marR="0" rtl="0" algn="l">
              <a:lnSpc>
                <a:spcPct val="150000"/>
              </a:lnSpc>
              <a:spcBef>
                <a:spcPts val="0"/>
              </a:spcBef>
              <a:spcAft>
                <a:spcPts val="0"/>
              </a:spcAft>
              <a:buClr>
                <a:srgbClr val="000000"/>
              </a:buClr>
              <a:buSzPts val="540"/>
              <a:buFont typeface="Noto Sans Symbols"/>
              <a:buChar char="●"/>
            </a:pPr>
            <a:r>
              <a:rPr b="0" lang="en-US" sz="1200" strike="noStrike">
                <a:latin typeface="Arial"/>
                <a:ea typeface="Arial"/>
                <a:cs typeface="Arial"/>
                <a:sym typeface="Arial"/>
              </a:rPr>
              <a:t>Unique identifiers are key in biobanking and sample storage</a:t>
            </a:r>
            <a:endParaRPr b="0" sz="1200" strike="noStrike">
              <a:latin typeface="Arial"/>
              <a:ea typeface="Arial"/>
              <a:cs typeface="Arial"/>
              <a:sym typeface="Arial"/>
            </a:endParaRPr>
          </a:p>
          <a:p>
            <a:pPr indent="-216000" lvl="0" marL="216000" marR="0" rtl="0" algn="l">
              <a:lnSpc>
                <a:spcPct val="150000"/>
              </a:lnSpc>
              <a:spcBef>
                <a:spcPts val="0"/>
              </a:spcBef>
              <a:spcAft>
                <a:spcPts val="0"/>
              </a:spcAft>
              <a:buClr>
                <a:srgbClr val="000000"/>
              </a:buClr>
              <a:buSzPts val="540"/>
              <a:buFont typeface="Noto Sans Symbols"/>
              <a:buChar char="●"/>
            </a:pPr>
            <a:r>
              <a:rPr b="0" lang="en-US" sz="1200" strike="noStrike">
                <a:latin typeface="Arial"/>
                <a:ea typeface="Arial"/>
                <a:cs typeface="Arial"/>
                <a:sym typeface="Arial"/>
              </a:rPr>
              <a:t>Same numbers, different meaning upon different age, cell type, tissue, etc.</a:t>
            </a:r>
            <a:endParaRPr b="0" sz="1200" strike="noStrike">
              <a:latin typeface="Arial"/>
              <a:ea typeface="Arial"/>
              <a:cs typeface="Arial"/>
              <a:sym typeface="Arial"/>
            </a:endParaRPr>
          </a:p>
          <a:p>
            <a:pPr indent="-216000" lvl="0" marL="216000" marR="0" rtl="0" algn="l">
              <a:lnSpc>
                <a:spcPct val="150000"/>
              </a:lnSpc>
              <a:spcBef>
                <a:spcPts val="0"/>
              </a:spcBef>
              <a:spcAft>
                <a:spcPts val="0"/>
              </a:spcAft>
              <a:buClr>
                <a:srgbClr val="000000"/>
              </a:buClr>
              <a:buSzPts val="540"/>
              <a:buFont typeface="Noto Sans Symbols"/>
              <a:buChar char="●"/>
            </a:pPr>
            <a:r>
              <a:rPr b="0" lang="en-US" sz="1200" strike="noStrike">
                <a:latin typeface="Arial"/>
                <a:ea typeface="Arial"/>
                <a:cs typeface="Arial"/>
                <a:sym typeface="Arial"/>
              </a:rPr>
              <a:t>Less data cleaning required, easier computational analysis </a:t>
            </a:r>
            <a:endParaRPr b="0" sz="1200" strike="noStrike">
              <a:latin typeface="Arial"/>
              <a:ea typeface="Arial"/>
              <a:cs typeface="Arial"/>
              <a:sym typeface="Arial"/>
            </a:endParaRPr>
          </a:p>
          <a:p>
            <a:pPr indent="-216000" lvl="0" marL="216000" marR="0" rtl="0" algn="l">
              <a:lnSpc>
                <a:spcPct val="150000"/>
              </a:lnSpc>
              <a:spcBef>
                <a:spcPts val="0"/>
              </a:spcBef>
              <a:spcAft>
                <a:spcPts val="0"/>
              </a:spcAft>
              <a:buClr>
                <a:srgbClr val="000000"/>
              </a:buClr>
              <a:buSzPts val="540"/>
              <a:buFont typeface="Noto Sans Symbols"/>
              <a:buChar char="●"/>
            </a:pPr>
            <a:r>
              <a:rPr b="0" lang="en-US" sz="1200" strike="noStrike">
                <a:latin typeface="Arial"/>
                <a:ea typeface="Arial"/>
                <a:cs typeface="Arial"/>
                <a:sym typeface="Arial"/>
              </a:rPr>
              <a:t>Same protocol applicable</a:t>
            </a:r>
            <a:endParaRPr b="0" sz="1200" strike="noStrike">
              <a:latin typeface="Arial"/>
              <a:ea typeface="Arial"/>
              <a:cs typeface="Arial"/>
              <a:sym typeface="Arial"/>
            </a:endParaRPr>
          </a:p>
          <a:p>
            <a:pPr indent="-216000" lvl="0" marL="216000" marR="0" rtl="0" algn="l">
              <a:lnSpc>
                <a:spcPct val="150000"/>
              </a:lnSpc>
              <a:spcBef>
                <a:spcPts val="0"/>
              </a:spcBef>
              <a:spcAft>
                <a:spcPts val="0"/>
              </a:spcAft>
              <a:buClr>
                <a:srgbClr val="000000"/>
              </a:buClr>
              <a:buSzPts val="540"/>
              <a:buFont typeface="Noto Sans Symbols"/>
              <a:buChar char="●"/>
            </a:pPr>
            <a:r>
              <a:rPr b="0" lang="en-US" sz="1200" strike="noStrike">
                <a:latin typeface="Arial"/>
                <a:ea typeface="Arial"/>
                <a:cs typeface="Arial"/>
                <a:sym typeface="Arial"/>
              </a:rPr>
              <a:t>Multicentric studies are key for rare diseases where samples are few and far apart</a:t>
            </a:r>
            <a:endParaRPr b="0" sz="1200" strike="noStrike">
              <a:latin typeface="Arial"/>
              <a:ea typeface="Arial"/>
              <a:cs typeface="Arial"/>
              <a:sym typeface="Arial"/>
            </a:endParaRPr>
          </a:p>
        </p:txBody>
      </p:sp>
      <p:sp>
        <p:nvSpPr>
          <p:cNvPr id="153" name="Google Shape;153;p21"/>
          <p:cNvSpPr txBox="1"/>
          <p:nvPr/>
        </p:nvSpPr>
        <p:spPr>
          <a:xfrm>
            <a:off x="110157" y="900000"/>
            <a:ext cx="3420000" cy="1800000"/>
          </a:xfrm>
          <a:prstGeom prst="rect">
            <a:avLst/>
          </a:prstGeom>
          <a:noFill/>
          <a:ln>
            <a:noFill/>
          </a:ln>
        </p:spPr>
        <p:txBody>
          <a:bodyPr anchorCtr="0" anchor="t" bIns="45000" lIns="90000" spcFirstLastPara="1" rIns="90000" wrap="square" tIns="45000">
            <a:noAutofit/>
          </a:bodyPr>
          <a:lstStyle/>
          <a:p>
            <a:pPr indent="-216000" lvl="0" marL="216000" marR="0" rtl="0" algn="l">
              <a:lnSpc>
                <a:spcPct val="150000"/>
              </a:lnSpc>
              <a:spcBef>
                <a:spcPts val="0"/>
              </a:spcBef>
              <a:spcAft>
                <a:spcPts val="0"/>
              </a:spcAft>
              <a:buClr>
                <a:srgbClr val="000000"/>
              </a:buClr>
              <a:buSzPts val="540"/>
              <a:buFont typeface="Noto Sans Symbols"/>
              <a:buChar char="●"/>
            </a:pPr>
            <a:r>
              <a:rPr lang="en-US" sz="1200"/>
              <a:t>PROVIDE CONTEXT</a:t>
            </a:r>
            <a:endParaRPr b="0" sz="1200" strike="noStrike">
              <a:latin typeface="Arial"/>
              <a:ea typeface="Arial"/>
              <a:cs typeface="Arial"/>
              <a:sym typeface="Arial"/>
            </a:endParaRPr>
          </a:p>
          <a:p>
            <a:pPr indent="-216000" lvl="0" marL="216000" marR="0" rtl="0" algn="l">
              <a:lnSpc>
                <a:spcPct val="150000"/>
              </a:lnSpc>
              <a:spcBef>
                <a:spcPts val="0"/>
              </a:spcBef>
              <a:spcAft>
                <a:spcPts val="0"/>
              </a:spcAft>
              <a:buClr>
                <a:srgbClr val="000000"/>
              </a:buClr>
              <a:buSzPts val="540"/>
              <a:buFont typeface="Noto Sans Symbols"/>
              <a:buChar char="●"/>
            </a:pPr>
            <a:r>
              <a:rPr lang="en-US" sz="1200"/>
              <a:t>IDENTIFY THE SAMPLE </a:t>
            </a:r>
            <a:endParaRPr b="0" sz="1200" strike="noStrike">
              <a:latin typeface="Arial"/>
              <a:ea typeface="Arial"/>
              <a:cs typeface="Arial"/>
              <a:sym typeface="Arial"/>
            </a:endParaRPr>
          </a:p>
          <a:p>
            <a:pPr indent="-216000" lvl="0" marL="216000" marR="0" rtl="0" algn="l">
              <a:lnSpc>
                <a:spcPct val="150000"/>
              </a:lnSpc>
              <a:spcBef>
                <a:spcPts val="0"/>
              </a:spcBef>
              <a:spcAft>
                <a:spcPts val="0"/>
              </a:spcAft>
              <a:buClr>
                <a:srgbClr val="000000"/>
              </a:buClr>
              <a:buSzPts val="540"/>
              <a:buFont typeface="Noto Sans Symbols"/>
              <a:buChar char="●"/>
            </a:pPr>
            <a:r>
              <a:rPr lang="en-US" sz="1200"/>
              <a:t>ENSURES CORRECT INTERPRETATION</a:t>
            </a:r>
            <a:endParaRPr b="0" sz="1200" strike="noStrike">
              <a:latin typeface="Arial"/>
              <a:ea typeface="Arial"/>
              <a:cs typeface="Arial"/>
              <a:sym typeface="Arial"/>
            </a:endParaRPr>
          </a:p>
          <a:p>
            <a:pPr indent="-216000" lvl="0" marL="216000" marR="0" rtl="0" algn="l">
              <a:lnSpc>
                <a:spcPct val="150000"/>
              </a:lnSpc>
              <a:spcBef>
                <a:spcPts val="0"/>
              </a:spcBef>
              <a:spcAft>
                <a:spcPts val="0"/>
              </a:spcAft>
              <a:buClr>
                <a:srgbClr val="000000"/>
              </a:buClr>
              <a:buSzPts val="540"/>
              <a:buFont typeface="Noto Sans Symbols"/>
              <a:buChar char="●"/>
            </a:pPr>
            <a:r>
              <a:rPr lang="en-US" sz="1200"/>
              <a:t>ENSURES DATA CONSISTENCY</a:t>
            </a:r>
            <a:endParaRPr b="0" sz="1200" strike="noStrike">
              <a:latin typeface="Arial"/>
              <a:ea typeface="Arial"/>
              <a:cs typeface="Arial"/>
              <a:sym typeface="Arial"/>
            </a:endParaRPr>
          </a:p>
          <a:p>
            <a:pPr indent="-216000" lvl="0" marL="216000" marR="0" rtl="0" algn="l">
              <a:lnSpc>
                <a:spcPct val="150000"/>
              </a:lnSpc>
              <a:spcBef>
                <a:spcPts val="0"/>
              </a:spcBef>
              <a:spcAft>
                <a:spcPts val="0"/>
              </a:spcAft>
              <a:buClr>
                <a:srgbClr val="000000"/>
              </a:buClr>
              <a:buSzPts val="540"/>
              <a:buFont typeface="Noto Sans Symbols"/>
              <a:buChar char="●"/>
            </a:pPr>
            <a:r>
              <a:rPr lang="en-US" sz="1200"/>
              <a:t>SUPPORTS REPRODUCIBILITY</a:t>
            </a:r>
            <a:endParaRPr b="0" sz="1200" strike="noStrike">
              <a:latin typeface="Arial"/>
              <a:ea typeface="Arial"/>
              <a:cs typeface="Arial"/>
              <a:sym typeface="Arial"/>
            </a:endParaRPr>
          </a:p>
          <a:p>
            <a:pPr indent="-216000" lvl="0" marL="216000" marR="0" rtl="0" algn="l">
              <a:lnSpc>
                <a:spcPct val="150000"/>
              </a:lnSpc>
              <a:spcBef>
                <a:spcPts val="0"/>
              </a:spcBef>
              <a:spcAft>
                <a:spcPts val="0"/>
              </a:spcAft>
              <a:buClr>
                <a:srgbClr val="000000"/>
              </a:buClr>
              <a:buSzPts val="540"/>
              <a:buFont typeface="Noto Sans Symbols"/>
              <a:buChar char="●"/>
            </a:pPr>
            <a:r>
              <a:rPr lang="en-US" sz="1200"/>
              <a:t>ENABLES DATA INTEGRATION</a:t>
            </a:r>
            <a:endParaRPr b="0" sz="1200" strike="noStrike">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cxnSp>
        <p:nvCxnSpPr>
          <p:cNvPr id="158" name="Google Shape;158;p22"/>
          <p:cNvCxnSpPr/>
          <p:nvPr/>
        </p:nvCxnSpPr>
        <p:spPr>
          <a:xfrm>
            <a:off x="180000" y="540000"/>
            <a:ext cx="7920000" cy="0"/>
          </a:xfrm>
          <a:prstGeom prst="straightConnector1">
            <a:avLst/>
          </a:prstGeom>
          <a:noFill/>
          <a:ln cap="flat" cmpd="sng" w="36000">
            <a:solidFill>
              <a:srgbClr val="468A1A"/>
            </a:solidFill>
            <a:prstDash val="solid"/>
            <a:round/>
            <a:headEnd len="sm" w="sm" type="none"/>
            <a:tailEnd len="sm" w="sm" type="none"/>
          </a:ln>
        </p:spPr>
      </p:cxnSp>
      <p:sp>
        <p:nvSpPr>
          <p:cNvPr id="159" name="Google Shape;159;p22"/>
          <p:cNvSpPr txBox="1"/>
          <p:nvPr/>
        </p:nvSpPr>
        <p:spPr>
          <a:xfrm>
            <a:off x="192960" y="72000"/>
            <a:ext cx="4487100" cy="4029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2200" strike="noStrike">
                <a:solidFill>
                  <a:srgbClr val="468A1A"/>
                </a:solidFill>
                <a:latin typeface="Arial"/>
                <a:ea typeface="Arial"/>
                <a:cs typeface="Arial"/>
                <a:sym typeface="Arial"/>
              </a:rPr>
              <a:t>Part 1 — Why Metadata Matters</a:t>
            </a:r>
            <a:endParaRPr b="0" sz="2200" strike="noStrike">
              <a:latin typeface="Arial"/>
              <a:ea typeface="Arial"/>
              <a:cs typeface="Arial"/>
              <a:sym typeface="Arial"/>
            </a:endParaRPr>
          </a:p>
        </p:txBody>
      </p:sp>
      <p:sp>
        <p:nvSpPr>
          <p:cNvPr id="160" name="Google Shape;160;p22"/>
          <p:cNvSpPr/>
          <p:nvPr/>
        </p:nvSpPr>
        <p:spPr>
          <a:xfrm>
            <a:off x="3420000" y="1476000"/>
            <a:ext cx="539999" cy="539999"/>
          </a:xfrm>
          <a:custGeom>
            <a:rect b="b" l="l" r="r" t="t"/>
            <a:pathLst>
              <a:path extrusionOk="0" h="1502" w="1502">
                <a:moveTo>
                  <a:pt x="0" y="0"/>
                </a:moveTo>
                <a:lnTo>
                  <a:pt x="875" y="0"/>
                </a:lnTo>
                <a:lnTo>
                  <a:pt x="1501" y="750"/>
                </a:lnTo>
                <a:lnTo>
                  <a:pt x="875" y="1501"/>
                </a:lnTo>
                <a:lnTo>
                  <a:pt x="0" y="1501"/>
                </a:lnTo>
                <a:lnTo>
                  <a:pt x="625" y="750"/>
                </a:lnTo>
                <a:lnTo>
                  <a:pt x="0" y="0"/>
                </a:lnTo>
              </a:path>
            </a:pathLst>
          </a:custGeom>
          <a:solidFill>
            <a:srgbClr val="C9211E"/>
          </a:solidFill>
          <a:ln cap="flat" cmpd="sng" w="9525">
            <a:solidFill>
              <a:srgbClr val="C9211E"/>
            </a:solidFill>
            <a:prstDash val="solid"/>
            <a:round/>
            <a:headEnd len="sm" w="sm" type="none"/>
            <a:tailEnd len="sm" w="sm" type="none"/>
          </a:ln>
        </p:spPr>
      </p:sp>
      <p:cxnSp>
        <p:nvCxnSpPr>
          <p:cNvPr id="161" name="Google Shape;161;p22"/>
          <p:cNvCxnSpPr/>
          <p:nvPr/>
        </p:nvCxnSpPr>
        <p:spPr>
          <a:xfrm>
            <a:off x="1980000" y="2844000"/>
            <a:ext cx="5400000" cy="0"/>
          </a:xfrm>
          <a:prstGeom prst="straightConnector1">
            <a:avLst/>
          </a:prstGeom>
          <a:noFill/>
          <a:ln cap="flat" cmpd="sng" w="9525">
            <a:solidFill>
              <a:srgbClr val="468A1A"/>
            </a:solidFill>
            <a:prstDash val="solid"/>
            <a:round/>
            <a:headEnd len="sm" w="sm" type="none"/>
            <a:tailEnd len="sm" w="sm" type="none"/>
          </a:ln>
        </p:spPr>
      </p:cxnSp>
      <p:sp>
        <p:nvSpPr>
          <p:cNvPr id="162" name="Google Shape;162;p22"/>
          <p:cNvSpPr txBox="1"/>
          <p:nvPr/>
        </p:nvSpPr>
        <p:spPr>
          <a:xfrm>
            <a:off x="2520000" y="3060000"/>
            <a:ext cx="4320000" cy="42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2"/>
          <p:cNvSpPr txBox="1"/>
          <p:nvPr/>
        </p:nvSpPr>
        <p:spPr>
          <a:xfrm>
            <a:off x="1440000" y="3060000"/>
            <a:ext cx="6840000" cy="513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1500" strike="noStrike">
                <a:latin typeface="Arial"/>
                <a:ea typeface="Arial"/>
                <a:cs typeface="Arial"/>
                <a:sym typeface="Arial"/>
              </a:rPr>
              <a:t>Metadata also need to be easy to manipulate in computational analyses.</a:t>
            </a:r>
            <a:endParaRPr b="0" sz="1500" strike="noStrike">
              <a:latin typeface="Arial"/>
              <a:ea typeface="Arial"/>
              <a:cs typeface="Arial"/>
              <a:sym typeface="Arial"/>
            </a:endParaRPr>
          </a:p>
        </p:txBody>
      </p:sp>
      <p:sp>
        <p:nvSpPr>
          <p:cNvPr id="164" name="Google Shape;164;p22"/>
          <p:cNvSpPr txBox="1"/>
          <p:nvPr/>
        </p:nvSpPr>
        <p:spPr>
          <a:xfrm>
            <a:off x="3960000" y="3673886"/>
            <a:ext cx="2160000" cy="333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n-US" sz="1200" strike="noStrike">
                <a:latin typeface="Arial"/>
                <a:ea typeface="Arial"/>
                <a:cs typeface="Arial"/>
                <a:sym typeface="Arial"/>
              </a:rPr>
              <a:t>But they’re man-made, so...</a:t>
            </a:r>
            <a:endParaRPr b="0" sz="1200" strike="noStrike">
              <a:latin typeface="Arial"/>
              <a:ea typeface="Arial"/>
              <a:cs typeface="Arial"/>
              <a:sym typeface="Arial"/>
            </a:endParaRPr>
          </a:p>
        </p:txBody>
      </p:sp>
      <p:sp>
        <p:nvSpPr>
          <p:cNvPr id="165" name="Google Shape;165;p22"/>
          <p:cNvSpPr txBox="1"/>
          <p:nvPr/>
        </p:nvSpPr>
        <p:spPr>
          <a:xfrm>
            <a:off x="3420000" y="4314494"/>
            <a:ext cx="3240000" cy="513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1500" strike="noStrike">
                <a:solidFill>
                  <a:srgbClr val="000000"/>
                </a:solidFill>
                <a:latin typeface="Arial"/>
                <a:ea typeface="Arial"/>
                <a:cs typeface="Arial"/>
                <a:sym typeface="Arial"/>
              </a:rPr>
              <a:t>Metadata errors are often hidden!</a:t>
            </a:r>
            <a:endParaRPr b="0" sz="1500" strike="noStrike">
              <a:latin typeface="Arial"/>
              <a:ea typeface="Arial"/>
              <a:cs typeface="Arial"/>
              <a:sym typeface="Arial"/>
            </a:endParaRPr>
          </a:p>
        </p:txBody>
      </p:sp>
      <p:sp>
        <p:nvSpPr>
          <p:cNvPr id="166" name="Google Shape;166;p22"/>
          <p:cNvSpPr/>
          <p:nvPr/>
        </p:nvSpPr>
        <p:spPr>
          <a:xfrm>
            <a:off x="3150000" y="4314494"/>
            <a:ext cx="3780000" cy="360000"/>
          </a:xfrm>
          <a:prstGeom prst="rect">
            <a:avLst/>
          </a:prstGeom>
          <a:noFill/>
          <a:ln cap="flat" cmpd="sng" w="36000">
            <a:solidFill>
              <a:srgbClr val="468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2"/>
          <p:cNvSpPr txBox="1"/>
          <p:nvPr/>
        </p:nvSpPr>
        <p:spPr>
          <a:xfrm>
            <a:off x="4140000" y="900000"/>
            <a:ext cx="6120000" cy="1882200"/>
          </a:xfrm>
          <a:prstGeom prst="rect">
            <a:avLst/>
          </a:prstGeom>
          <a:noFill/>
          <a:ln>
            <a:noFill/>
          </a:ln>
        </p:spPr>
        <p:txBody>
          <a:bodyPr anchorCtr="0" anchor="t" bIns="45000" lIns="90000" spcFirstLastPara="1" rIns="90000" wrap="square" tIns="45000">
            <a:noAutofit/>
          </a:bodyPr>
          <a:lstStyle/>
          <a:p>
            <a:pPr indent="-216000" lvl="0" marL="216000" marR="0" rtl="0" algn="l">
              <a:lnSpc>
                <a:spcPct val="150000"/>
              </a:lnSpc>
              <a:spcBef>
                <a:spcPts val="0"/>
              </a:spcBef>
              <a:spcAft>
                <a:spcPts val="0"/>
              </a:spcAft>
              <a:buClr>
                <a:srgbClr val="000000"/>
              </a:buClr>
              <a:buSzPts val="540"/>
              <a:buFont typeface="Noto Sans Symbols"/>
              <a:buChar char="●"/>
            </a:pPr>
            <a:r>
              <a:rPr b="0" lang="en-US" sz="1200" strike="noStrike">
                <a:latin typeface="Arial"/>
                <a:ea typeface="Arial"/>
                <a:cs typeface="Arial"/>
                <a:sym typeface="Arial"/>
              </a:rPr>
              <a:t>where, when, how, and under which conditions the data were generated </a:t>
            </a:r>
            <a:endParaRPr b="0" sz="1200" strike="noStrike">
              <a:latin typeface="Arial"/>
              <a:ea typeface="Arial"/>
              <a:cs typeface="Arial"/>
              <a:sym typeface="Arial"/>
            </a:endParaRPr>
          </a:p>
          <a:p>
            <a:pPr indent="-216000" lvl="0" marL="216000" marR="0" rtl="0" algn="l">
              <a:lnSpc>
                <a:spcPct val="150000"/>
              </a:lnSpc>
              <a:spcBef>
                <a:spcPts val="0"/>
              </a:spcBef>
              <a:spcAft>
                <a:spcPts val="0"/>
              </a:spcAft>
              <a:buClr>
                <a:srgbClr val="000000"/>
              </a:buClr>
              <a:buSzPts val="540"/>
              <a:buFont typeface="Noto Sans Symbols"/>
              <a:buChar char="●"/>
            </a:pPr>
            <a:r>
              <a:rPr b="0" lang="en-US" sz="1200" strike="noStrike">
                <a:latin typeface="Arial"/>
                <a:ea typeface="Arial"/>
                <a:cs typeface="Arial"/>
                <a:sym typeface="Arial"/>
              </a:rPr>
              <a:t>Unique identifiers are key in biobanking and sample storage</a:t>
            </a:r>
            <a:endParaRPr b="0" sz="1200" strike="noStrike">
              <a:latin typeface="Arial"/>
              <a:ea typeface="Arial"/>
              <a:cs typeface="Arial"/>
              <a:sym typeface="Arial"/>
            </a:endParaRPr>
          </a:p>
          <a:p>
            <a:pPr indent="-216000" lvl="0" marL="216000" marR="0" rtl="0" algn="l">
              <a:lnSpc>
                <a:spcPct val="150000"/>
              </a:lnSpc>
              <a:spcBef>
                <a:spcPts val="0"/>
              </a:spcBef>
              <a:spcAft>
                <a:spcPts val="0"/>
              </a:spcAft>
              <a:buClr>
                <a:srgbClr val="000000"/>
              </a:buClr>
              <a:buSzPts val="540"/>
              <a:buFont typeface="Noto Sans Symbols"/>
              <a:buChar char="●"/>
            </a:pPr>
            <a:r>
              <a:rPr b="0" lang="en-US" sz="1200" strike="noStrike">
                <a:latin typeface="Arial"/>
                <a:ea typeface="Arial"/>
                <a:cs typeface="Arial"/>
                <a:sym typeface="Arial"/>
              </a:rPr>
              <a:t>Same numbers, different meaning upon different age, cell type, tissue, etc.</a:t>
            </a:r>
            <a:endParaRPr b="0" sz="1200" strike="noStrike">
              <a:latin typeface="Arial"/>
              <a:ea typeface="Arial"/>
              <a:cs typeface="Arial"/>
              <a:sym typeface="Arial"/>
            </a:endParaRPr>
          </a:p>
          <a:p>
            <a:pPr indent="-216000" lvl="0" marL="216000" marR="0" rtl="0" algn="l">
              <a:lnSpc>
                <a:spcPct val="150000"/>
              </a:lnSpc>
              <a:spcBef>
                <a:spcPts val="0"/>
              </a:spcBef>
              <a:spcAft>
                <a:spcPts val="0"/>
              </a:spcAft>
              <a:buClr>
                <a:srgbClr val="000000"/>
              </a:buClr>
              <a:buSzPts val="540"/>
              <a:buFont typeface="Noto Sans Symbols"/>
              <a:buChar char="●"/>
            </a:pPr>
            <a:r>
              <a:rPr b="0" lang="en-US" sz="1200" strike="noStrike">
                <a:latin typeface="Arial"/>
                <a:ea typeface="Arial"/>
                <a:cs typeface="Arial"/>
                <a:sym typeface="Arial"/>
              </a:rPr>
              <a:t>Less data cleaning required, easier computational analysis </a:t>
            </a:r>
            <a:endParaRPr b="0" sz="1200" strike="noStrike">
              <a:latin typeface="Arial"/>
              <a:ea typeface="Arial"/>
              <a:cs typeface="Arial"/>
              <a:sym typeface="Arial"/>
            </a:endParaRPr>
          </a:p>
          <a:p>
            <a:pPr indent="-216000" lvl="0" marL="216000" marR="0" rtl="0" algn="l">
              <a:lnSpc>
                <a:spcPct val="150000"/>
              </a:lnSpc>
              <a:spcBef>
                <a:spcPts val="0"/>
              </a:spcBef>
              <a:spcAft>
                <a:spcPts val="0"/>
              </a:spcAft>
              <a:buClr>
                <a:srgbClr val="000000"/>
              </a:buClr>
              <a:buSzPts val="540"/>
              <a:buFont typeface="Noto Sans Symbols"/>
              <a:buChar char="●"/>
            </a:pPr>
            <a:r>
              <a:rPr b="0" lang="en-US" sz="1200" strike="noStrike">
                <a:latin typeface="Arial"/>
                <a:ea typeface="Arial"/>
                <a:cs typeface="Arial"/>
                <a:sym typeface="Arial"/>
              </a:rPr>
              <a:t>Same protocol applicable</a:t>
            </a:r>
            <a:endParaRPr b="0" sz="1200" strike="noStrike">
              <a:latin typeface="Arial"/>
              <a:ea typeface="Arial"/>
              <a:cs typeface="Arial"/>
              <a:sym typeface="Arial"/>
            </a:endParaRPr>
          </a:p>
          <a:p>
            <a:pPr indent="-216000" lvl="0" marL="216000" marR="0" rtl="0" algn="l">
              <a:lnSpc>
                <a:spcPct val="150000"/>
              </a:lnSpc>
              <a:spcBef>
                <a:spcPts val="0"/>
              </a:spcBef>
              <a:spcAft>
                <a:spcPts val="0"/>
              </a:spcAft>
              <a:buClr>
                <a:srgbClr val="000000"/>
              </a:buClr>
              <a:buSzPts val="540"/>
              <a:buFont typeface="Noto Sans Symbols"/>
              <a:buChar char="●"/>
            </a:pPr>
            <a:r>
              <a:rPr b="0" lang="en-US" sz="1200" strike="noStrike">
                <a:latin typeface="Arial"/>
                <a:ea typeface="Arial"/>
                <a:cs typeface="Arial"/>
                <a:sym typeface="Arial"/>
              </a:rPr>
              <a:t>Multicentric studies are key for rare diseases where samples are few and far apart</a:t>
            </a:r>
            <a:endParaRPr b="0" sz="1200" strike="noStrike">
              <a:latin typeface="Arial"/>
              <a:ea typeface="Arial"/>
              <a:cs typeface="Arial"/>
              <a:sym typeface="Arial"/>
            </a:endParaRPr>
          </a:p>
        </p:txBody>
      </p:sp>
      <p:sp>
        <p:nvSpPr>
          <p:cNvPr id="168" name="Google Shape;168;p22"/>
          <p:cNvSpPr txBox="1"/>
          <p:nvPr/>
        </p:nvSpPr>
        <p:spPr>
          <a:xfrm>
            <a:off x="110157" y="900000"/>
            <a:ext cx="3420000" cy="1800000"/>
          </a:xfrm>
          <a:prstGeom prst="rect">
            <a:avLst/>
          </a:prstGeom>
          <a:noFill/>
          <a:ln>
            <a:noFill/>
          </a:ln>
        </p:spPr>
        <p:txBody>
          <a:bodyPr anchorCtr="0" anchor="t" bIns="45000" lIns="90000" spcFirstLastPara="1" rIns="90000" wrap="square" tIns="45000">
            <a:noAutofit/>
          </a:bodyPr>
          <a:lstStyle/>
          <a:p>
            <a:pPr indent="-216000" lvl="0" marL="216000" marR="0" rtl="0" algn="l">
              <a:lnSpc>
                <a:spcPct val="150000"/>
              </a:lnSpc>
              <a:spcBef>
                <a:spcPts val="0"/>
              </a:spcBef>
              <a:spcAft>
                <a:spcPts val="0"/>
              </a:spcAft>
              <a:buClr>
                <a:srgbClr val="000000"/>
              </a:buClr>
              <a:buSzPts val="540"/>
              <a:buFont typeface="Noto Sans Symbols"/>
              <a:buChar char="●"/>
            </a:pPr>
            <a:r>
              <a:rPr lang="en-US" sz="1200"/>
              <a:t>PROVIDE CONTEXT</a:t>
            </a:r>
            <a:endParaRPr b="0" sz="1200" strike="noStrike">
              <a:latin typeface="Arial"/>
              <a:ea typeface="Arial"/>
              <a:cs typeface="Arial"/>
              <a:sym typeface="Arial"/>
            </a:endParaRPr>
          </a:p>
          <a:p>
            <a:pPr indent="-216000" lvl="0" marL="216000" marR="0" rtl="0" algn="l">
              <a:lnSpc>
                <a:spcPct val="150000"/>
              </a:lnSpc>
              <a:spcBef>
                <a:spcPts val="0"/>
              </a:spcBef>
              <a:spcAft>
                <a:spcPts val="0"/>
              </a:spcAft>
              <a:buClr>
                <a:srgbClr val="000000"/>
              </a:buClr>
              <a:buSzPts val="540"/>
              <a:buFont typeface="Noto Sans Symbols"/>
              <a:buChar char="●"/>
            </a:pPr>
            <a:r>
              <a:rPr lang="en-US" sz="1200"/>
              <a:t>IDENTIFY THE SAMPLE </a:t>
            </a:r>
            <a:endParaRPr b="0" sz="1200" strike="noStrike">
              <a:latin typeface="Arial"/>
              <a:ea typeface="Arial"/>
              <a:cs typeface="Arial"/>
              <a:sym typeface="Arial"/>
            </a:endParaRPr>
          </a:p>
          <a:p>
            <a:pPr indent="-216000" lvl="0" marL="216000" marR="0" rtl="0" algn="l">
              <a:lnSpc>
                <a:spcPct val="150000"/>
              </a:lnSpc>
              <a:spcBef>
                <a:spcPts val="0"/>
              </a:spcBef>
              <a:spcAft>
                <a:spcPts val="0"/>
              </a:spcAft>
              <a:buClr>
                <a:srgbClr val="000000"/>
              </a:buClr>
              <a:buSzPts val="540"/>
              <a:buFont typeface="Noto Sans Symbols"/>
              <a:buChar char="●"/>
            </a:pPr>
            <a:r>
              <a:rPr lang="en-US" sz="1200"/>
              <a:t>ENSURES CORRECT INTERPRETATION</a:t>
            </a:r>
            <a:endParaRPr b="0" sz="1200" strike="noStrike">
              <a:latin typeface="Arial"/>
              <a:ea typeface="Arial"/>
              <a:cs typeface="Arial"/>
              <a:sym typeface="Arial"/>
            </a:endParaRPr>
          </a:p>
          <a:p>
            <a:pPr indent="-216000" lvl="0" marL="216000" marR="0" rtl="0" algn="l">
              <a:lnSpc>
                <a:spcPct val="150000"/>
              </a:lnSpc>
              <a:spcBef>
                <a:spcPts val="0"/>
              </a:spcBef>
              <a:spcAft>
                <a:spcPts val="0"/>
              </a:spcAft>
              <a:buClr>
                <a:srgbClr val="000000"/>
              </a:buClr>
              <a:buSzPts val="540"/>
              <a:buFont typeface="Noto Sans Symbols"/>
              <a:buChar char="●"/>
            </a:pPr>
            <a:r>
              <a:rPr lang="en-US" sz="1200"/>
              <a:t>ENSURES DATA CONSISTENCY</a:t>
            </a:r>
            <a:endParaRPr b="0" sz="1200" strike="noStrike">
              <a:latin typeface="Arial"/>
              <a:ea typeface="Arial"/>
              <a:cs typeface="Arial"/>
              <a:sym typeface="Arial"/>
            </a:endParaRPr>
          </a:p>
          <a:p>
            <a:pPr indent="-216000" lvl="0" marL="216000" marR="0" rtl="0" algn="l">
              <a:lnSpc>
                <a:spcPct val="150000"/>
              </a:lnSpc>
              <a:spcBef>
                <a:spcPts val="0"/>
              </a:spcBef>
              <a:spcAft>
                <a:spcPts val="0"/>
              </a:spcAft>
              <a:buClr>
                <a:srgbClr val="000000"/>
              </a:buClr>
              <a:buSzPts val="540"/>
              <a:buFont typeface="Noto Sans Symbols"/>
              <a:buChar char="●"/>
            </a:pPr>
            <a:r>
              <a:rPr lang="en-US" sz="1200"/>
              <a:t>SUPPORTS REPRODUCIBILITY</a:t>
            </a:r>
            <a:endParaRPr b="0" sz="1200" strike="noStrike">
              <a:latin typeface="Arial"/>
              <a:ea typeface="Arial"/>
              <a:cs typeface="Arial"/>
              <a:sym typeface="Arial"/>
            </a:endParaRPr>
          </a:p>
          <a:p>
            <a:pPr indent="-216000" lvl="0" marL="216000" marR="0" rtl="0" algn="l">
              <a:lnSpc>
                <a:spcPct val="150000"/>
              </a:lnSpc>
              <a:spcBef>
                <a:spcPts val="0"/>
              </a:spcBef>
              <a:spcAft>
                <a:spcPts val="0"/>
              </a:spcAft>
              <a:buClr>
                <a:srgbClr val="000000"/>
              </a:buClr>
              <a:buSzPts val="540"/>
              <a:buFont typeface="Noto Sans Symbols"/>
              <a:buChar char="●"/>
            </a:pPr>
            <a:r>
              <a:rPr lang="en-US" sz="1200"/>
              <a:t>ENABLES DATA INTEGRATION</a:t>
            </a:r>
            <a:endParaRPr b="0" sz="1200" strike="noStrike">
              <a:latin typeface="Arial"/>
              <a:ea typeface="Arial"/>
              <a:cs typeface="Arial"/>
              <a:sym typeface="Arial"/>
            </a:endParaRPr>
          </a:p>
        </p:txBody>
      </p:sp>
      <p:pic>
        <p:nvPicPr>
          <p:cNvPr id="169" name="Google Shape;169;p22"/>
          <p:cNvPicPr preferRelativeResize="0"/>
          <p:nvPr/>
        </p:nvPicPr>
        <p:blipFill rotWithShape="1">
          <a:blip r:embed="rId3">
            <a:alphaModFix/>
          </a:blip>
          <a:srcRect b="6024" l="3068" r="50157" t="50037"/>
          <a:stretch/>
        </p:blipFill>
        <p:spPr>
          <a:xfrm>
            <a:off x="7150100" y="4100794"/>
            <a:ext cx="838200" cy="787400"/>
          </a:xfrm>
          <a:prstGeom prst="rect">
            <a:avLst/>
          </a:prstGeom>
          <a:noFill/>
          <a:ln>
            <a:noFill/>
          </a:ln>
        </p:spPr>
      </p:pic>
      <p:pic>
        <p:nvPicPr>
          <p:cNvPr id="170" name="Google Shape;170;p22"/>
          <p:cNvPicPr preferRelativeResize="0"/>
          <p:nvPr/>
        </p:nvPicPr>
        <p:blipFill rotWithShape="1">
          <a:blip r:embed="rId3">
            <a:alphaModFix/>
          </a:blip>
          <a:srcRect b="6024" l="3068" r="50157" t="50037"/>
          <a:stretch/>
        </p:blipFill>
        <p:spPr>
          <a:xfrm>
            <a:off x="2091700" y="4100794"/>
            <a:ext cx="838200" cy="787400"/>
          </a:xfrm>
          <a:prstGeom prst="rect">
            <a:avLst/>
          </a:prstGeom>
          <a:noFill/>
          <a:ln>
            <a:noFill/>
          </a:ln>
        </p:spPr>
      </p:pic>
      <p:sp>
        <p:nvSpPr>
          <p:cNvPr id="171" name="Google Shape;171;p22"/>
          <p:cNvSpPr txBox="1"/>
          <p:nvPr/>
        </p:nvSpPr>
        <p:spPr>
          <a:xfrm>
            <a:off x="3766513" y="5073040"/>
            <a:ext cx="2547600" cy="4272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1500">
                <a:solidFill>
                  <a:srgbClr val="C9211E"/>
                </a:solidFill>
              </a:rPr>
              <a:t>Garbage in, garbage out!</a:t>
            </a:r>
            <a:endParaRPr b="0" sz="1500" strike="noStrike">
              <a:solidFill>
                <a:srgbClr val="C9211E"/>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cxnSp>
        <p:nvCxnSpPr>
          <p:cNvPr id="176" name="Google Shape;176;p23"/>
          <p:cNvCxnSpPr/>
          <p:nvPr/>
        </p:nvCxnSpPr>
        <p:spPr>
          <a:xfrm>
            <a:off x="180000" y="540000"/>
            <a:ext cx="7920000" cy="0"/>
          </a:xfrm>
          <a:prstGeom prst="straightConnector1">
            <a:avLst/>
          </a:prstGeom>
          <a:noFill/>
          <a:ln cap="flat" cmpd="sng" w="36000">
            <a:solidFill>
              <a:srgbClr val="468A1A"/>
            </a:solidFill>
            <a:prstDash val="solid"/>
            <a:round/>
            <a:headEnd len="sm" w="sm" type="none"/>
            <a:tailEnd len="sm" w="sm" type="none"/>
          </a:ln>
        </p:spPr>
      </p:cxnSp>
      <p:sp>
        <p:nvSpPr>
          <p:cNvPr id="177" name="Google Shape;177;p23"/>
          <p:cNvSpPr txBox="1"/>
          <p:nvPr/>
        </p:nvSpPr>
        <p:spPr>
          <a:xfrm>
            <a:off x="192960" y="72000"/>
            <a:ext cx="4487100" cy="4029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2200" strike="noStrike">
                <a:solidFill>
                  <a:srgbClr val="468A1A"/>
                </a:solidFill>
                <a:latin typeface="Arial"/>
                <a:ea typeface="Arial"/>
                <a:cs typeface="Arial"/>
                <a:sym typeface="Arial"/>
              </a:rPr>
              <a:t>Part 1 — Why Metadata Matters</a:t>
            </a:r>
            <a:endParaRPr b="0" sz="2200" strike="noStrike">
              <a:latin typeface="Arial"/>
              <a:ea typeface="Arial"/>
              <a:cs typeface="Arial"/>
              <a:sym typeface="Arial"/>
            </a:endParaRPr>
          </a:p>
        </p:txBody>
      </p:sp>
      <p:sp>
        <p:nvSpPr>
          <p:cNvPr id="178" name="Google Shape;178;p23"/>
          <p:cNvSpPr txBox="1"/>
          <p:nvPr/>
        </p:nvSpPr>
        <p:spPr>
          <a:xfrm>
            <a:off x="9180000" y="255600"/>
            <a:ext cx="720000" cy="3021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n-US" sz="1500" strike="noStrike">
                <a:solidFill>
                  <a:srgbClr val="468A1A"/>
                </a:solidFill>
                <a:latin typeface="Arial"/>
                <a:ea typeface="Arial"/>
                <a:cs typeface="Arial"/>
                <a:sym typeface="Arial"/>
              </a:rPr>
              <a:t>EX. </a:t>
            </a:r>
            <a:r>
              <a:rPr lang="en-US" sz="1500">
                <a:solidFill>
                  <a:srgbClr val="468A1A"/>
                </a:solidFill>
              </a:rPr>
              <a:t>1</a:t>
            </a:r>
            <a:endParaRPr b="0" sz="1500" strike="noStrike">
              <a:latin typeface="Arial"/>
              <a:ea typeface="Arial"/>
              <a:cs typeface="Arial"/>
              <a:sym typeface="Arial"/>
            </a:endParaRPr>
          </a:p>
        </p:txBody>
      </p:sp>
      <p:pic>
        <p:nvPicPr>
          <p:cNvPr id="179" name="Google Shape;179;p23"/>
          <p:cNvPicPr preferRelativeResize="0"/>
          <p:nvPr/>
        </p:nvPicPr>
        <p:blipFill rotWithShape="1">
          <a:blip r:embed="rId3">
            <a:alphaModFix/>
          </a:blip>
          <a:srcRect b="2353" l="10058" r="2560" t="9526"/>
          <a:stretch/>
        </p:blipFill>
        <p:spPr>
          <a:xfrm>
            <a:off x="8805875" y="190800"/>
            <a:ext cx="374126" cy="431700"/>
          </a:xfrm>
          <a:prstGeom prst="rect">
            <a:avLst/>
          </a:prstGeom>
          <a:noFill/>
          <a:ln>
            <a:noFill/>
          </a:ln>
        </p:spPr>
      </p:pic>
      <p:sp>
        <p:nvSpPr>
          <p:cNvPr id="180" name="Google Shape;180;p23"/>
          <p:cNvSpPr txBox="1"/>
          <p:nvPr/>
        </p:nvSpPr>
        <p:spPr>
          <a:xfrm>
            <a:off x="3694063" y="990600"/>
            <a:ext cx="2692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solidFill>
                  <a:schemeClr val="dk1"/>
                </a:solidFill>
                <a:highlight>
                  <a:srgbClr val="FFFFFF"/>
                </a:highlight>
              </a:rPr>
              <a:t>S</a:t>
            </a:r>
            <a:r>
              <a:rPr b="1" lang="en-US" sz="1800">
                <a:solidFill>
                  <a:schemeClr val="dk1"/>
                </a:solidFill>
                <a:highlight>
                  <a:srgbClr val="FFFFFF"/>
                </a:highlight>
              </a:rPr>
              <a:t>ix-patient toy cohort</a:t>
            </a:r>
            <a:r>
              <a:rPr b="1" lang="en-US" sz="1800">
                <a:solidFill>
                  <a:schemeClr val="dk1"/>
                </a:solidFill>
              </a:rPr>
              <a:t> </a:t>
            </a:r>
            <a:endParaRPr b="1" sz="18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graphicFrame>
        <p:nvGraphicFramePr>
          <p:cNvPr id="185" name="Google Shape;185;p24"/>
          <p:cNvGraphicFramePr/>
          <p:nvPr/>
        </p:nvGraphicFramePr>
        <p:xfrm>
          <a:off x="1307880" y="1581120"/>
          <a:ext cx="3000000" cy="3000000"/>
        </p:xfrm>
        <a:graphic>
          <a:graphicData uri="http://schemas.openxmlformats.org/drawingml/2006/table">
            <a:tbl>
              <a:tblPr>
                <a:noFill/>
                <a:tableStyleId>{FBF6C270-3839-495F-BF6B-5D2B0D70D4C5}</a:tableStyleId>
              </a:tblPr>
              <a:tblGrid>
                <a:gridCol w="1361150"/>
                <a:gridCol w="6103450"/>
              </a:tblGrid>
              <a:tr h="328325">
                <a:tc>
                  <a:txBody>
                    <a:bodyPr/>
                    <a:lstStyle/>
                    <a:p>
                      <a:pPr indent="0" lvl="0" marL="0" marR="0" rtl="0" algn="l">
                        <a:spcBef>
                          <a:spcPts val="0"/>
                        </a:spcBef>
                        <a:spcAft>
                          <a:spcPts val="0"/>
                        </a:spcAft>
                        <a:buNone/>
                      </a:pPr>
                      <a:r>
                        <a:rPr b="0" lang="en-US" sz="1800" strike="noStrike">
                          <a:latin typeface="Arial"/>
                          <a:ea typeface="Arial"/>
                          <a:cs typeface="Arial"/>
                          <a:sym typeface="Arial"/>
                        </a:rPr>
                        <a:t>Field </a:t>
                      </a:r>
                      <a:endParaRPr b="0" sz="18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0" lang="en-US" sz="1800" strike="noStrike">
                          <a:latin typeface="Arial"/>
                          <a:ea typeface="Arial"/>
                          <a:cs typeface="Arial"/>
                          <a:sym typeface="Arial"/>
                        </a:rPr>
                        <a:t>Why it is non-negotiable </a:t>
                      </a:r>
                      <a:endParaRPr b="0" sz="18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r>
              <a:tr h="318950">
                <a:tc>
                  <a:txBody>
                    <a:bodyPr/>
                    <a:lstStyle/>
                    <a:p>
                      <a:pPr indent="0" lvl="0" marL="0" marR="0" rtl="0" algn="l">
                        <a:spcBef>
                          <a:spcPts val="0"/>
                        </a:spcBef>
                        <a:spcAft>
                          <a:spcPts val="0"/>
                        </a:spcAft>
                        <a:buNone/>
                      </a:pPr>
                      <a:r>
                        <a:rPr b="0" lang="en-US" sz="1200" strike="noStrike">
                          <a:latin typeface="Arial"/>
                          <a:ea typeface="Arial"/>
                          <a:cs typeface="Arial"/>
                          <a:sym typeface="Arial"/>
                        </a:rPr>
                        <a:t>Patient/subject ID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The single key linking a sample to its clinical context — must be unique, always.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1475">
                <a:tc>
                  <a:txBody>
                    <a:bodyPr/>
                    <a:lstStyle/>
                    <a:p>
                      <a:pPr indent="0" lvl="0" marL="0" marR="0" rtl="0" algn="l">
                        <a:spcBef>
                          <a:spcPts val="0"/>
                        </a:spcBef>
                        <a:spcAft>
                          <a:spcPts val="0"/>
                        </a:spcAft>
                        <a:buNone/>
                      </a:pPr>
                      <a:r>
                        <a:rPr b="0" lang="en-US" sz="1200" strike="noStrike">
                          <a:latin typeface="Arial"/>
                          <a:ea typeface="Arial"/>
                          <a:cs typeface="Arial"/>
                          <a:sym typeface="Arial"/>
                        </a:rPr>
                        <a:t>Sample type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Tumor tissue, blood, saliva, etc. — determines what analyses are even valid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6275">
                <a:tc>
                  <a:txBody>
                    <a:bodyPr/>
                    <a:lstStyle/>
                    <a:p>
                      <a:pPr indent="0" lvl="0" marL="0" marR="0" rtl="0" algn="l">
                        <a:spcBef>
                          <a:spcPts val="0"/>
                        </a:spcBef>
                        <a:spcAft>
                          <a:spcPts val="0"/>
                        </a:spcAft>
                        <a:buNone/>
                      </a:pPr>
                      <a:r>
                        <a:rPr b="0" lang="en-US" sz="1200" strike="noStrike">
                          <a:latin typeface="Arial"/>
                          <a:ea typeface="Arial"/>
                          <a:cs typeface="Arial"/>
                          <a:sym typeface="Arial"/>
                        </a:rPr>
                        <a:t>Collection date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Anchors the sample in time relative to diagnosis, treatment, and the patient’s age.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83325">
                <a:tc>
                  <a:txBody>
                    <a:bodyPr/>
                    <a:lstStyle/>
                    <a:p>
                      <a:pPr indent="0" lvl="0" marL="0" marR="0" rtl="0" algn="l">
                        <a:spcBef>
                          <a:spcPts val="0"/>
                        </a:spcBef>
                        <a:spcAft>
                          <a:spcPts val="0"/>
                        </a:spcAft>
                        <a:buNone/>
                      </a:pPr>
                      <a:r>
                        <a:rPr b="0" lang="en-US" sz="1200" strike="noStrike">
                          <a:latin typeface="Arial"/>
                          <a:ea typeface="Arial"/>
                          <a:cs typeface="Arial"/>
                          <a:sym typeface="Arial"/>
                        </a:rPr>
                        <a:t>Diagnosis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Ideally from a controlled vocabulary, not free text.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6000">
                <a:tc>
                  <a:txBody>
                    <a:bodyPr/>
                    <a:lstStyle/>
                    <a:p>
                      <a:pPr indent="0" lvl="0" marL="0" marR="0" rtl="0" algn="l">
                        <a:spcBef>
                          <a:spcPts val="0"/>
                        </a:spcBef>
                        <a:spcAft>
                          <a:spcPts val="0"/>
                        </a:spcAft>
                        <a:buNone/>
                      </a:pPr>
                      <a:r>
                        <a:rPr b="0" lang="en-US" sz="1200" strike="noStrike">
                          <a:latin typeface="Arial"/>
                          <a:ea typeface="Arial"/>
                          <a:cs typeface="Arial"/>
                          <a:sym typeface="Arial"/>
                        </a:rPr>
                        <a:t>Age at collection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Needed for almost any biological interpretation.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2750">
                <a:tc>
                  <a:txBody>
                    <a:bodyPr/>
                    <a:lstStyle/>
                    <a:p>
                      <a:pPr indent="0" lvl="0" marL="0" marR="0" rtl="0" algn="l">
                        <a:spcBef>
                          <a:spcPts val="0"/>
                        </a:spcBef>
                        <a:spcAft>
                          <a:spcPts val="0"/>
                        </a:spcAft>
                        <a:buNone/>
                      </a:pPr>
                      <a:r>
                        <a:rPr b="0" lang="en-US" sz="1200" strike="noStrike">
                          <a:latin typeface="Arial"/>
                          <a:ea typeface="Arial"/>
                          <a:cs typeface="Arial"/>
                          <a:sym typeface="Arial"/>
                        </a:rPr>
                        <a:t>Consent status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Whether the sample can legally and ethically be used for research at all.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cxnSp>
        <p:nvCxnSpPr>
          <p:cNvPr id="186" name="Google Shape;186;p24"/>
          <p:cNvCxnSpPr/>
          <p:nvPr/>
        </p:nvCxnSpPr>
        <p:spPr>
          <a:xfrm>
            <a:off x="180000" y="540000"/>
            <a:ext cx="7920000" cy="0"/>
          </a:xfrm>
          <a:prstGeom prst="straightConnector1">
            <a:avLst/>
          </a:prstGeom>
          <a:noFill/>
          <a:ln cap="flat" cmpd="sng" w="36000">
            <a:solidFill>
              <a:srgbClr val="468A1A"/>
            </a:solidFill>
            <a:prstDash val="solid"/>
            <a:round/>
            <a:headEnd len="sm" w="sm" type="none"/>
            <a:tailEnd len="sm" w="sm" type="none"/>
          </a:ln>
        </p:spPr>
      </p:cxnSp>
      <p:sp>
        <p:nvSpPr>
          <p:cNvPr id="187" name="Google Shape;187;p24"/>
          <p:cNvSpPr txBox="1"/>
          <p:nvPr/>
        </p:nvSpPr>
        <p:spPr>
          <a:xfrm>
            <a:off x="192960" y="72000"/>
            <a:ext cx="6107100" cy="468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2200" strike="noStrike">
                <a:solidFill>
                  <a:srgbClr val="468A1A"/>
                </a:solidFill>
                <a:latin typeface="Arial"/>
                <a:ea typeface="Arial"/>
                <a:cs typeface="Arial"/>
                <a:sym typeface="Arial"/>
              </a:rPr>
              <a:t>Part 2 — What Good Metadata Looks Like</a:t>
            </a:r>
            <a:endParaRPr b="0" sz="2200" strike="noStrike">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graphicFrame>
        <p:nvGraphicFramePr>
          <p:cNvPr id="192" name="Google Shape;192;p25"/>
          <p:cNvGraphicFramePr/>
          <p:nvPr/>
        </p:nvGraphicFramePr>
        <p:xfrm>
          <a:off x="1307880" y="1581120"/>
          <a:ext cx="3000000" cy="3000000"/>
        </p:xfrm>
        <a:graphic>
          <a:graphicData uri="http://schemas.openxmlformats.org/drawingml/2006/table">
            <a:tbl>
              <a:tblPr>
                <a:noFill/>
                <a:tableStyleId>{FBF6C270-3839-495F-BF6B-5D2B0D70D4C5}</a:tableStyleId>
              </a:tblPr>
              <a:tblGrid>
                <a:gridCol w="1361150"/>
                <a:gridCol w="6103450"/>
              </a:tblGrid>
              <a:tr h="328325">
                <a:tc>
                  <a:txBody>
                    <a:bodyPr/>
                    <a:lstStyle/>
                    <a:p>
                      <a:pPr indent="0" lvl="0" marL="0" marR="0" rtl="0" algn="l">
                        <a:spcBef>
                          <a:spcPts val="0"/>
                        </a:spcBef>
                        <a:spcAft>
                          <a:spcPts val="0"/>
                        </a:spcAft>
                        <a:buNone/>
                      </a:pPr>
                      <a:r>
                        <a:rPr b="0" lang="en-US" sz="1800" strike="noStrike">
                          <a:latin typeface="Arial"/>
                          <a:ea typeface="Arial"/>
                          <a:cs typeface="Arial"/>
                          <a:sym typeface="Arial"/>
                        </a:rPr>
                        <a:t>Field </a:t>
                      </a:r>
                      <a:endParaRPr b="0" sz="18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0" lang="en-US" sz="1800" strike="noStrike">
                          <a:latin typeface="Arial"/>
                          <a:ea typeface="Arial"/>
                          <a:cs typeface="Arial"/>
                          <a:sym typeface="Arial"/>
                        </a:rPr>
                        <a:t>Why it is non-negotiable </a:t>
                      </a:r>
                      <a:endParaRPr b="0" sz="18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r>
              <a:tr h="318950">
                <a:tc>
                  <a:txBody>
                    <a:bodyPr/>
                    <a:lstStyle/>
                    <a:p>
                      <a:pPr indent="0" lvl="0" marL="0" marR="0" rtl="0" algn="l">
                        <a:spcBef>
                          <a:spcPts val="0"/>
                        </a:spcBef>
                        <a:spcAft>
                          <a:spcPts val="0"/>
                        </a:spcAft>
                        <a:buNone/>
                      </a:pPr>
                      <a:r>
                        <a:rPr b="0" lang="en-US" sz="1200" strike="noStrike">
                          <a:latin typeface="Arial"/>
                          <a:ea typeface="Arial"/>
                          <a:cs typeface="Arial"/>
                          <a:sym typeface="Arial"/>
                        </a:rPr>
                        <a:t>Patient/subject ID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The single key linking a sample to its clinical context — must be unique, always.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1475">
                <a:tc>
                  <a:txBody>
                    <a:bodyPr/>
                    <a:lstStyle/>
                    <a:p>
                      <a:pPr indent="0" lvl="0" marL="0" marR="0" rtl="0" algn="l">
                        <a:spcBef>
                          <a:spcPts val="0"/>
                        </a:spcBef>
                        <a:spcAft>
                          <a:spcPts val="0"/>
                        </a:spcAft>
                        <a:buNone/>
                      </a:pPr>
                      <a:r>
                        <a:rPr b="0" lang="en-US" sz="1200" strike="noStrike">
                          <a:latin typeface="Arial"/>
                          <a:ea typeface="Arial"/>
                          <a:cs typeface="Arial"/>
                          <a:sym typeface="Arial"/>
                        </a:rPr>
                        <a:t>Sample type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Tumor tissue, blood, saliva, etc. — determines what analyses are even valid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6275">
                <a:tc>
                  <a:txBody>
                    <a:bodyPr/>
                    <a:lstStyle/>
                    <a:p>
                      <a:pPr indent="0" lvl="0" marL="0" marR="0" rtl="0" algn="l">
                        <a:spcBef>
                          <a:spcPts val="0"/>
                        </a:spcBef>
                        <a:spcAft>
                          <a:spcPts val="0"/>
                        </a:spcAft>
                        <a:buNone/>
                      </a:pPr>
                      <a:r>
                        <a:rPr b="0" lang="en-US" sz="1200" strike="noStrike">
                          <a:latin typeface="Arial"/>
                          <a:ea typeface="Arial"/>
                          <a:cs typeface="Arial"/>
                          <a:sym typeface="Arial"/>
                        </a:rPr>
                        <a:t>Collection date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Anchors the sample in time relative to diagnosis, treatment, and the patient’s age.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83325">
                <a:tc>
                  <a:txBody>
                    <a:bodyPr/>
                    <a:lstStyle/>
                    <a:p>
                      <a:pPr indent="0" lvl="0" marL="0" marR="0" rtl="0" algn="l">
                        <a:spcBef>
                          <a:spcPts val="0"/>
                        </a:spcBef>
                        <a:spcAft>
                          <a:spcPts val="0"/>
                        </a:spcAft>
                        <a:buNone/>
                      </a:pPr>
                      <a:r>
                        <a:rPr b="0" lang="en-US" sz="1200" strike="noStrike">
                          <a:latin typeface="Arial"/>
                          <a:ea typeface="Arial"/>
                          <a:cs typeface="Arial"/>
                          <a:sym typeface="Arial"/>
                        </a:rPr>
                        <a:t>Diagnosis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Ideally from a controlled vocabulary, not free text.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6000">
                <a:tc>
                  <a:txBody>
                    <a:bodyPr/>
                    <a:lstStyle/>
                    <a:p>
                      <a:pPr indent="0" lvl="0" marL="0" marR="0" rtl="0" algn="l">
                        <a:spcBef>
                          <a:spcPts val="0"/>
                        </a:spcBef>
                        <a:spcAft>
                          <a:spcPts val="0"/>
                        </a:spcAft>
                        <a:buNone/>
                      </a:pPr>
                      <a:r>
                        <a:rPr b="0" lang="en-US" sz="1200" strike="noStrike">
                          <a:latin typeface="Arial"/>
                          <a:ea typeface="Arial"/>
                          <a:cs typeface="Arial"/>
                          <a:sym typeface="Arial"/>
                        </a:rPr>
                        <a:t>Age at collection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Needed for almost any biological interpretation.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2750">
                <a:tc>
                  <a:txBody>
                    <a:bodyPr/>
                    <a:lstStyle/>
                    <a:p>
                      <a:pPr indent="0" lvl="0" marL="0" marR="0" rtl="0" algn="l">
                        <a:spcBef>
                          <a:spcPts val="0"/>
                        </a:spcBef>
                        <a:spcAft>
                          <a:spcPts val="0"/>
                        </a:spcAft>
                        <a:buNone/>
                      </a:pPr>
                      <a:r>
                        <a:rPr b="0" lang="en-US" sz="1200" strike="noStrike">
                          <a:latin typeface="Arial"/>
                          <a:ea typeface="Arial"/>
                          <a:cs typeface="Arial"/>
                          <a:sym typeface="Arial"/>
                        </a:rPr>
                        <a:t>Consent status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Whether the sample can legally and ethically be used for research at all.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cxnSp>
        <p:nvCxnSpPr>
          <p:cNvPr id="193" name="Google Shape;193;p25"/>
          <p:cNvCxnSpPr/>
          <p:nvPr/>
        </p:nvCxnSpPr>
        <p:spPr>
          <a:xfrm>
            <a:off x="180000" y="540000"/>
            <a:ext cx="7920000" cy="0"/>
          </a:xfrm>
          <a:prstGeom prst="straightConnector1">
            <a:avLst/>
          </a:prstGeom>
          <a:noFill/>
          <a:ln cap="flat" cmpd="sng" w="36000">
            <a:solidFill>
              <a:srgbClr val="468A1A"/>
            </a:solidFill>
            <a:prstDash val="solid"/>
            <a:round/>
            <a:headEnd len="sm" w="sm" type="none"/>
            <a:tailEnd len="sm" w="sm" type="none"/>
          </a:ln>
        </p:spPr>
      </p:cxnSp>
      <p:sp>
        <p:nvSpPr>
          <p:cNvPr id="194" name="Google Shape;194;p25"/>
          <p:cNvSpPr txBox="1"/>
          <p:nvPr/>
        </p:nvSpPr>
        <p:spPr>
          <a:xfrm>
            <a:off x="192960" y="72000"/>
            <a:ext cx="6107040" cy="468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2200" strike="noStrike">
                <a:solidFill>
                  <a:srgbClr val="468A1A"/>
                </a:solidFill>
                <a:latin typeface="Arial"/>
                <a:ea typeface="Arial"/>
                <a:cs typeface="Arial"/>
                <a:sym typeface="Arial"/>
              </a:rPr>
              <a:t>Part 2 — What Good Metadata Looks Like</a:t>
            </a:r>
            <a:endParaRPr b="0" sz="2200" strike="noStrike">
              <a:latin typeface="Arial"/>
              <a:ea typeface="Arial"/>
              <a:cs typeface="Arial"/>
              <a:sym typeface="Arial"/>
            </a:endParaRPr>
          </a:p>
        </p:txBody>
      </p:sp>
      <p:pic>
        <p:nvPicPr>
          <p:cNvPr id="195" name="Google Shape;195;p25"/>
          <p:cNvPicPr preferRelativeResize="0"/>
          <p:nvPr/>
        </p:nvPicPr>
        <p:blipFill rotWithShape="1">
          <a:blip r:embed="rId3">
            <a:alphaModFix/>
          </a:blip>
          <a:srcRect b="10639" l="6577" r="5850" t="12319"/>
          <a:stretch/>
        </p:blipFill>
        <p:spPr>
          <a:xfrm>
            <a:off x="4043363" y="3827425"/>
            <a:ext cx="1993902" cy="1754225"/>
          </a:xfrm>
          <a:prstGeom prst="rect">
            <a:avLst/>
          </a:prstGeom>
          <a:noFill/>
          <a:ln>
            <a:noFill/>
          </a:ln>
        </p:spPr>
      </p:pic>
      <p:sp>
        <p:nvSpPr>
          <p:cNvPr id="196" name="Google Shape;196;p25"/>
          <p:cNvSpPr txBox="1"/>
          <p:nvPr/>
        </p:nvSpPr>
        <p:spPr>
          <a:xfrm>
            <a:off x="4598625" y="5248355"/>
            <a:ext cx="1620000" cy="3333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1200" strike="noStrike">
                <a:solidFill>
                  <a:srgbClr val="C9211E"/>
                </a:solidFill>
              </a:rPr>
              <a:t>Any critical points?</a:t>
            </a:r>
            <a:endParaRPr b="1" sz="1200" strike="noStrike">
              <a:solidFill>
                <a:srgbClr val="C9211E"/>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graphicFrame>
        <p:nvGraphicFramePr>
          <p:cNvPr id="201" name="Google Shape;201;p26"/>
          <p:cNvGraphicFramePr/>
          <p:nvPr/>
        </p:nvGraphicFramePr>
        <p:xfrm>
          <a:off x="1307880" y="1581120"/>
          <a:ext cx="3000000" cy="3000000"/>
        </p:xfrm>
        <a:graphic>
          <a:graphicData uri="http://schemas.openxmlformats.org/drawingml/2006/table">
            <a:tbl>
              <a:tblPr>
                <a:noFill/>
                <a:tableStyleId>{FBF6C270-3839-495F-BF6B-5D2B0D70D4C5}</a:tableStyleId>
              </a:tblPr>
              <a:tblGrid>
                <a:gridCol w="1361150"/>
                <a:gridCol w="6103450"/>
              </a:tblGrid>
              <a:tr h="328325">
                <a:tc>
                  <a:txBody>
                    <a:bodyPr/>
                    <a:lstStyle/>
                    <a:p>
                      <a:pPr indent="0" lvl="0" marL="0" marR="0" rtl="0" algn="l">
                        <a:spcBef>
                          <a:spcPts val="0"/>
                        </a:spcBef>
                        <a:spcAft>
                          <a:spcPts val="0"/>
                        </a:spcAft>
                        <a:buNone/>
                      </a:pPr>
                      <a:r>
                        <a:rPr b="0" lang="en-US" sz="1800" strike="noStrike">
                          <a:latin typeface="Arial"/>
                          <a:ea typeface="Arial"/>
                          <a:cs typeface="Arial"/>
                          <a:sym typeface="Arial"/>
                        </a:rPr>
                        <a:t>Field </a:t>
                      </a:r>
                      <a:endParaRPr b="0" sz="18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0" lang="en-US" sz="1800" strike="noStrike">
                          <a:latin typeface="Arial"/>
                          <a:ea typeface="Arial"/>
                          <a:cs typeface="Arial"/>
                          <a:sym typeface="Arial"/>
                        </a:rPr>
                        <a:t>Why it is non-negotiable </a:t>
                      </a:r>
                      <a:endParaRPr b="0" sz="18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r>
              <a:tr h="318950">
                <a:tc>
                  <a:txBody>
                    <a:bodyPr/>
                    <a:lstStyle/>
                    <a:p>
                      <a:pPr indent="0" lvl="0" marL="0" marR="0" rtl="0" algn="l">
                        <a:spcBef>
                          <a:spcPts val="0"/>
                        </a:spcBef>
                        <a:spcAft>
                          <a:spcPts val="0"/>
                        </a:spcAft>
                        <a:buNone/>
                      </a:pPr>
                      <a:r>
                        <a:rPr b="0" lang="en-US" sz="1200" strike="noStrike">
                          <a:latin typeface="Arial"/>
                          <a:ea typeface="Arial"/>
                          <a:cs typeface="Arial"/>
                          <a:sym typeface="Arial"/>
                        </a:rPr>
                        <a:t>Patient/subject ID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The single key linking a sample to its clinical context — must be unique, always.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1475">
                <a:tc>
                  <a:txBody>
                    <a:bodyPr/>
                    <a:lstStyle/>
                    <a:p>
                      <a:pPr indent="0" lvl="0" marL="0" marR="0" rtl="0" algn="l">
                        <a:spcBef>
                          <a:spcPts val="0"/>
                        </a:spcBef>
                        <a:spcAft>
                          <a:spcPts val="0"/>
                        </a:spcAft>
                        <a:buNone/>
                      </a:pPr>
                      <a:r>
                        <a:rPr b="0" lang="en-US" sz="1200" strike="noStrike">
                          <a:latin typeface="Arial"/>
                          <a:ea typeface="Arial"/>
                          <a:cs typeface="Arial"/>
                          <a:sym typeface="Arial"/>
                        </a:rPr>
                        <a:t>Sample type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Tumor tissue, blood, saliva, etc. — determines what analyses are even valid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6275">
                <a:tc>
                  <a:txBody>
                    <a:bodyPr/>
                    <a:lstStyle/>
                    <a:p>
                      <a:pPr indent="0" lvl="0" marL="0" marR="0" rtl="0" algn="l">
                        <a:spcBef>
                          <a:spcPts val="0"/>
                        </a:spcBef>
                        <a:spcAft>
                          <a:spcPts val="0"/>
                        </a:spcAft>
                        <a:buNone/>
                      </a:pPr>
                      <a:r>
                        <a:rPr b="0" lang="en-US" sz="1200" strike="noStrike">
                          <a:latin typeface="Arial"/>
                          <a:ea typeface="Arial"/>
                          <a:cs typeface="Arial"/>
                          <a:sym typeface="Arial"/>
                        </a:rPr>
                        <a:t>Collection date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Anchors the sample in time relative to diagnosis, treatment, and the patient’s age.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83325">
                <a:tc>
                  <a:txBody>
                    <a:bodyPr/>
                    <a:lstStyle/>
                    <a:p>
                      <a:pPr indent="0" lvl="0" marL="0" marR="0" rtl="0" algn="l">
                        <a:spcBef>
                          <a:spcPts val="0"/>
                        </a:spcBef>
                        <a:spcAft>
                          <a:spcPts val="0"/>
                        </a:spcAft>
                        <a:buNone/>
                      </a:pPr>
                      <a:r>
                        <a:rPr b="0" lang="en-US" sz="1200" strike="noStrike">
                          <a:solidFill>
                            <a:srgbClr val="F10D0C"/>
                          </a:solidFill>
                          <a:latin typeface="Arial"/>
                          <a:ea typeface="Arial"/>
                          <a:cs typeface="Arial"/>
                          <a:sym typeface="Arial"/>
                        </a:rPr>
                        <a:t>Diagnosis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Ideally from a controlled vocabulary, not free text.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6000">
                <a:tc>
                  <a:txBody>
                    <a:bodyPr/>
                    <a:lstStyle/>
                    <a:p>
                      <a:pPr indent="0" lvl="0" marL="0" marR="0" rtl="0" algn="l">
                        <a:spcBef>
                          <a:spcPts val="0"/>
                        </a:spcBef>
                        <a:spcAft>
                          <a:spcPts val="0"/>
                        </a:spcAft>
                        <a:buNone/>
                      </a:pPr>
                      <a:r>
                        <a:rPr b="0" lang="en-US" sz="1200" strike="noStrike">
                          <a:solidFill>
                            <a:srgbClr val="F10D0C"/>
                          </a:solidFill>
                          <a:latin typeface="Arial"/>
                          <a:ea typeface="Arial"/>
                          <a:cs typeface="Arial"/>
                          <a:sym typeface="Arial"/>
                        </a:rPr>
                        <a:t>Age at collection</a:t>
                      </a:r>
                      <a:r>
                        <a:rPr b="0" lang="en-US" sz="1200" strike="noStrike">
                          <a:latin typeface="Arial"/>
                          <a:ea typeface="Arial"/>
                          <a:cs typeface="Arial"/>
                          <a:sym typeface="Arial"/>
                        </a:rPr>
                        <a:t>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Needed for almost any biological interpretation.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2750">
                <a:tc>
                  <a:txBody>
                    <a:bodyPr/>
                    <a:lstStyle/>
                    <a:p>
                      <a:pPr indent="0" lvl="0" marL="0" marR="0" rtl="0" algn="l">
                        <a:spcBef>
                          <a:spcPts val="0"/>
                        </a:spcBef>
                        <a:spcAft>
                          <a:spcPts val="0"/>
                        </a:spcAft>
                        <a:buNone/>
                      </a:pPr>
                      <a:r>
                        <a:rPr b="0" lang="en-US" sz="1200" strike="noStrike">
                          <a:solidFill>
                            <a:srgbClr val="F10D0C"/>
                          </a:solidFill>
                          <a:latin typeface="Arial"/>
                          <a:ea typeface="Arial"/>
                          <a:cs typeface="Arial"/>
                          <a:sym typeface="Arial"/>
                        </a:rPr>
                        <a:t>Consent status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Whether the sample can legally and ethically be used for research at all.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cxnSp>
        <p:nvCxnSpPr>
          <p:cNvPr id="202" name="Google Shape;202;p26"/>
          <p:cNvCxnSpPr/>
          <p:nvPr/>
        </p:nvCxnSpPr>
        <p:spPr>
          <a:xfrm>
            <a:off x="180000" y="540000"/>
            <a:ext cx="7920000" cy="0"/>
          </a:xfrm>
          <a:prstGeom prst="straightConnector1">
            <a:avLst/>
          </a:prstGeom>
          <a:noFill/>
          <a:ln cap="flat" cmpd="sng" w="36000">
            <a:solidFill>
              <a:srgbClr val="468A1A"/>
            </a:solidFill>
            <a:prstDash val="solid"/>
            <a:round/>
            <a:headEnd len="sm" w="sm" type="none"/>
            <a:tailEnd len="sm" w="sm" type="none"/>
          </a:ln>
        </p:spPr>
      </p:cxnSp>
      <p:sp>
        <p:nvSpPr>
          <p:cNvPr id="203" name="Google Shape;203;p26"/>
          <p:cNvSpPr txBox="1"/>
          <p:nvPr/>
        </p:nvSpPr>
        <p:spPr>
          <a:xfrm>
            <a:off x="192960" y="72000"/>
            <a:ext cx="6107040" cy="468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2200" strike="noStrike">
                <a:solidFill>
                  <a:srgbClr val="468A1A"/>
                </a:solidFill>
                <a:latin typeface="Arial"/>
                <a:ea typeface="Arial"/>
                <a:cs typeface="Arial"/>
                <a:sym typeface="Arial"/>
              </a:rPr>
              <a:t>Part 2 — What Good Metadata Looks Like</a:t>
            </a:r>
            <a:endParaRPr b="0" sz="2200" strike="noStrike">
              <a:latin typeface="Arial"/>
              <a:ea typeface="Arial"/>
              <a:cs typeface="Arial"/>
              <a:sym typeface="Arial"/>
            </a:endParaRPr>
          </a:p>
        </p:txBody>
      </p:sp>
      <p:sp>
        <p:nvSpPr>
          <p:cNvPr id="204" name="Google Shape;204;p26"/>
          <p:cNvSpPr txBox="1"/>
          <p:nvPr/>
        </p:nvSpPr>
        <p:spPr>
          <a:xfrm>
            <a:off x="2076013" y="975150"/>
            <a:ext cx="5928600" cy="3837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1200">
                <a:solidFill>
                  <a:srgbClr val="C9211E"/>
                </a:solidFill>
              </a:rPr>
              <a:t>TEXT FIELDS IN METADATA ARE ALWAYS A SOURCE OF POTENTIAL ERROR</a:t>
            </a:r>
            <a:r>
              <a:rPr b="1" lang="en-US" sz="1200"/>
              <a:t>.</a:t>
            </a:r>
            <a:endParaRPr b="1" sz="1200"/>
          </a:p>
        </p:txBody>
      </p:sp>
      <p:sp>
        <p:nvSpPr>
          <p:cNvPr id="205" name="Google Shape;205;p26"/>
          <p:cNvSpPr txBox="1"/>
          <p:nvPr/>
        </p:nvSpPr>
        <p:spPr>
          <a:xfrm>
            <a:off x="1260000" y="3924360"/>
            <a:ext cx="7560000" cy="772920"/>
          </a:xfrm>
          <a:prstGeom prst="rect">
            <a:avLst/>
          </a:prstGeom>
          <a:noFill/>
          <a:ln>
            <a:noFill/>
          </a:ln>
        </p:spPr>
        <p:txBody>
          <a:bodyPr anchorCtr="1" anchor="t" bIns="45000" lIns="90000" spcFirstLastPara="1" rIns="90000" wrap="square" tIns="45000">
            <a:noAutofit/>
          </a:bodyPr>
          <a:lstStyle/>
          <a:p>
            <a:pPr indent="0" lvl="0" marL="0" marR="0" rtl="0" algn="ctr">
              <a:lnSpc>
                <a:spcPct val="100000"/>
              </a:lnSpc>
              <a:spcBef>
                <a:spcPts val="0"/>
              </a:spcBef>
              <a:spcAft>
                <a:spcPts val="0"/>
              </a:spcAft>
              <a:buNone/>
            </a:pPr>
            <a:r>
              <a:rPr b="0" lang="en-US" sz="1200" strike="noStrike">
                <a:latin typeface="Arial"/>
                <a:ea typeface="Arial"/>
                <a:cs typeface="Arial"/>
                <a:sym typeface="Arial"/>
              </a:rPr>
              <a:t>Platform aimed at managing clinical data implement strategies to avoid this variability!</a:t>
            </a:r>
            <a:endParaRPr b="0" sz="1200" strike="noStrike">
              <a:latin typeface="Arial"/>
              <a:ea typeface="Arial"/>
              <a:cs typeface="Arial"/>
              <a:sym typeface="Arial"/>
            </a:endParaRPr>
          </a:p>
          <a:p>
            <a:pPr indent="0" lvl="0" marL="0" marR="0" rtl="0" algn="ctr">
              <a:lnSpc>
                <a:spcPct val="100000"/>
              </a:lnSpc>
              <a:spcBef>
                <a:spcPts val="566"/>
              </a:spcBef>
              <a:spcAft>
                <a:spcPts val="0"/>
              </a:spcAft>
              <a:buNone/>
            </a:pPr>
            <a:r>
              <a:rPr b="0" lang="en-US" sz="1200" strike="noStrike">
                <a:latin typeface="Arial"/>
                <a:ea typeface="Arial"/>
                <a:cs typeface="Arial"/>
                <a:sym typeface="Arial"/>
              </a:rPr>
              <a:t>Age is a calculated field, diagnosis can only be </a:t>
            </a:r>
            <a:r>
              <a:rPr lang="en-US" sz="1200"/>
              <a:t>selected</a:t>
            </a:r>
            <a:r>
              <a:rPr b="0" lang="en-US" sz="1200" strike="noStrike">
                <a:latin typeface="Arial"/>
                <a:ea typeface="Arial"/>
                <a:cs typeface="Arial"/>
                <a:sym typeface="Arial"/>
              </a:rPr>
              <a:t> between </a:t>
            </a:r>
            <a:r>
              <a:rPr lang="en-US" sz="1200"/>
              <a:t>Ontology</a:t>
            </a:r>
            <a:r>
              <a:rPr b="0" lang="en-US" sz="1200" strike="noStrike">
                <a:latin typeface="Arial"/>
                <a:ea typeface="Arial"/>
                <a:cs typeface="Arial"/>
                <a:sym typeface="Arial"/>
              </a:rPr>
              <a:t> terms. </a:t>
            </a:r>
            <a:endParaRPr b="0" sz="1200" strike="noStrike">
              <a:latin typeface="Arial"/>
              <a:ea typeface="Arial"/>
              <a:cs typeface="Arial"/>
              <a:sym typeface="Arial"/>
            </a:endParaRPr>
          </a:p>
          <a:p>
            <a:pPr indent="0" lvl="0" marL="0" marR="0" rtl="0" algn="ctr">
              <a:lnSpc>
                <a:spcPct val="100000"/>
              </a:lnSpc>
              <a:spcBef>
                <a:spcPts val="566"/>
              </a:spcBef>
              <a:spcAft>
                <a:spcPts val="0"/>
              </a:spcAft>
              <a:buNone/>
            </a:pPr>
            <a:r>
              <a:rPr b="1" lang="en-US" sz="1200" strike="noStrike">
                <a:latin typeface="Arial"/>
                <a:ea typeface="Arial"/>
                <a:cs typeface="Arial"/>
                <a:sym typeface="Arial"/>
              </a:rPr>
              <a:t>As a general rule, any text field that can be turned into a </a:t>
            </a:r>
            <a:r>
              <a:rPr b="1" lang="en-US" sz="1200"/>
              <a:t>multiple</a:t>
            </a:r>
            <a:r>
              <a:rPr b="1" lang="en-US" sz="1200" strike="noStrike">
                <a:latin typeface="Arial"/>
                <a:ea typeface="Arial"/>
                <a:cs typeface="Arial"/>
                <a:sym typeface="Arial"/>
              </a:rPr>
              <a:t> choice, is one less source of error. </a:t>
            </a:r>
            <a:endParaRPr b="0" sz="1200" strike="noStrike">
              <a:latin typeface="Arial"/>
              <a:ea typeface="Arial"/>
              <a:cs typeface="Arial"/>
              <a:sym typeface="Arial"/>
            </a:endParaRPr>
          </a:p>
        </p:txBody>
      </p:sp>
      <p:pic>
        <p:nvPicPr>
          <p:cNvPr id="206" name="Google Shape;206;p26"/>
          <p:cNvPicPr preferRelativeResize="0"/>
          <p:nvPr/>
        </p:nvPicPr>
        <p:blipFill rotWithShape="1">
          <a:blip r:embed="rId3">
            <a:alphaModFix/>
          </a:blip>
          <a:srcRect b="6024" l="3068" r="50157" t="50037"/>
          <a:stretch/>
        </p:blipFill>
        <p:spPr>
          <a:xfrm>
            <a:off x="1411825" y="761303"/>
            <a:ext cx="664202" cy="62392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graphicFrame>
        <p:nvGraphicFramePr>
          <p:cNvPr id="211" name="Google Shape;211;p27"/>
          <p:cNvGraphicFramePr/>
          <p:nvPr/>
        </p:nvGraphicFramePr>
        <p:xfrm>
          <a:off x="1307880" y="1581120"/>
          <a:ext cx="3000000" cy="3000000"/>
        </p:xfrm>
        <a:graphic>
          <a:graphicData uri="http://schemas.openxmlformats.org/drawingml/2006/table">
            <a:tbl>
              <a:tblPr>
                <a:noFill/>
                <a:tableStyleId>{FBF6C270-3839-495F-BF6B-5D2B0D70D4C5}</a:tableStyleId>
              </a:tblPr>
              <a:tblGrid>
                <a:gridCol w="1361150"/>
                <a:gridCol w="6103450"/>
              </a:tblGrid>
              <a:tr h="328325">
                <a:tc>
                  <a:txBody>
                    <a:bodyPr/>
                    <a:lstStyle/>
                    <a:p>
                      <a:pPr indent="0" lvl="0" marL="0" marR="0" rtl="0" algn="l">
                        <a:spcBef>
                          <a:spcPts val="0"/>
                        </a:spcBef>
                        <a:spcAft>
                          <a:spcPts val="0"/>
                        </a:spcAft>
                        <a:buNone/>
                      </a:pPr>
                      <a:r>
                        <a:rPr b="0" lang="en-US" sz="1800" strike="noStrike">
                          <a:latin typeface="Arial"/>
                          <a:ea typeface="Arial"/>
                          <a:cs typeface="Arial"/>
                          <a:sym typeface="Arial"/>
                        </a:rPr>
                        <a:t>Field </a:t>
                      </a:r>
                      <a:endParaRPr b="0" sz="18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0" lang="en-US" sz="1800" strike="noStrike">
                          <a:latin typeface="Arial"/>
                          <a:ea typeface="Arial"/>
                          <a:cs typeface="Arial"/>
                          <a:sym typeface="Arial"/>
                        </a:rPr>
                        <a:t>Why it is non-negotiable </a:t>
                      </a:r>
                      <a:endParaRPr b="0" sz="18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r>
              <a:tr h="318950">
                <a:tc>
                  <a:txBody>
                    <a:bodyPr/>
                    <a:lstStyle/>
                    <a:p>
                      <a:pPr indent="0" lvl="0" marL="0" marR="0" rtl="0" algn="l">
                        <a:spcBef>
                          <a:spcPts val="0"/>
                        </a:spcBef>
                        <a:spcAft>
                          <a:spcPts val="0"/>
                        </a:spcAft>
                        <a:buNone/>
                      </a:pPr>
                      <a:r>
                        <a:rPr b="0" lang="en-US" sz="1200" strike="noStrike">
                          <a:latin typeface="Arial"/>
                          <a:ea typeface="Arial"/>
                          <a:cs typeface="Arial"/>
                          <a:sym typeface="Arial"/>
                        </a:rPr>
                        <a:t>Patient/subject ID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The single key linking a sample to its clinical context — must be unique, always.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1475">
                <a:tc>
                  <a:txBody>
                    <a:bodyPr/>
                    <a:lstStyle/>
                    <a:p>
                      <a:pPr indent="0" lvl="0" marL="0" marR="0" rtl="0" algn="l">
                        <a:spcBef>
                          <a:spcPts val="0"/>
                        </a:spcBef>
                        <a:spcAft>
                          <a:spcPts val="0"/>
                        </a:spcAft>
                        <a:buNone/>
                      </a:pPr>
                      <a:r>
                        <a:rPr b="0" lang="en-US" sz="1200" strike="noStrike">
                          <a:latin typeface="Arial"/>
                          <a:ea typeface="Arial"/>
                          <a:cs typeface="Arial"/>
                          <a:sym typeface="Arial"/>
                        </a:rPr>
                        <a:t>Sample type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Tumor tissue, blood, saliva, etc. — determines what analyses are even valid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6275">
                <a:tc>
                  <a:txBody>
                    <a:bodyPr/>
                    <a:lstStyle/>
                    <a:p>
                      <a:pPr indent="0" lvl="0" marL="0" marR="0" rtl="0" algn="l">
                        <a:spcBef>
                          <a:spcPts val="0"/>
                        </a:spcBef>
                        <a:spcAft>
                          <a:spcPts val="0"/>
                        </a:spcAft>
                        <a:buNone/>
                      </a:pPr>
                      <a:r>
                        <a:rPr b="0" lang="en-US" sz="1200" strike="noStrike">
                          <a:latin typeface="Arial"/>
                          <a:ea typeface="Arial"/>
                          <a:cs typeface="Arial"/>
                          <a:sym typeface="Arial"/>
                        </a:rPr>
                        <a:t>Collection date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Anchors the sample in time relative to diagnosis, treatment, and the patient’s age.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83325">
                <a:tc>
                  <a:txBody>
                    <a:bodyPr/>
                    <a:lstStyle/>
                    <a:p>
                      <a:pPr indent="0" lvl="0" marL="0" marR="0" rtl="0" algn="l">
                        <a:spcBef>
                          <a:spcPts val="0"/>
                        </a:spcBef>
                        <a:spcAft>
                          <a:spcPts val="0"/>
                        </a:spcAft>
                        <a:buNone/>
                      </a:pPr>
                      <a:r>
                        <a:rPr b="0" lang="en-US" sz="1200" strike="noStrike">
                          <a:solidFill>
                            <a:srgbClr val="F10D0C"/>
                          </a:solidFill>
                          <a:latin typeface="Arial"/>
                          <a:ea typeface="Arial"/>
                          <a:cs typeface="Arial"/>
                          <a:sym typeface="Arial"/>
                        </a:rPr>
                        <a:t>Diagnosis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Ideally from a controlled vocabulary, not free text.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6000">
                <a:tc>
                  <a:txBody>
                    <a:bodyPr/>
                    <a:lstStyle/>
                    <a:p>
                      <a:pPr indent="0" lvl="0" marL="0" marR="0" rtl="0" algn="l">
                        <a:spcBef>
                          <a:spcPts val="0"/>
                        </a:spcBef>
                        <a:spcAft>
                          <a:spcPts val="0"/>
                        </a:spcAft>
                        <a:buNone/>
                      </a:pPr>
                      <a:r>
                        <a:rPr b="0" lang="en-US" sz="1200" strike="noStrike">
                          <a:solidFill>
                            <a:srgbClr val="F10D0C"/>
                          </a:solidFill>
                          <a:latin typeface="Arial"/>
                          <a:ea typeface="Arial"/>
                          <a:cs typeface="Arial"/>
                          <a:sym typeface="Arial"/>
                        </a:rPr>
                        <a:t>Age at collection</a:t>
                      </a:r>
                      <a:r>
                        <a:rPr b="0" lang="en-US" sz="1200" strike="noStrike">
                          <a:latin typeface="Arial"/>
                          <a:ea typeface="Arial"/>
                          <a:cs typeface="Arial"/>
                          <a:sym typeface="Arial"/>
                        </a:rPr>
                        <a:t>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Needed for almost any biological interpretation.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2750">
                <a:tc>
                  <a:txBody>
                    <a:bodyPr/>
                    <a:lstStyle/>
                    <a:p>
                      <a:pPr indent="0" lvl="0" marL="0" marR="0" rtl="0" algn="l">
                        <a:spcBef>
                          <a:spcPts val="0"/>
                        </a:spcBef>
                        <a:spcAft>
                          <a:spcPts val="0"/>
                        </a:spcAft>
                        <a:buNone/>
                      </a:pPr>
                      <a:r>
                        <a:rPr b="0" lang="en-US" sz="1200" strike="noStrike">
                          <a:solidFill>
                            <a:srgbClr val="F10D0C"/>
                          </a:solidFill>
                          <a:latin typeface="Arial"/>
                          <a:ea typeface="Arial"/>
                          <a:cs typeface="Arial"/>
                          <a:sym typeface="Arial"/>
                        </a:rPr>
                        <a:t>Consent status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Whether the sample can legally and ethically be used for research at all.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cxnSp>
        <p:nvCxnSpPr>
          <p:cNvPr id="212" name="Google Shape;212;p27"/>
          <p:cNvCxnSpPr/>
          <p:nvPr/>
        </p:nvCxnSpPr>
        <p:spPr>
          <a:xfrm>
            <a:off x="180000" y="540000"/>
            <a:ext cx="7920000" cy="0"/>
          </a:xfrm>
          <a:prstGeom prst="straightConnector1">
            <a:avLst/>
          </a:prstGeom>
          <a:noFill/>
          <a:ln cap="flat" cmpd="sng" w="36000">
            <a:solidFill>
              <a:srgbClr val="468A1A"/>
            </a:solidFill>
            <a:prstDash val="solid"/>
            <a:round/>
            <a:headEnd len="sm" w="sm" type="none"/>
            <a:tailEnd len="sm" w="sm" type="none"/>
          </a:ln>
        </p:spPr>
      </p:cxnSp>
      <p:sp>
        <p:nvSpPr>
          <p:cNvPr id="213" name="Google Shape;213;p27"/>
          <p:cNvSpPr txBox="1"/>
          <p:nvPr/>
        </p:nvSpPr>
        <p:spPr>
          <a:xfrm>
            <a:off x="192960" y="72000"/>
            <a:ext cx="6107040" cy="468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2200" strike="noStrike">
                <a:solidFill>
                  <a:srgbClr val="468A1A"/>
                </a:solidFill>
                <a:latin typeface="Arial"/>
                <a:ea typeface="Arial"/>
                <a:cs typeface="Arial"/>
                <a:sym typeface="Arial"/>
              </a:rPr>
              <a:t>Part 2 — What Good Metadata Looks Like</a:t>
            </a:r>
            <a:endParaRPr b="0" sz="2200" strike="noStrike">
              <a:latin typeface="Arial"/>
              <a:ea typeface="Arial"/>
              <a:cs typeface="Arial"/>
              <a:sym typeface="Arial"/>
            </a:endParaRPr>
          </a:p>
        </p:txBody>
      </p:sp>
      <p:sp>
        <p:nvSpPr>
          <p:cNvPr id="214" name="Google Shape;214;p27"/>
          <p:cNvSpPr txBox="1"/>
          <p:nvPr/>
        </p:nvSpPr>
        <p:spPr>
          <a:xfrm>
            <a:off x="1260000" y="3924360"/>
            <a:ext cx="7560000" cy="772920"/>
          </a:xfrm>
          <a:prstGeom prst="rect">
            <a:avLst/>
          </a:prstGeom>
          <a:noFill/>
          <a:ln>
            <a:noFill/>
          </a:ln>
        </p:spPr>
        <p:txBody>
          <a:bodyPr anchorCtr="1" anchor="t" bIns="45000" lIns="90000" spcFirstLastPara="1" rIns="90000" wrap="square" tIns="45000">
            <a:noAutofit/>
          </a:bodyPr>
          <a:lstStyle/>
          <a:p>
            <a:pPr indent="0" lvl="0" marL="0" marR="0" rtl="0" algn="ctr">
              <a:lnSpc>
                <a:spcPct val="100000"/>
              </a:lnSpc>
              <a:spcBef>
                <a:spcPts val="0"/>
              </a:spcBef>
              <a:spcAft>
                <a:spcPts val="0"/>
              </a:spcAft>
              <a:buNone/>
            </a:pPr>
            <a:r>
              <a:rPr b="0" lang="en-US" sz="1200" strike="noStrike">
                <a:latin typeface="Arial"/>
                <a:ea typeface="Arial"/>
                <a:cs typeface="Arial"/>
                <a:sym typeface="Arial"/>
              </a:rPr>
              <a:t>Platform aimed at managing clinical data implement strategies to avoid this variability!</a:t>
            </a:r>
            <a:endParaRPr b="0" sz="1200" strike="noStrike">
              <a:latin typeface="Arial"/>
              <a:ea typeface="Arial"/>
              <a:cs typeface="Arial"/>
              <a:sym typeface="Arial"/>
            </a:endParaRPr>
          </a:p>
          <a:p>
            <a:pPr indent="0" lvl="0" marL="0" marR="0" rtl="0" algn="ctr">
              <a:lnSpc>
                <a:spcPct val="100000"/>
              </a:lnSpc>
              <a:spcBef>
                <a:spcPts val="566"/>
              </a:spcBef>
              <a:spcAft>
                <a:spcPts val="0"/>
              </a:spcAft>
              <a:buNone/>
            </a:pPr>
            <a:r>
              <a:rPr b="0" lang="en-US" sz="1200" strike="noStrike">
                <a:latin typeface="Arial"/>
                <a:ea typeface="Arial"/>
                <a:cs typeface="Arial"/>
                <a:sym typeface="Arial"/>
              </a:rPr>
              <a:t>Age is a calculated field, diagnosis can only be </a:t>
            </a:r>
            <a:r>
              <a:rPr lang="en-US" sz="1200"/>
              <a:t>selected</a:t>
            </a:r>
            <a:r>
              <a:rPr b="0" lang="en-US" sz="1200" strike="noStrike">
                <a:latin typeface="Arial"/>
                <a:ea typeface="Arial"/>
                <a:cs typeface="Arial"/>
                <a:sym typeface="Arial"/>
              </a:rPr>
              <a:t> between </a:t>
            </a:r>
            <a:r>
              <a:rPr lang="en-US" sz="1200"/>
              <a:t>Ontology</a:t>
            </a:r>
            <a:r>
              <a:rPr b="0" lang="en-US" sz="1200" strike="noStrike">
                <a:latin typeface="Arial"/>
                <a:ea typeface="Arial"/>
                <a:cs typeface="Arial"/>
                <a:sym typeface="Arial"/>
              </a:rPr>
              <a:t> terms. </a:t>
            </a:r>
            <a:endParaRPr b="0" sz="1200" strike="noStrike">
              <a:latin typeface="Arial"/>
              <a:ea typeface="Arial"/>
              <a:cs typeface="Arial"/>
              <a:sym typeface="Arial"/>
            </a:endParaRPr>
          </a:p>
          <a:p>
            <a:pPr indent="0" lvl="0" marL="0" marR="0" rtl="0" algn="ctr">
              <a:lnSpc>
                <a:spcPct val="100000"/>
              </a:lnSpc>
              <a:spcBef>
                <a:spcPts val="566"/>
              </a:spcBef>
              <a:spcAft>
                <a:spcPts val="0"/>
              </a:spcAft>
              <a:buNone/>
            </a:pPr>
            <a:r>
              <a:rPr b="1" lang="en-US" sz="1200" strike="noStrike">
                <a:latin typeface="Arial"/>
                <a:ea typeface="Arial"/>
                <a:cs typeface="Arial"/>
                <a:sym typeface="Arial"/>
              </a:rPr>
              <a:t>As a general rule, any text field that can be turned into a </a:t>
            </a:r>
            <a:r>
              <a:rPr b="1" lang="en-US" sz="1200"/>
              <a:t>multiple</a:t>
            </a:r>
            <a:r>
              <a:rPr b="1" lang="en-US" sz="1200" strike="noStrike">
                <a:latin typeface="Arial"/>
                <a:ea typeface="Arial"/>
                <a:cs typeface="Arial"/>
                <a:sym typeface="Arial"/>
              </a:rPr>
              <a:t> choice, is one less source of error. </a:t>
            </a:r>
            <a:endParaRPr b="0" sz="1200" strike="noStrike">
              <a:latin typeface="Arial"/>
              <a:ea typeface="Arial"/>
              <a:cs typeface="Arial"/>
              <a:sym typeface="Arial"/>
            </a:endParaRPr>
          </a:p>
        </p:txBody>
      </p:sp>
      <p:sp>
        <p:nvSpPr>
          <p:cNvPr id="215" name="Google Shape;215;p27"/>
          <p:cNvSpPr txBox="1"/>
          <p:nvPr/>
        </p:nvSpPr>
        <p:spPr>
          <a:xfrm>
            <a:off x="2700000" y="4896000"/>
            <a:ext cx="4320000" cy="360000"/>
          </a:xfrm>
          <a:prstGeom prst="rect">
            <a:avLst/>
          </a:prstGeom>
          <a:noFill/>
          <a:ln>
            <a:noFill/>
          </a:ln>
        </p:spPr>
        <p:txBody>
          <a:bodyPr anchorCtr="1" anchor="t" bIns="45000" lIns="90000" spcFirstLastPara="1" rIns="90000" wrap="square" tIns="45000">
            <a:noAutofit/>
          </a:bodyPr>
          <a:lstStyle/>
          <a:p>
            <a:pPr indent="0" lvl="0" marL="0" marR="0" rtl="0" algn="ctr">
              <a:spcBef>
                <a:spcPts val="0"/>
              </a:spcBef>
              <a:spcAft>
                <a:spcPts val="0"/>
              </a:spcAft>
              <a:buNone/>
            </a:pPr>
            <a:r>
              <a:rPr b="1" lang="en-US" sz="1800" strike="noStrike">
                <a:latin typeface="Arial"/>
                <a:ea typeface="Arial"/>
                <a:cs typeface="Arial"/>
                <a:sym typeface="Arial"/>
              </a:rPr>
              <a:t>This can be done in any spreadsheet! </a:t>
            </a:r>
            <a:endParaRPr b="0" sz="1800" strike="noStrike">
              <a:latin typeface="Arial"/>
              <a:ea typeface="Arial"/>
              <a:cs typeface="Arial"/>
              <a:sym typeface="Arial"/>
            </a:endParaRPr>
          </a:p>
        </p:txBody>
      </p:sp>
      <p:sp>
        <p:nvSpPr>
          <p:cNvPr id="216" name="Google Shape;216;p27"/>
          <p:cNvSpPr txBox="1"/>
          <p:nvPr/>
        </p:nvSpPr>
        <p:spPr>
          <a:xfrm>
            <a:off x="2076013" y="975150"/>
            <a:ext cx="5928600" cy="3837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1200">
                <a:solidFill>
                  <a:srgbClr val="C9211E"/>
                </a:solidFill>
              </a:rPr>
              <a:t>TEXT FIELDS IN METADATA ARE ALWAYS A SOURCE OF POTENTIAL ERROR</a:t>
            </a:r>
            <a:r>
              <a:rPr b="1" lang="en-US" sz="1200"/>
              <a:t>.</a:t>
            </a:r>
            <a:endParaRPr b="1" sz="1200"/>
          </a:p>
        </p:txBody>
      </p:sp>
      <p:pic>
        <p:nvPicPr>
          <p:cNvPr id="217" name="Google Shape;217;p27"/>
          <p:cNvPicPr preferRelativeResize="0"/>
          <p:nvPr/>
        </p:nvPicPr>
        <p:blipFill rotWithShape="1">
          <a:blip r:embed="rId3">
            <a:alphaModFix/>
          </a:blip>
          <a:srcRect b="6024" l="3068" r="50157" t="50037"/>
          <a:stretch/>
        </p:blipFill>
        <p:spPr>
          <a:xfrm>
            <a:off x="1411825" y="761303"/>
            <a:ext cx="664202" cy="62392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graphicFrame>
        <p:nvGraphicFramePr>
          <p:cNvPr id="222" name="Google Shape;222;p28"/>
          <p:cNvGraphicFramePr/>
          <p:nvPr/>
        </p:nvGraphicFramePr>
        <p:xfrm>
          <a:off x="1307880" y="1581120"/>
          <a:ext cx="3000000" cy="3000000"/>
        </p:xfrm>
        <a:graphic>
          <a:graphicData uri="http://schemas.openxmlformats.org/drawingml/2006/table">
            <a:tbl>
              <a:tblPr>
                <a:noFill/>
                <a:tableStyleId>{FBF6C270-3839-495F-BF6B-5D2B0D70D4C5}</a:tableStyleId>
              </a:tblPr>
              <a:tblGrid>
                <a:gridCol w="1361150"/>
                <a:gridCol w="6103450"/>
              </a:tblGrid>
              <a:tr h="328325">
                <a:tc>
                  <a:txBody>
                    <a:bodyPr/>
                    <a:lstStyle/>
                    <a:p>
                      <a:pPr indent="0" lvl="0" marL="0" marR="0" rtl="0" algn="l">
                        <a:spcBef>
                          <a:spcPts val="0"/>
                        </a:spcBef>
                        <a:spcAft>
                          <a:spcPts val="0"/>
                        </a:spcAft>
                        <a:buNone/>
                      </a:pPr>
                      <a:r>
                        <a:rPr b="0" lang="en-US" sz="1800" strike="noStrike">
                          <a:latin typeface="Arial"/>
                          <a:ea typeface="Arial"/>
                          <a:cs typeface="Arial"/>
                          <a:sym typeface="Arial"/>
                        </a:rPr>
                        <a:t>Field </a:t>
                      </a:r>
                      <a:endParaRPr b="0" sz="18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0" lang="en-US" sz="1800" strike="noStrike">
                          <a:latin typeface="Arial"/>
                          <a:ea typeface="Arial"/>
                          <a:cs typeface="Arial"/>
                          <a:sym typeface="Arial"/>
                        </a:rPr>
                        <a:t>Why it is non-negotiable </a:t>
                      </a:r>
                      <a:endParaRPr b="0" sz="18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r>
              <a:tr h="318950">
                <a:tc>
                  <a:txBody>
                    <a:bodyPr/>
                    <a:lstStyle/>
                    <a:p>
                      <a:pPr indent="0" lvl="0" marL="0" marR="0" rtl="0" algn="l">
                        <a:spcBef>
                          <a:spcPts val="0"/>
                        </a:spcBef>
                        <a:spcAft>
                          <a:spcPts val="0"/>
                        </a:spcAft>
                        <a:buNone/>
                      </a:pPr>
                      <a:r>
                        <a:rPr b="0" lang="en-US" sz="1200" strike="noStrike">
                          <a:latin typeface="Arial"/>
                          <a:ea typeface="Arial"/>
                          <a:cs typeface="Arial"/>
                          <a:sym typeface="Arial"/>
                        </a:rPr>
                        <a:t>Patient/subject ID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The single key linking a sample to its clinical context — must be unique, always.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1475">
                <a:tc>
                  <a:txBody>
                    <a:bodyPr/>
                    <a:lstStyle/>
                    <a:p>
                      <a:pPr indent="0" lvl="0" marL="0" marR="0" rtl="0" algn="l">
                        <a:spcBef>
                          <a:spcPts val="0"/>
                        </a:spcBef>
                        <a:spcAft>
                          <a:spcPts val="0"/>
                        </a:spcAft>
                        <a:buNone/>
                      </a:pPr>
                      <a:r>
                        <a:rPr b="0" lang="en-US" sz="1200" strike="noStrike">
                          <a:latin typeface="Arial"/>
                          <a:ea typeface="Arial"/>
                          <a:cs typeface="Arial"/>
                          <a:sym typeface="Arial"/>
                        </a:rPr>
                        <a:t>Sample type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Tumor tissue, blood, saliva, etc. — determines what analyses are even valid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6275">
                <a:tc>
                  <a:txBody>
                    <a:bodyPr/>
                    <a:lstStyle/>
                    <a:p>
                      <a:pPr indent="0" lvl="0" marL="0" marR="0" rtl="0" algn="l">
                        <a:spcBef>
                          <a:spcPts val="0"/>
                        </a:spcBef>
                        <a:spcAft>
                          <a:spcPts val="0"/>
                        </a:spcAft>
                        <a:buNone/>
                      </a:pPr>
                      <a:r>
                        <a:rPr b="0" lang="en-US" sz="1200" strike="noStrike">
                          <a:latin typeface="Arial"/>
                          <a:ea typeface="Arial"/>
                          <a:cs typeface="Arial"/>
                          <a:sym typeface="Arial"/>
                        </a:rPr>
                        <a:t>Collection date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Anchors the sample in time relative to diagnosis, treatment, and the patient’s age.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83325">
                <a:tc>
                  <a:txBody>
                    <a:bodyPr/>
                    <a:lstStyle/>
                    <a:p>
                      <a:pPr indent="0" lvl="0" marL="0" marR="0" rtl="0" algn="l">
                        <a:spcBef>
                          <a:spcPts val="0"/>
                        </a:spcBef>
                        <a:spcAft>
                          <a:spcPts val="0"/>
                        </a:spcAft>
                        <a:buNone/>
                      </a:pPr>
                      <a:r>
                        <a:rPr b="0" lang="en-US" sz="1200" strike="noStrike">
                          <a:solidFill>
                            <a:srgbClr val="F10D0C"/>
                          </a:solidFill>
                          <a:latin typeface="Arial"/>
                          <a:ea typeface="Arial"/>
                          <a:cs typeface="Arial"/>
                          <a:sym typeface="Arial"/>
                        </a:rPr>
                        <a:t>Diagnosis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Ideally from a controlled vocabulary, not free text.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6000">
                <a:tc>
                  <a:txBody>
                    <a:bodyPr/>
                    <a:lstStyle/>
                    <a:p>
                      <a:pPr indent="0" lvl="0" marL="0" marR="0" rtl="0" algn="l">
                        <a:spcBef>
                          <a:spcPts val="0"/>
                        </a:spcBef>
                        <a:spcAft>
                          <a:spcPts val="0"/>
                        </a:spcAft>
                        <a:buNone/>
                      </a:pPr>
                      <a:r>
                        <a:rPr b="0" lang="en-US" sz="1200" strike="noStrike">
                          <a:solidFill>
                            <a:srgbClr val="F10D0C"/>
                          </a:solidFill>
                          <a:latin typeface="Arial"/>
                          <a:ea typeface="Arial"/>
                          <a:cs typeface="Arial"/>
                          <a:sym typeface="Arial"/>
                        </a:rPr>
                        <a:t>Age at collection</a:t>
                      </a:r>
                      <a:r>
                        <a:rPr b="0" lang="en-US" sz="1200" strike="noStrike">
                          <a:latin typeface="Arial"/>
                          <a:ea typeface="Arial"/>
                          <a:cs typeface="Arial"/>
                          <a:sym typeface="Arial"/>
                        </a:rPr>
                        <a:t>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Needed for almost any biological interpretation.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2750">
                <a:tc>
                  <a:txBody>
                    <a:bodyPr/>
                    <a:lstStyle/>
                    <a:p>
                      <a:pPr indent="0" lvl="0" marL="0" marR="0" rtl="0" algn="l">
                        <a:spcBef>
                          <a:spcPts val="0"/>
                        </a:spcBef>
                        <a:spcAft>
                          <a:spcPts val="0"/>
                        </a:spcAft>
                        <a:buNone/>
                      </a:pPr>
                      <a:r>
                        <a:rPr b="0" lang="en-US" sz="1200" strike="noStrike">
                          <a:solidFill>
                            <a:srgbClr val="F10D0C"/>
                          </a:solidFill>
                          <a:latin typeface="Arial"/>
                          <a:ea typeface="Arial"/>
                          <a:cs typeface="Arial"/>
                          <a:sym typeface="Arial"/>
                        </a:rPr>
                        <a:t>Consent status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Whether the sample can legally and ethically be used for research at all.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cxnSp>
        <p:nvCxnSpPr>
          <p:cNvPr id="223" name="Google Shape;223;p28"/>
          <p:cNvCxnSpPr/>
          <p:nvPr/>
        </p:nvCxnSpPr>
        <p:spPr>
          <a:xfrm>
            <a:off x="180000" y="540000"/>
            <a:ext cx="7920000" cy="0"/>
          </a:xfrm>
          <a:prstGeom prst="straightConnector1">
            <a:avLst/>
          </a:prstGeom>
          <a:noFill/>
          <a:ln cap="flat" cmpd="sng" w="36000">
            <a:solidFill>
              <a:srgbClr val="468A1A"/>
            </a:solidFill>
            <a:prstDash val="solid"/>
            <a:round/>
            <a:headEnd len="sm" w="sm" type="none"/>
            <a:tailEnd len="sm" w="sm" type="none"/>
          </a:ln>
        </p:spPr>
      </p:cxnSp>
      <p:sp>
        <p:nvSpPr>
          <p:cNvPr id="224" name="Google Shape;224;p28"/>
          <p:cNvSpPr txBox="1"/>
          <p:nvPr/>
        </p:nvSpPr>
        <p:spPr>
          <a:xfrm>
            <a:off x="192960" y="72000"/>
            <a:ext cx="6107040" cy="468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2200" strike="noStrike">
                <a:solidFill>
                  <a:srgbClr val="468A1A"/>
                </a:solidFill>
                <a:latin typeface="Arial"/>
                <a:ea typeface="Arial"/>
                <a:cs typeface="Arial"/>
                <a:sym typeface="Arial"/>
              </a:rPr>
              <a:t>Part 2 — What Good Metadata Looks Like</a:t>
            </a:r>
            <a:endParaRPr b="0" sz="2200" strike="noStrike">
              <a:latin typeface="Arial"/>
              <a:ea typeface="Arial"/>
              <a:cs typeface="Arial"/>
              <a:sym typeface="Arial"/>
            </a:endParaRPr>
          </a:p>
        </p:txBody>
      </p:sp>
      <p:sp>
        <p:nvSpPr>
          <p:cNvPr id="225" name="Google Shape;225;p28"/>
          <p:cNvSpPr txBox="1"/>
          <p:nvPr/>
        </p:nvSpPr>
        <p:spPr>
          <a:xfrm>
            <a:off x="810000" y="3963960"/>
            <a:ext cx="8460000" cy="1094760"/>
          </a:xfrm>
          <a:prstGeom prst="rect">
            <a:avLst/>
          </a:prstGeom>
          <a:noFill/>
          <a:ln>
            <a:noFill/>
          </a:ln>
        </p:spPr>
        <p:txBody>
          <a:bodyPr anchorCtr="1" anchor="t" bIns="45000" lIns="90000" spcFirstLastPara="1" rIns="90000" wrap="square" tIns="45000">
            <a:noAutofit/>
          </a:bodyPr>
          <a:lstStyle/>
          <a:p>
            <a:pPr indent="-216000" lvl="0" marL="216000" marR="0" rtl="0" algn="ctr">
              <a:lnSpc>
                <a:spcPct val="100000"/>
              </a:lnSpc>
              <a:spcBef>
                <a:spcPts val="0"/>
              </a:spcBef>
              <a:spcAft>
                <a:spcPts val="0"/>
              </a:spcAft>
              <a:buClr>
                <a:srgbClr val="000000"/>
              </a:buClr>
              <a:buSzPts val="540"/>
              <a:buFont typeface="Noto Sans Symbols"/>
              <a:buChar char="●"/>
            </a:pPr>
            <a:r>
              <a:rPr b="1" lang="en-US" sz="1200" strike="noStrike">
                <a:latin typeface="Arial"/>
                <a:ea typeface="Arial"/>
                <a:cs typeface="Arial"/>
                <a:sym typeface="Arial"/>
              </a:rPr>
              <a:t>FAIR principles</a:t>
            </a:r>
            <a:r>
              <a:rPr b="0" lang="en-US" sz="1200" strike="noStrike">
                <a:latin typeface="Arial"/>
                <a:ea typeface="Arial"/>
                <a:cs typeface="Arial"/>
                <a:sym typeface="Arial"/>
              </a:rPr>
              <a:t> — data and metadata should be</a:t>
            </a:r>
            <a:r>
              <a:rPr b="1" lang="en-US" sz="1200" strike="noStrike">
                <a:latin typeface="Arial"/>
                <a:ea typeface="Arial"/>
                <a:cs typeface="Arial"/>
                <a:sym typeface="Arial"/>
              </a:rPr>
              <a:t> Findable, Accessible, Interoperable, and Reusable</a:t>
            </a:r>
            <a:r>
              <a:rPr b="0" lang="en-US" sz="1200" strike="noStrike">
                <a:latin typeface="Arial"/>
                <a:ea typeface="Arial"/>
                <a:cs typeface="Arial"/>
                <a:sym typeface="Arial"/>
              </a:rPr>
              <a:t>. In practice, for this tutorial, that mostly means: consistent IDs, documented units, and machine-readable fields rather than prose.</a:t>
            </a:r>
            <a:endParaRPr b="0" sz="1200" strike="noStrike">
              <a:latin typeface="Arial"/>
              <a:ea typeface="Arial"/>
              <a:cs typeface="Arial"/>
              <a:sym typeface="Arial"/>
            </a:endParaRPr>
          </a:p>
          <a:p>
            <a:pPr indent="-216000" lvl="0" marL="216000" marR="0" rtl="0" algn="ctr">
              <a:lnSpc>
                <a:spcPct val="100000"/>
              </a:lnSpc>
              <a:spcBef>
                <a:spcPts val="2183"/>
              </a:spcBef>
              <a:spcAft>
                <a:spcPts val="0"/>
              </a:spcAft>
              <a:buClr>
                <a:srgbClr val="000000"/>
              </a:buClr>
              <a:buSzPts val="540"/>
              <a:buFont typeface="Noto Sans Symbols"/>
              <a:buChar char="●"/>
            </a:pPr>
            <a:r>
              <a:rPr b="1" lang="en-US" sz="1200" strike="noStrike">
                <a:latin typeface="Arial"/>
                <a:ea typeface="Arial"/>
                <a:cs typeface="Arial"/>
                <a:sym typeface="Arial"/>
              </a:rPr>
              <a:t>Ontologies</a:t>
            </a:r>
            <a:r>
              <a:rPr b="0" lang="en-US" sz="1200" strike="noStrike">
                <a:latin typeface="Arial"/>
                <a:ea typeface="Arial"/>
                <a:cs typeface="Arial"/>
                <a:sym typeface="Arial"/>
              </a:rPr>
              <a:t>, such as the Human Phenotype Ontology (HPO) for clinical phenotypes, give every term a stable, shared identifier (e.g. an HPO code) instead of free text. “Kid kidney tumor” and “pediatric renal neoplasm” are the same thing to a clinician but look like two different diagnoses to a computer — an ontology term fixes that.</a:t>
            </a:r>
            <a:endParaRPr b="0" sz="1200" strike="noStrike">
              <a:latin typeface="Arial"/>
              <a:ea typeface="Arial"/>
              <a:cs typeface="Arial"/>
              <a:sym typeface="Arial"/>
            </a:endParaRPr>
          </a:p>
        </p:txBody>
      </p:sp>
      <p:sp>
        <p:nvSpPr>
          <p:cNvPr id="226" name="Google Shape;226;p28"/>
          <p:cNvSpPr txBox="1"/>
          <p:nvPr/>
        </p:nvSpPr>
        <p:spPr>
          <a:xfrm>
            <a:off x="2076013" y="975150"/>
            <a:ext cx="5928600" cy="3837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1200">
                <a:solidFill>
                  <a:srgbClr val="C9211E"/>
                </a:solidFill>
              </a:rPr>
              <a:t>TEXT FIELDS IN METADATA ARE ALWAYS A SOURCE OF POTENTIAL ERROR</a:t>
            </a:r>
            <a:r>
              <a:rPr b="1" lang="en-US" sz="1200"/>
              <a:t>.</a:t>
            </a:r>
            <a:endParaRPr b="1" sz="1200"/>
          </a:p>
        </p:txBody>
      </p:sp>
      <p:pic>
        <p:nvPicPr>
          <p:cNvPr id="227" name="Google Shape;227;p28"/>
          <p:cNvPicPr preferRelativeResize="0"/>
          <p:nvPr/>
        </p:nvPicPr>
        <p:blipFill rotWithShape="1">
          <a:blip r:embed="rId3">
            <a:alphaModFix/>
          </a:blip>
          <a:srcRect b="6024" l="3068" r="50157" t="50037"/>
          <a:stretch/>
        </p:blipFill>
        <p:spPr>
          <a:xfrm>
            <a:off x="1411825" y="761303"/>
            <a:ext cx="664202" cy="62392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graphicFrame>
        <p:nvGraphicFramePr>
          <p:cNvPr id="232" name="Google Shape;232;p29"/>
          <p:cNvGraphicFramePr/>
          <p:nvPr/>
        </p:nvGraphicFramePr>
        <p:xfrm>
          <a:off x="546840" y="1359720"/>
          <a:ext cx="3000000" cy="3000000"/>
        </p:xfrm>
        <a:graphic>
          <a:graphicData uri="http://schemas.openxmlformats.org/drawingml/2006/table">
            <a:tbl>
              <a:tblPr>
                <a:noFill/>
                <a:tableStyleId>{FBF6C270-3839-495F-BF6B-5D2B0D70D4C5}</a:tableStyleId>
              </a:tblPr>
              <a:tblGrid>
                <a:gridCol w="1268650"/>
                <a:gridCol w="1268650"/>
                <a:gridCol w="1268650"/>
              </a:tblGrid>
              <a:tr h="335150">
                <a:tc>
                  <a:txBody>
                    <a:bodyPr/>
                    <a:lstStyle/>
                    <a:p>
                      <a:pPr indent="0" lvl="0" marL="0" marR="0" rtl="0" algn="l">
                        <a:spcBef>
                          <a:spcPts val="0"/>
                        </a:spcBef>
                        <a:spcAft>
                          <a:spcPts val="0"/>
                        </a:spcAft>
                        <a:buNone/>
                      </a:pPr>
                      <a:r>
                        <a:rPr b="0" lang="en-US" sz="1200" strike="noStrike">
                          <a:latin typeface="Arial"/>
                          <a:ea typeface="Arial"/>
                          <a:cs typeface="Arial"/>
                          <a:sym typeface="Arial"/>
                        </a:rPr>
                        <a:t>Patient ID</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Age</a:t>
                      </a:r>
                      <a:r>
                        <a:rPr lang="en-US" sz="1200"/>
                        <a:t>_</a:t>
                      </a:r>
                      <a:r>
                        <a:rPr b="0" lang="en-US" sz="1200" strike="noStrike">
                          <a:latin typeface="Arial"/>
                          <a:ea typeface="Arial"/>
                          <a:cs typeface="Arial"/>
                          <a:sym typeface="Arial"/>
                        </a:rPr>
                        <a:t>sex</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Notes</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r>
              <a:tr h="335150">
                <a:tc>
                  <a:txBody>
                    <a:bodyPr/>
                    <a:lstStyle/>
                    <a:p>
                      <a:pPr indent="0" lvl="0" marL="0" marR="0" rtl="0" algn="l">
                        <a:lnSpc>
                          <a:spcPct val="100000"/>
                        </a:lnSpc>
                        <a:spcBef>
                          <a:spcPts val="0"/>
                        </a:spcBef>
                        <a:spcAft>
                          <a:spcPts val="0"/>
                        </a:spcAft>
                        <a:buNone/>
                      </a:pPr>
                      <a:r>
                        <a:rPr b="0" lang="en-US" sz="1200" strike="noStrike">
                          <a:latin typeface="Arial"/>
                          <a:ea typeface="Arial"/>
                          <a:cs typeface="Arial"/>
                          <a:sym typeface="Arial"/>
                        </a:rPr>
                        <a:t>s1</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4,girl</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wilms</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5150">
                <a:tc>
                  <a:txBody>
                    <a:bodyPr/>
                    <a:lstStyle/>
                    <a:p>
                      <a:pPr indent="0" lvl="0" marL="0" marR="0" rtl="0" algn="l">
                        <a:spcBef>
                          <a:spcPts val="0"/>
                        </a:spcBef>
                        <a:spcAft>
                          <a:spcPts val="0"/>
                        </a:spcAft>
                        <a:buNone/>
                      </a:pPr>
                      <a:r>
                        <a:rPr b="0" lang="en-US" sz="1200" strike="noStrike">
                          <a:latin typeface="Arial"/>
                          <a:ea typeface="Arial"/>
                          <a:cs typeface="Arial"/>
                          <a:sym typeface="Arial"/>
                        </a:rPr>
                        <a:t>s2</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unknown</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4800">
                <a:tc>
                  <a:txBody>
                    <a:bodyPr/>
                    <a:lstStyle/>
                    <a:p>
                      <a:pPr indent="0" lvl="0" marL="0" marR="0" rtl="0" algn="l">
                        <a:spcBef>
                          <a:spcPts val="0"/>
                        </a:spcBef>
                        <a:spcAft>
                          <a:spcPts val="0"/>
                        </a:spcAft>
                        <a:buNone/>
                      </a:pPr>
                      <a:r>
                        <a:rPr b="0" lang="en-US" sz="1200" strike="noStrike">
                          <a:latin typeface="Arial"/>
                          <a:ea typeface="Arial"/>
                          <a:cs typeface="Arial"/>
                          <a:sym typeface="Arial"/>
                        </a:rPr>
                        <a:t>s3</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6 yo M</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neuroblastoma??</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233" name="Google Shape;233;p29"/>
          <p:cNvSpPr txBox="1"/>
          <p:nvPr/>
        </p:nvSpPr>
        <p:spPr>
          <a:xfrm>
            <a:off x="34920" y="864360"/>
            <a:ext cx="5005080" cy="43164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1200" strike="noStrike">
                <a:latin typeface="Arial"/>
                <a:ea typeface="Arial"/>
                <a:cs typeface="Arial"/>
                <a:sym typeface="Arial"/>
              </a:rPr>
              <a:t>Messy: mixed fields, inconsistent formatting, ambiguous blanks.</a:t>
            </a:r>
            <a:endParaRPr b="0" sz="1200" strike="noStrike">
              <a:latin typeface="Arial"/>
              <a:ea typeface="Arial"/>
              <a:cs typeface="Arial"/>
              <a:sym typeface="Arial"/>
            </a:endParaRPr>
          </a:p>
        </p:txBody>
      </p:sp>
      <p:graphicFrame>
        <p:nvGraphicFramePr>
          <p:cNvPr id="234" name="Google Shape;234;p29"/>
          <p:cNvGraphicFramePr/>
          <p:nvPr/>
        </p:nvGraphicFramePr>
        <p:xfrm>
          <a:off x="5533920" y="1333440"/>
          <a:ext cx="3000000" cy="3000000"/>
        </p:xfrm>
        <a:graphic>
          <a:graphicData uri="http://schemas.openxmlformats.org/drawingml/2006/table">
            <a:tbl>
              <a:tblPr>
                <a:noFill/>
                <a:tableStyleId>{FBF6C270-3839-495F-BF6B-5D2B0D70D4C5}</a:tableStyleId>
              </a:tblPr>
              <a:tblGrid>
                <a:gridCol w="1094050"/>
                <a:gridCol w="999725"/>
                <a:gridCol w="610200"/>
                <a:gridCol w="1119600"/>
              </a:tblGrid>
              <a:tr h="346325">
                <a:tc>
                  <a:txBody>
                    <a:bodyPr/>
                    <a:lstStyle/>
                    <a:p>
                      <a:pPr indent="0" lvl="0" marL="0" marR="0" rtl="0" algn="l">
                        <a:spcBef>
                          <a:spcPts val="0"/>
                        </a:spcBef>
                        <a:spcAft>
                          <a:spcPts val="0"/>
                        </a:spcAft>
                        <a:buNone/>
                      </a:pPr>
                      <a:r>
                        <a:rPr b="0" lang="en-US" sz="1200" strike="noStrike">
                          <a:latin typeface="Arial"/>
                          <a:ea typeface="Arial"/>
                          <a:cs typeface="Arial"/>
                          <a:sym typeface="Arial"/>
                        </a:rPr>
                        <a:t>patient_id</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age_years</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sex</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diagnosis</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r>
              <a:tr h="346325">
                <a:tc>
                  <a:txBody>
                    <a:bodyPr/>
                    <a:lstStyle/>
                    <a:p>
                      <a:pPr indent="0" lvl="0" marL="0" marR="0" rtl="0" algn="l">
                        <a:lnSpc>
                          <a:spcPct val="100000"/>
                        </a:lnSpc>
                        <a:spcBef>
                          <a:spcPts val="0"/>
                        </a:spcBef>
                        <a:spcAft>
                          <a:spcPts val="0"/>
                        </a:spcAft>
                        <a:buNone/>
                      </a:pPr>
                      <a:r>
                        <a:rPr b="0" lang="en-US" sz="1200" strike="noStrike">
                          <a:latin typeface="Arial"/>
                          <a:ea typeface="Arial"/>
                          <a:cs typeface="Arial"/>
                          <a:sym typeface="Arial"/>
                        </a:rPr>
                        <a:t>PT-9001</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4</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F</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Wilms tumor</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46325">
                <a:tc>
                  <a:txBody>
                    <a:bodyPr/>
                    <a:lstStyle/>
                    <a:p>
                      <a:pPr indent="0" lvl="0" marL="0" marR="0" rtl="0" algn="l">
                        <a:spcBef>
                          <a:spcPts val="0"/>
                        </a:spcBef>
                        <a:spcAft>
                          <a:spcPts val="0"/>
                        </a:spcAft>
                        <a:buNone/>
                      </a:pPr>
                      <a:r>
                        <a:rPr b="0" lang="en-US" sz="1200" strike="noStrike">
                          <a:latin typeface="Arial"/>
                          <a:ea typeface="Arial"/>
                          <a:cs typeface="Arial"/>
                          <a:sym typeface="Arial"/>
                        </a:rPr>
                        <a:t>PT-9002</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NA</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NA</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NA</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46325">
                <a:tc>
                  <a:txBody>
                    <a:bodyPr/>
                    <a:lstStyle/>
                    <a:p>
                      <a:pPr indent="0" lvl="0" marL="0" marR="0" rtl="0" algn="l">
                        <a:spcBef>
                          <a:spcPts val="0"/>
                        </a:spcBef>
                        <a:spcAft>
                          <a:spcPts val="0"/>
                        </a:spcAft>
                        <a:buNone/>
                      </a:pPr>
                      <a:r>
                        <a:rPr b="0" lang="en-US" sz="1200" strike="noStrike">
                          <a:latin typeface="Arial"/>
                          <a:ea typeface="Arial"/>
                          <a:cs typeface="Arial"/>
                          <a:sym typeface="Arial"/>
                        </a:rPr>
                        <a:t>PT-9003</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6</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M</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Neuroblastoma</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cxnSp>
        <p:nvCxnSpPr>
          <p:cNvPr id="235" name="Google Shape;235;p29"/>
          <p:cNvCxnSpPr/>
          <p:nvPr/>
        </p:nvCxnSpPr>
        <p:spPr>
          <a:xfrm>
            <a:off x="180000" y="540000"/>
            <a:ext cx="7920000" cy="0"/>
          </a:xfrm>
          <a:prstGeom prst="straightConnector1">
            <a:avLst/>
          </a:prstGeom>
          <a:noFill/>
          <a:ln cap="flat" cmpd="sng" w="36000">
            <a:solidFill>
              <a:srgbClr val="468A1A"/>
            </a:solidFill>
            <a:prstDash val="solid"/>
            <a:round/>
            <a:headEnd len="sm" w="sm" type="none"/>
            <a:tailEnd len="sm" w="sm" type="none"/>
          </a:ln>
        </p:spPr>
      </p:cxnSp>
      <p:sp>
        <p:nvSpPr>
          <p:cNvPr id="236" name="Google Shape;236;p29"/>
          <p:cNvSpPr txBox="1"/>
          <p:nvPr/>
        </p:nvSpPr>
        <p:spPr>
          <a:xfrm>
            <a:off x="192960" y="72000"/>
            <a:ext cx="6107040" cy="468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2200" strike="noStrike">
                <a:solidFill>
                  <a:srgbClr val="468A1A"/>
                </a:solidFill>
                <a:latin typeface="Arial"/>
                <a:ea typeface="Arial"/>
                <a:cs typeface="Arial"/>
                <a:sym typeface="Arial"/>
              </a:rPr>
              <a:t>Part 2 — What Good Metadata Looks Like</a:t>
            </a:r>
            <a:endParaRPr b="0" sz="2200" strike="noStrike">
              <a:latin typeface="Arial"/>
              <a:ea typeface="Arial"/>
              <a:cs typeface="Arial"/>
              <a:sym typeface="Arial"/>
            </a:endParaRPr>
          </a:p>
        </p:txBody>
      </p:sp>
      <p:sp>
        <p:nvSpPr>
          <p:cNvPr id="237" name="Google Shape;237;p29"/>
          <p:cNvSpPr txBox="1"/>
          <p:nvPr/>
        </p:nvSpPr>
        <p:spPr>
          <a:xfrm>
            <a:off x="5065920" y="850680"/>
            <a:ext cx="4860000" cy="43164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1200" strike="noStrike">
                <a:latin typeface="Arial"/>
                <a:ea typeface="Arial"/>
                <a:cs typeface="Arial"/>
                <a:sym typeface="Arial"/>
              </a:rPr>
              <a:t>Clean: one column per variable, explicit NA, standardized terms. </a:t>
            </a:r>
            <a:endParaRPr b="0" sz="1200" strike="noStrike">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graphicFrame>
        <p:nvGraphicFramePr>
          <p:cNvPr id="242" name="Google Shape;242;p30"/>
          <p:cNvGraphicFramePr/>
          <p:nvPr/>
        </p:nvGraphicFramePr>
        <p:xfrm>
          <a:off x="546840" y="1359720"/>
          <a:ext cx="3000000" cy="3000000"/>
        </p:xfrm>
        <a:graphic>
          <a:graphicData uri="http://schemas.openxmlformats.org/drawingml/2006/table">
            <a:tbl>
              <a:tblPr>
                <a:noFill/>
                <a:tableStyleId>{FBF6C270-3839-495F-BF6B-5D2B0D70D4C5}</a:tableStyleId>
              </a:tblPr>
              <a:tblGrid>
                <a:gridCol w="1268650"/>
                <a:gridCol w="1268650"/>
                <a:gridCol w="1268650"/>
              </a:tblGrid>
              <a:tr h="335150">
                <a:tc>
                  <a:txBody>
                    <a:bodyPr/>
                    <a:lstStyle/>
                    <a:p>
                      <a:pPr indent="0" lvl="0" marL="0" marR="0" rtl="0" algn="l">
                        <a:spcBef>
                          <a:spcPts val="0"/>
                        </a:spcBef>
                        <a:spcAft>
                          <a:spcPts val="0"/>
                        </a:spcAft>
                        <a:buNone/>
                      </a:pPr>
                      <a:r>
                        <a:rPr b="0" lang="en-US" sz="1200" strike="noStrike">
                          <a:latin typeface="Arial"/>
                          <a:ea typeface="Arial"/>
                          <a:cs typeface="Arial"/>
                          <a:sym typeface="Arial"/>
                        </a:rPr>
                        <a:t>Patient ID</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Age</a:t>
                      </a:r>
                      <a:r>
                        <a:rPr lang="en-US" sz="1200"/>
                        <a:t>_</a:t>
                      </a:r>
                      <a:r>
                        <a:rPr b="0" lang="en-US" sz="1200" strike="noStrike">
                          <a:latin typeface="Arial"/>
                          <a:ea typeface="Arial"/>
                          <a:cs typeface="Arial"/>
                          <a:sym typeface="Arial"/>
                        </a:rPr>
                        <a:t>sex</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Notes</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r>
              <a:tr h="335150">
                <a:tc>
                  <a:txBody>
                    <a:bodyPr/>
                    <a:lstStyle/>
                    <a:p>
                      <a:pPr indent="0" lvl="0" marL="0" marR="0" rtl="0" algn="l">
                        <a:lnSpc>
                          <a:spcPct val="100000"/>
                        </a:lnSpc>
                        <a:spcBef>
                          <a:spcPts val="0"/>
                        </a:spcBef>
                        <a:spcAft>
                          <a:spcPts val="0"/>
                        </a:spcAft>
                        <a:buNone/>
                      </a:pPr>
                      <a:r>
                        <a:rPr b="0" lang="en-US" sz="1200" strike="noStrike">
                          <a:latin typeface="Arial"/>
                          <a:ea typeface="Arial"/>
                          <a:cs typeface="Arial"/>
                          <a:sym typeface="Arial"/>
                        </a:rPr>
                        <a:t>s1</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4,girl</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wilms</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5150">
                <a:tc>
                  <a:txBody>
                    <a:bodyPr/>
                    <a:lstStyle/>
                    <a:p>
                      <a:pPr indent="0" lvl="0" marL="0" marR="0" rtl="0" algn="l">
                        <a:spcBef>
                          <a:spcPts val="0"/>
                        </a:spcBef>
                        <a:spcAft>
                          <a:spcPts val="0"/>
                        </a:spcAft>
                        <a:buNone/>
                      </a:pPr>
                      <a:r>
                        <a:rPr b="0" lang="en-US" sz="1200" strike="noStrike">
                          <a:latin typeface="Arial"/>
                          <a:ea typeface="Arial"/>
                          <a:cs typeface="Arial"/>
                          <a:sym typeface="Arial"/>
                        </a:rPr>
                        <a:t>s2</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unknown</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4800">
                <a:tc>
                  <a:txBody>
                    <a:bodyPr/>
                    <a:lstStyle/>
                    <a:p>
                      <a:pPr indent="0" lvl="0" marL="0" marR="0" rtl="0" algn="l">
                        <a:spcBef>
                          <a:spcPts val="0"/>
                        </a:spcBef>
                        <a:spcAft>
                          <a:spcPts val="0"/>
                        </a:spcAft>
                        <a:buNone/>
                      </a:pPr>
                      <a:r>
                        <a:rPr b="0" lang="en-US" sz="1200" strike="noStrike">
                          <a:latin typeface="Arial"/>
                          <a:ea typeface="Arial"/>
                          <a:cs typeface="Arial"/>
                          <a:sym typeface="Arial"/>
                        </a:rPr>
                        <a:t>s3</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6 yo M</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neuroblastoma??</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243" name="Google Shape;243;p30"/>
          <p:cNvSpPr txBox="1"/>
          <p:nvPr/>
        </p:nvSpPr>
        <p:spPr>
          <a:xfrm>
            <a:off x="34920" y="864360"/>
            <a:ext cx="5005080" cy="43164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1200" strike="noStrike">
                <a:latin typeface="Arial"/>
                <a:ea typeface="Arial"/>
                <a:cs typeface="Arial"/>
                <a:sym typeface="Arial"/>
              </a:rPr>
              <a:t>Messy: mixed fields, inconsistent formatting, ambiguous blanks.</a:t>
            </a:r>
            <a:endParaRPr b="0" sz="1200" strike="noStrike">
              <a:latin typeface="Arial"/>
              <a:ea typeface="Arial"/>
              <a:cs typeface="Arial"/>
              <a:sym typeface="Arial"/>
            </a:endParaRPr>
          </a:p>
        </p:txBody>
      </p:sp>
      <p:graphicFrame>
        <p:nvGraphicFramePr>
          <p:cNvPr id="244" name="Google Shape;244;p30"/>
          <p:cNvGraphicFramePr/>
          <p:nvPr/>
        </p:nvGraphicFramePr>
        <p:xfrm>
          <a:off x="5533920" y="1333440"/>
          <a:ext cx="3000000" cy="3000000"/>
        </p:xfrm>
        <a:graphic>
          <a:graphicData uri="http://schemas.openxmlformats.org/drawingml/2006/table">
            <a:tbl>
              <a:tblPr>
                <a:noFill/>
                <a:tableStyleId>{FBF6C270-3839-495F-BF6B-5D2B0D70D4C5}</a:tableStyleId>
              </a:tblPr>
              <a:tblGrid>
                <a:gridCol w="1094050"/>
                <a:gridCol w="999725"/>
                <a:gridCol w="610200"/>
                <a:gridCol w="1119600"/>
              </a:tblGrid>
              <a:tr h="346325">
                <a:tc>
                  <a:txBody>
                    <a:bodyPr/>
                    <a:lstStyle/>
                    <a:p>
                      <a:pPr indent="0" lvl="0" marL="0" marR="0" rtl="0" algn="l">
                        <a:spcBef>
                          <a:spcPts val="0"/>
                        </a:spcBef>
                        <a:spcAft>
                          <a:spcPts val="0"/>
                        </a:spcAft>
                        <a:buNone/>
                      </a:pPr>
                      <a:r>
                        <a:rPr b="0" lang="en-US" sz="1200" strike="noStrike">
                          <a:latin typeface="Arial"/>
                          <a:ea typeface="Arial"/>
                          <a:cs typeface="Arial"/>
                          <a:sym typeface="Arial"/>
                        </a:rPr>
                        <a:t>patient_id</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age_years</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sex</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diagnosis</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r>
              <a:tr h="346325">
                <a:tc>
                  <a:txBody>
                    <a:bodyPr/>
                    <a:lstStyle/>
                    <a:p>
                      <a:pPr indent="0" lvl="0" marL="0" marR="0" rtl="0" algn="l">
                        <a:lnSpc>
                          <a:spcPct val="100000"/>
                        </a:lnSpc>
                        <a:spcBef>
                          <a:spcPts val="0"/>
                        </a:spcBef>
                        <a:spcAft>
                          <a:spcPts val="0"/>
                        </a:spcAft>
                        <a:buNone/>
                      </a:pPr>
                      <a:r>
                        <a:rPr b="0" lang="en-US" sz="1200" strike="noStrike">
                          <a:latin typeface="Arial"/>
                          <a:ea typeface="Arial"/>
                          <a:cs typeface="Arial"/>
                          <a:sym typeface="Arial"/>
                        </a:rPr>
                        <a:t>PT-9001</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4</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F</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Wilms tumor</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46325">
                <a:tc>
                  <a:txBody>
                    <a:bodyPr/>
                    <a:lstStyle/>
                    <a:p>
                      <a:pPr indent="0" lvl="0" marL="0" marR="0" rtl="0" algn="l">
                        <a:spcBef>
                          <a:spcPts val="0"/>
                        </a:spcBef>
                        <a:spcAft>
                          <a:spcPts val="0"/>
                        </a:spcAft>
                        <a:buNone/>
                      </a:pPr>
                      <a:r>
                        <a:rPr b="0" lang="en-US" sz="1200" strike="noStrike">
                          <a:latin typeface="Arial"/>
                          <a:ea typeface="Arial"/>
                          <a:cs typeface="Arial"/>
                          <a:sym typeface="Arial"/>
                        </a:rPr>
                        <a:t>PT-9002</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NA</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NA</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NA</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46325">
                <a:tc>
                  <a:txBody>
                    <a:bodyPr/>
                    <a:lstStyle/>
                    <a:p>
                      <a:pPr indent="0" lvl="0" marL="0" marR="0" rtl="0" algn="l">
                        <a:spcBef>
                          <a:spcPts val="0"/>
                        </a:spcBef>
                        <a:spcAft>
                          <a:spcPts val="0"/>
                        </a:spcAft>
                        <a:buNone/>
                      </a:pPr>
                      <a:r>
                        <a:rPr b="0" lang="en-US" sz="1200" strike="noStrike">
                          <a:latin typeface="Arial"/>
                          <a:ea typeface="Arial"/>
                          <a:cs typeface="Arial"/>
                          <a:sym typeface="Arial"/>
                        </a:rPr>
                        <a:t>PT-9003</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6</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M</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Neuroblastoma</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cxnSp>
        <p:nvCxnSpPr>
          <p:cNvPr id="245" name="Google Shape;245;p30"/>
          <p:cNvCxnSpPr/>
          <p:nvPr/>
        </p:nvCxnSpPr>
        <p:spPr>
          <a:xfrm>
            <a:off x="180000" y="540000"/>
            <a:ext cx="7920000" cy="0"/>
          </a:xfrm>
          <a:prstGeom prst="straightConnector1">
            <a:avLst/>
          </a:prstGeom>
          <a:noFill/>
          <a:ln cap="flat" cmpd="sng" w="36000">
            <a:solidFill>
              <a:srgbClr val="468A1A"/>
            </a:solidFill>
            <a:prstDash val="solid"/>
            <a:round/>
            <a:headEnd len="sm" w="sm" type="none"/>
            <a:tailEnd len="sm" w="sm" type="none"/>
          </a:ln>
        </p:spPr>
      </p:cxnSp>
      <p:sp>
        <p:nvSpPr>
          <p:cNvPr id="246" name="Google Shape;246;p30"/>
          <p:cNvSpPr txBox="1"/>
          <p:nvPr/>
        </p:nvSpPr>
        <p:spPr>
          <a:xfrm>
            <a:off x="192960" y="72000"/>
            <a:ext cx="6107040" cy="468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2200" strike="noStrike">
                <a:solidFill>
                  <a:srgbClr val="468A1A"/>
                </a:solidFill>
                <a:latin typeface="Arial"/>
                <a:ea typeface="Arial"/>
                <a:cs typeface="Arial"/>
                <a:sym typeface="Arial"/>
              </a:rPr>
              <a:t>Part 2 — What Good Metadata Looks Like</a:t>
            </a:r>
            <a:endParaRPr b="0" sz="2200" strike="noStrike">
              <a:latin typeface="Arial"/>
              <a:ea typeface="Arial"/>
              <a:cs typeface="Arial"/>
              <a:sym typeface="Arial"/>
            </a:endParaRPr>
          </a:p>
        </p:txBody>
      </p:sp>
      <p:sp>
        <p:nvSpPr>
          <p:cNvPr id="247" name="Google Shape;247;p30"/>
          <p:cNvSpPr txBox="1"/>
          <p:nvPr/>
        </p:nvSpPr>
        <p:spPr>
          <a:xfrm>
            <a:off x="5065920" y="850680"/>
            <a:ext cx="4860000" cy="43164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1200" strike="noStrike">
                <a:latin typeface="Arial"/>
                <a:ea typeface="Arial"/>
                <a:cs typeface="Arial"/>
                <a:sym typeface="Arial"/>
              </a:rPr>
              <a:t>Clean: one column per variable, explicit NA, standardized terms. </a:t>
            </a:r>
            <a:endParaRPr b="0" sz="1200" strike="noStrike">
              <a:latin typeface="Arial"/>
              <a:ea typeface="Arial"/>
              <a:cs typeface="Arial"/>
              <a:sym typeface="Arial"/>
            </a:endParaRPr>
          </a:p>
        </p:txBody>
      </p:sp>
      <p:sp>
        <p:nvSpPr>
          <p:cNvPr id="248" name="Google Shape;248;p30"/>
          <p:cNvSpPr txBox="1"/>
          <p:nvPr/>
        </p:nvSpPr>
        <p:spPr>
          <a:xfrm>
            <a:off x="2880000" y="2880000"/>
            <a:ext cx="3960000" cy="431640"/>
          </a:xfrm>
          <a:prstGeom prst="rect">
            <a:avLst/>
          </a:prstGeom>
          <a:noFill/>
          <a:ln>
            <a:noFill/>
          </a:ln>
        </p:spPr>
        <p:txBody>
          <a:bodyPr anchorCtr="1" anchor="t" bIns="45000" lIns="90000" spcFirstLastPara="1" rIns="90000" wrap="square" tIns="45000">
            <a:noAutofit/>
          </a:bodyPr>
          <a:lstStyle/>
          <a:p>
            <a:pPr indent="0" lvl="0" marL="0" marR="0" rtl="0" algn="ctr">
              <a:spcBef>
                <a:spcPts val="0"/>
              </a:spcBef>
              <a:spcAft>
                <a:spcPts val="0"/>
              </a:spcAft>
              <a:buNone/>
            </a:pPr>
            <a:r>
              <a:rPr b="0" lang="en-US" sz="1200" strike="noStrike">
                <a:solidFill>
                  <a:srgbClr val="F10D0C"/>
                </a:solidFill>
                <a:latin typeface="Arial"/>
                <a:ea typeface="Arial"/>
                <a:cs typeface="Arial"/>
                <a:sym typeface="Arial"/>
              </a:rPr>
              <a:t>There’s one</a:t>
            </a:r>
            <a:r>
              <a:rPr lang="en-US" sz="1200">
                <a:solidFill>
                  <a:srgbClr val="F10D0C"/>
                </a:solidFill>
              </a:rPr>
              <a:t> </a:t>
            </a:r>
            <a:r>
              <a:rPr b="0" lang="en-US" sz="1200" strike="noStrike">
                <a:solidFill>
                  <a:srgbClr val="F10D0C"/>
                </a:solidFill>
                <a:latin typeface="Arial"/>
                <a:ea typeface="Arial"/>
                <a:cs typeface="Arial"/>
                <a:sym typeface="Arial"/>
              </a:rPr>
              <a:t>thing that does cause computational error, can you spot it?</a:t>
            </a:r>
            <a:endParaRPr b="0" sz="1200" strike="noStrike">
              <a:latin typeface="Arial"/>
              <a:ea typeface="Arial"/>
              <a:cs typeface="Arial"/>
              <a:sym typeface="Arial"/>
            </a:endParaRPr>
          </a:p>
        </p:txBody>
      </p:sp>
      <p:pic>
        <p:nvPicPr>
          <p:cNvPr id="249" name="Google Shape;249;p30"/>
          <p:cNvPicPr preferRelativeResize="0"/>
          <p:nvPr/>
        </p:nvPicPr>
        <p:blipFill rotWithShape="1">
          <a:blip r:embed="rId3">
            <a:alphaModFix/>
          </a:blip>
          <a:srcRect b="10639" l="6577" r="5850" t="12319"/>
          <a:stretch/>
        </p:blipFill>
        <p:spPr>
          <a:xfrm>
            <a:off x="4253033" y="3545200"/>
            <a:ext cx="1574569" cy="138529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1"/>
          <p:cNvSpPr/>
          <p:nvPr/>
        </p:nvSpPr>
        <p:spPr>
          <a:xfrm>
            <a:off x="1214563" y="4292700"/>
            <a:ext cx="7651500" cy="672900"/>
          </a:xfrm>
          <a:prstGeom prst="rect">
            <a:avLst/>
          </a:prstGeom>
          <a:noFill/>
          <a:ln cap="flat" cmpd="sng" w="36000">
            <a:solidFill>
              <a:srgbClr val="468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255" name="Google Shape;255;p31"/>
          <p:cNvGraphicFramePr/>
          <p:nvPr/>
        </p:nvGraphicFramePr>
        <p:xfrm>
          <a:off x="546840" y="1359720"/>
          <a:ext cx="3000000" cy="3000000"/>
        </p:xfrm>
        <a:graphic>
          <a:graphicData uri="http://schemas.openxmlformats.org/drawingml/2006/table">
            <a:tbl>
              <a:tblPr>
                <a:noFill/>
                <a:tableStyleId>{FBF6C270-3839-495F-BF6B-5D2B0D70D4C5}</a:tableStyleId>
              </a:tblPr>
              <a:tblGrid>
                <a:gridCol w="1268650"/>
                <a:gridCol w="1268650"/>
                <a:gridCol w="1268650"/>
              </a:tblGrid>
              <a:tr h="335150">
                <a:tc>
                  <a:txBody>
                    <a:bodyPr/>
                    <a:lstStyle/>
                    <a:p>
                      <a:pPr indent="0" lvl="0" marL="0" marR="0" rtl="0" algn="l">
                        <a:spcBef>
                          <a:spcPts val="0"/>
                        </a:spcBef>
                        <a:spcAft>
                          <a:spcPts val="0"/>
                        </a:spcAft>
                        <a:buNone/>
                      </a:pPr>
                      <a:r>
                        <a:rPr b="0" lang="en-US" sz="1200" strike="noStrike">
                          <a:latin typeface="Arial"/>
                          <a:ea typeface="Arial"/>
                          <a:cs typeface="Arial"/>
                          <a:sym typeface="Arial"/>
                        </a:rPr>
                        <a:t>Patient ID</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Age</a:t>
                      </a:r>
                      <a:r>
                        <a:rPr lang="en-US" sz="1200"/>
                        <a:t>_</a:t>
                      </a:r>
                      <a:r>
                        <a:rPr b="0" lang="en-US" sz="1200" strike="noStrike">
                          <a:latin typeface="Arial"/>
                          <a:ea typeface="Arial"/>
                          <a:cs typeface="Arial"/>
                          <a:sym typeface="Arial"/>
                        </a:rPr>
                        <a:t>sex</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Notes</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r>
              <a:tr h="335150">
                <a:tc>
                  <a:txBody>
                    <a:bodyPr/>
                    <a:lstStyle/>
                    <a:p>
                      <a:pPr indent="0" lvl="0" marL="0" marR="0" rtl="0" algn="l">
                        <a:lnSpc>
                          <a:spcPct val="100000"/>
                        </a:lnSpc>
                        <a:spcBef>
                          <a:spcPts val="0"/>
                        </a:spcBef>
                        <a:spcAft>
                          <a:spcPts val="0"/>
                        </a:spcAft>
                        <a:buNone/>
                      </a:pPr>
                      <a:r>
                        <a:rPr b="0" lang="en-US" sz="1200" strike="noStrike">
                          <a:latin typeface="Arial"/>
                          <a:ea typeface="Arial"/>
                          <a:cs typeface="Arial"/>
                          <a:sym typeface="Arial"/>
                        </a:rPr>
                        <a:t>s1</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4,girl</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wilms</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5150">
                <a:tc>
                  <a:txBody>
                    <a:bodyPr/>
                    <a:lstStyle/>
                    <a:p>
                      <a:pPr indent="0" lvl="0" marL="0" marR="0" rtl="0" algn="l">
                        <a:spcBef>
                          <a:spcPts val="0"/>
                        </a:spcBef>
                        <a:spcAft>
                          <a:spcPts val="0"/>
                        </a:spcAft>
                        <a:buNone/>
                      </a:pPr>
                      <a:r>
                        <a:rPr b="0" lang="en-US" sz="1200" strike="noStrike">
                          <a:latin typeface="Arial"/>
                          <a:ea typeface="Arial"/>
                          <a:cs typeface="Arial"/>
                          <a:sym typeface="Arial"/>
                        </a:rPr>
                        <a:t>s2</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unknown</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4800">
                <a:tc>
                  <a:txBody>
                    <a:bodyPr/>
                    <a:lstStyle/>
                    <a:p>
                      <a:pPr indent="0" lvl="0" marL="0" marR="0" rtl="0" algn="l">
                        <a:spcBef>
                          <a:spcPts val="0"/>
                        </a:spcBef>
                        <a:spcAft>
                          <a:spcPts val="0"/>
                        </a:spcAft>
                        <a:buNone/>
                      </a:pPr>
                      <a:r>
                        <a:rPr b="0" lang="en-US" sz="1200" strike="noStrike">
                          <a:latin typeface="Arial"/>
                          <a:ea typeface="Arial"/>
                          <a:cs typeface="Arial"/>
                          <a:sym typeface="Arial"/>
                        </a:rPr>
                        <a:t>s3</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6 yo M</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neuroblastoma??</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256" name="Google Shape;256;p31"/>
          <p:cNvSpPr txBox="1"/>
          <p:nvPr/>
        </p:nvSpPr>
        <p:spPr>
          <a:xfrm>
            <a:off x="34920" y="864360"/>
            <a:ext cx="5005080" cy="43164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1200" strike="noStrike">
                <a:latin typeface="Arial"/>
                <a:ea typeface="Arial"/>
                <a:cs typeface="Arial"/>
                <a:sym typeface="Arial"/>
              </a:rPr>
              <a:t>Messy: mixed fields, inconsistent formatting, ambiguous blanks.</a:t>
            </a:r>
            <a:endParaRPr b="0" sz="1200" strike="noStrike">
              <a:latin typeface="Arial"/>
              <a:ea typeface="Arial"/>
              <a:cs typeface="Arial"/>
              <a:sym typeface="Arial"/>
            </a:endParaRPr>
          </a:p>
        </p:txBody>
      </p:sp>
      <p:graphicFrame>
        <p:nvGraphicFramePr>
          <p:cNvPr id="257" name="Google Shape;257;p31"/>
          <p:cNvGraphicFramePr/>
          <p:nvPr/>
        </p:nvGraphicFramePr>
        <p:xfrm>
          <a:off x="5533920" y="1333440"/>
          <a:ext cx="3000000" cy="3000000"/>
        </p:xfrm>
        <a:graphic>
          <a:graphicData uri="http://schemas.openxmlformats.org/drawingml/2006/table">
            <a:tbl>
              <a:tblPr>
                <a:noFill/>
                <a:tableStyleId>{FBF6C270-3839-495F-BF6B-5D2B0D70D4C5}</a:tableStyleId>
              </a:tblPr>
              <a:tblGrid>
                <a:gridCol w="1094050"/>
                <a:gridCol w="999725"/>
                <a:gridCol w="610200"/>
                <a:gridCol w="1119600"/>
              </a:tblGrid>
              <a:tr h="346325">
                <a:tc>
                  <a:txBody>
                    <a:bodyPr/>
                    <a:lstStyle/>
                    <a:p>
                      <a:pPr indent="0" lvl="0" marL="0" marR="0" rtl="0" algn="l">
                        <a:spcBef>
                          <a:spcPts val="0"/>
                        </a:spcBef>
                        <a:spcAft>
                          <a:spcPts val="0"/>
                        </a:spcAft>
                        <a:buNone/>
                      </a:pPr>
                      <a:r>
                        <a:rPr b="0" lang="en-US" sz="1200" strike="noStrike">
                          <a:latin typeface="Arial"/>
                          <a:ea typeface="Arial"/>
                          <a:cs typeface="Arial"/>
                          <a:sym typeface="Arial"/>
                        </a:rPr>
                        <a:t>patient_id</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age_years</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sex</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diagnosis</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r>
              <a:tr h="346325">
                <a:tc>
                  <a:txBody>
                    <a:bodyPr/>
                    <a:lstStyle/>
                    <a:p>
                      <a:pPr indent="0" lvl="0" marL="0" marR="0" rtl="0" algn="l">
                        <a:lnSpc>
                          <a:spcPct val="100000"/>
                        </a:lnSpc>
                        <a:spcBef>
                          <a:spcPts val="0"/>
                        </a:spcBef>
                        <a:spcAft>
                          <a:spcPts val="0"/>
                        </a:spcAft>
                        <a:buNone/>
                      </a:pPr>
                      <a:r>
                        <a:rPr b="0" lang="en-US" sz="1200" strike="noStrike">
                          <a:latin typeface="Arial"/>
                          <a:ea typeface="Arial"/>
                          <a:cs typeface="Arial"/>
                          <a:sym typeface="Arial"/>
                        </a:rPr>
                        <a:t>PT-9001</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4</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F</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Wilms tumor</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46325">
                <a:tc>
                  <a:txBody>
                    <a:bodyPr/>
                    <a:lstStyle/>
                    <a:p>
                      <a:pPr indent="0" lvl="0" marL="0" marR="0" rtl="0" algn="l">
                        <a:spcBef>
                          <a:spcPts val="0"/>
                        </a:spcBef>
                        <a:spcAft>
                          <a:spcPts val="0"/>
                        </a:spcAft>
                        <a:buNone/>
                      </a:pPr>
                      <a:r>
                        <a:rPr b="0" lang="en-US" sz="1200" strike="noStrike">
                          <a:latin typeface="Arial"/>
                          <a:ea typeface="Arial"/>
                          <a:cs typeface="Arial"/>
                          <a:sym typeface="Arial"/>
                        </a:rPr>
                        <a:t>PT-9002</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NA</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NA</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NA</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46325">
                <a:tc>
                  <a:txBody>
                    <a:bodyPr/>
                    <a:lstStyle/>
                    <a:p>
                      <a:pPr indent="0" lvl="0" marL="0" marR="0" rtl="0" algn="l">
                        <a:spcBef>
                          <a:spcPts val="0"/>
                        </a:spcBef>
                        <a:spcAft>
                          <a:spcPts val="0"/>
                        </a:spcAft>
                        <a:buNone/>
                      </a:pPr>
                      <a:r>
                        <a:rPr b="0" lang="en-US" sz="1200" strike="noStrike">
                          <a:latin typeface="Arial"/>
                          <a:ea typeface="Arial"/>
                          <a:cs typeface="Arial"/>
                          <a:sym typeface="Arial"/>
                        </a:rPr>
                        <a:t>PT-9003</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6</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M</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Neuroblastoma</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cxnSp>
        <p:nvCxnSpPr>
          <p:cNvPr id="258" name="Google Shape;258;p31"/>
          <p:cNvCxnSpPr/>
          <p:nvPr/>
        </p:nvCxnSpPr>
        <p:spPr>
          <a:xfrm>
            <a:off x="180000" y="540000"/>
            <a:ext cx="7920000" cy="0"/>
          </a:xfrm>
          <a:prstGeom prst="straightConnector1">
            <a:avLst/>
          </a:prstGeom>
          <a:noFill/>
          <a:ln cap="flat" cmpd="sng" w="36000">
            <a:solidFill>
              <a:srgbClr val="468A1A"/>
            </a:solidFill>
            <a:prstDash val="solid"/>
            <a:round/>
            <a:headEnd len="sm" w="sm" type="none"/>
            <a:tailEnd len="sm" w="sm" type="none"/>
          </a:ln>
        </p:spPr>
      </p:cxnSp>
      <p:sp>
        <p:nvSpPr>
          <p:cNvPr id="259" name="Google Shape;259;p31"/>
          <p:cNvSpPr txBox="1"/>
          <p:nvPr/>
        </p:nvSpPr>
        <p:spPr>
          <a:xfrm>
            <a:off x="192960" y="72000"/>
            <a:ext cx="6107040" cy="468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2200" strike="noStrike">
                <a:solidFill>
                  <a:srgbClr val="468A1A"/>
                </a:solidFill>
                <a:latin typeface="Arial"/>
                <a:ea typeface="Arial"/>
                <a:cs typeface="Arial"/>
                <a:sym typeface="Arial"/>
              </a:rPr>
              <a:t>Part 2 — What Good Metadata Looks Like</a:t>
            </a:r>
            <a:endParaRPr b="0" sz="2200" strike="noStrike">
              <a:latin typeface="Arial"/>
              <a:ea typeface="Arial"/>
              <a:cs typeface="Arial"/>
              <a:sym typeface="Arial"/>
            </a:endParaRPr>
          </a:p>
        </p:txBody>
      </p:sp>
      <p:sp>
        <p:nvSpPr>
          <p:cNvPr id="260" name="Google Shape;260;p31"/>
          <p:cNvSpPr txBox="1"/>
          <p:nvPr/>
        </p:nvSpPr>
        <p:spPr>
          <a:xfrm>
            <a:off x="5065920" y="850680"/>
            <a:ext cx="4860000" cy="43164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1200" strike="noStrike">
                <a:latin typeface="Arial"/>
                <a:ea typeface="Arial"/>
                <a:cs typeface="Arial"/>
                <a:sym typeface="Arial"/>
              </a:rPr>
              <a:t>Clean: one column per variable, explicit NA, standardized terms. </a:t>
            </a:r>
            <a:endParaRPr b="0" sz="1200" strike="noStrike">
              <a:latin typeface="Arial"/>
              <a:ea typeface="Arial"/>
              <a:cs typeface="Arial"/>
              <a:sym typeface="Arial"/>
            </a:endParaRPr>
          </a:p>
        </p:txBody>
      </p:sp>
      <p:sp>
        <p:nvSpPr>
          <p:cNvPr id="261" name="Google Shape;261;p31"/>
          <p:cNvSpPr txBox="1"/>
          <p:nvPr/>
        </p:nvSpPr>
        <p:spPr>
          <a:xfrm>
            <a:off x="540000" y="2880000"/>
            <a:ext cx="3420000" cy="333720"/>
          </a:xfrm>
          <a:prstGeom prst="rect">
            <a:avLst/>
          </a:prstGeom>
          <a:noFill/>
          <a:ln>
            <a:noFill/>
          </a:ln>
        </p:spPr>
        <p:txBody>
          <a:bodyPr anchorCtr="1" anchor="t" bIns="45000" lIns="90000" spcFirstLastPara="1" rIns="90000" wrap="square" tIns="45000">
            <a:noAutofit/>
          </a:bodyPr>
          <a:lstStyle/>
          <a:p>
            <a:pPr indent="0" lvl="0" marL="0" marR="0" rtl="0" algn="ctr">
              <a:spcBef>
                <a:spcPts val="0"/>
              </a:spcBef>
              <a:spcAft>
                <a:spcPts val="0"/>
              </a:spcAft>
              <a:buNone/>
            </a:pPr>
            <a:r>
              <a:rPr b="0" lang="en-US" sz="1200" strike="noStrike">
                <a:solidFill>
                  <a:srgbClr val="F10D0C"/>
                </a:solidFill>
                <a:latin typeface="Arial"/>
                <a:ea typeface="Arial"/>
                <a:cs typeface="Arial"/>
                <a:sym typeface="Arial"/>
              </a:rPr>
              <a:t>The field name has space separated words!</a:t>
            </a:r>
            <a:endParaRPr b="0" sz="1200" strike="noStrike">
              <a:latin typeface="Arial"/>
              <a:ea typeface="Arial"/>
              <a:cs typeface="Arial"/>
              <a:sym typeface="Arial"/>
            </a:endParaRPr>
          </a:p>
        </p:txBody>
      </p:sp>
      <p:sp>
        <p:nvSpPr>
          <p:cNvPr id="262" name="Google Shape;262;p31"/>
          <p:cNvSpPr txBox="1"/>
          <p:nvPr/>
        </p:nvSpPr>
        <p:spPr>
          <a:xfrm>
            <a:off x="540000" y="3546000"/>
            <a:ext cx="8820000" cy="414000"/>
          </a:xfrm>
          <a:prstGeom prst="rect">
            <a:avLst/>
          </a:prstGeom>
          <a:noFill/>
          <a:ln>
            <a:noFill/>
          </a:ln>
        </p:spPr>
        <p:txBody>
          <a:bodyPr anchorCtr="1" anchor="t" bIns="45000" lIns="90000" spcFirstLastPara="1" rIns="90000" wrap="square" tIns="45000">
            <a:noAutofit/>
          </a:bodyPr>
          <a:lstStyle/>
          <a:p>
            <a:pPr indent="0" lvl="0" marL="0" marR="0" rtl="0" algn="ctr">
              <a:lnSpc>
                <a:spcPct val="115000"/>
              </a:lnSpc>
              <a:spcBef>
                <a:spcPts val="0"/>
              </a:spcBef>
              <a:spcAft>
                <a:spcPts val="0"/>
              </a:spcAft>
              <a:buNone/>
            </a:pPr>
            <a:r>
              <a:rPr b="0" lang="en-US" sz="1200" strike="noStrike">
                <a:solidFill>
                  <a:srgbClr val="000000"/>
                </a:solidFill>
                <a:latin typeface="Arial"/>
                <a:ea typeface="Arial"/>
                <a:cs typeface="Arial"/>
                <a:sym typeface="Arial"/>
              </a:rPr>
              <a:t>If you’re working with </a:t>
            </a:r>
            <a:r>
              <a:rPr b="1" lang="en-US" sz="1200" strike="noStrike">
                <a:solidFill>
                  <a:srgbClr val="000000"/>
                </a:solidFill>
                <a:latin typeface="Arial"/>
                <a:ea typeface="Arial"/>
                <a:cs typeface="Arial"/>
                <a:sym typeface="Arial"/>
              </a:rPr>
              <a:t>pre-existing data</a:t>
            </a:r>
            <a:r>
              <a:rPr b="0" lang="en-US" sz="1200" strike="noStrike">
                <a:solidFill>
                  <a:srgbClr val="000000"/>
                </a:solidFill>
                <a:latin typeface="Arial"/>
                <a:ea typeface="Arial"/>
                <a:cs typeface="Arial"/>
                <a:sym typeface="Arial"/>
              </a:rPr>
              <a:t>, this means you need more cleaning steps before starting the analysis.</a:t>
            </a:r>
            <a:endParaRPr b="0" sz="1200" strike="noStrike">
              <a:latin typeface="Arial"/>
              <a:ea typeface="Arial"/>
              <a:cs typeface="Arial"/>
              <a:sym typeface="Arial"/>
            </a:endParaRPr>
          </a:p>
        </p:txBody>
      </p:sp>
      <p:sp>
        <p:nvSpPr>
          <p:cNvPr id="263" name="Google Shape;263;p31"/>
          <p:cNvSpPr txBox="1"/>
          <p:nvPr/>
        </p:nvSpPr>
        <p:spPr>
          <a:xfrm>
            <a:off x="1244600" y="4381550"/>
            <a:ext cx="7575300" cy="495300"/>
          </a:xfrm>
          <a:prstGeom prst="rect">
            <a:avLst/>
          </a:prstGeom>
          <a:noFill/>
          <a:ln>
            <a:noFill/>
          </a:ln>
        </p:spPr>
        <p:txBody>
          <a:bodyPr anchorCtr="1" anchor="t" bIns="45000" lIns="90000" spcFirstLastPara="1" rIns="90000" wrap="square" tIns="45000">
            <a:noAutofit/>
          </a:bodyPr>
          <a:lstStyle/>
          <a:p>
            <a:pPr indent="0" lvl="0" marL="0" marR="0" rtl="0" algn="ctr">
              <a:lnSpc>
                <a:spcPct val="115000"/>
              </a:lnSpc>
              <a:spcBef>
                <a:spcPts val="0"/>
              </a:spcBef>
              <a:spcAft>
                <a:spcPts val="0"/>
              </a:spcAft>
              <a:buNone/>
            </a:pPr>
            <a:r>
              <a:rPr b="1" lang="en-US" sz="1200" strike="noStrike">
                <a:solidFill>
                  <a:srgbClr val="000000"/>
                </a:solidFill>
                <a:latin typeface="Arial"/>
                <a:ea typeface="Arial"/>
                <a:cs typeface="Arial"/>
                <a:sym typeface="Arial"/>
              </a:rPr>
              <a:t>If you’re generating your own data, a multidisciplinary </a:t>
            </a:r>
            <a:r>
              <a:rPr b="1" lang="en-US" sz="1200"/>
              <a:t>approach</a:t>
            </a:r>
            <a:r>
              <a:rPr b="1" lang="en-US" sz="1200" strike="noStrike">
                <a:solidFill>
                  <a:srgbClr val="000000"/>
                </a:solidFill>
                <a:latin typeface="Arial"/>
                <a:ea typeface="Arial"/>
                <a:cs typeface="Arial"/>
                <a:sym typeface="Arial"/>
              </a:rPr>
              <a:t> is essential to ensure that </a:t>
            </a:r>
            <a:r>
              <a:rPr b="1" lang="en-US" sz="1200"/>
              <a:t>metadata</a:t>
            </a:r>
            <a:r>
              <a:rPr b="1" lang="en-US" sz="1200" strike="noStrike">
                <a:solidFill>
                  <a:srgbClr val="000000"/>
                </a:solidFill>
                <a:latin typeface="Arial"/>
                <a:ea typeface="Arial"/>
                <a:cs typeface="Arial"/>
                <a:sym typeface="Arial"/>
              </a:rPr>
              <a:t> can include all vital information, but also can be correctly structured for computational purpose.</a:t>
            </a:r>
            <a:endParaRPr b="0" sz="1200" strike="noStrike">
              <a:latin typeface="Arial"/>
              <a:ea typeface="Arial"/>
              <a:cs typeface="Arial"/>
              <a:sym typeface="Arial"/>
            </a:endParaRPr>
          </a:p>
        </p:txBody>
      </p:sp>
      <p:sp>
        <p:nvSpPr>
          <p:cNvPr id="264" name="Google Shape;264;p31"/>
          <p:cNvSpPr/>
          <p:nvPr/>
        </p:nvSpPr>
        <p:spPr>
          <a:xfrm>
            <a:off x="432000" y="1296000"/>
            <a:ext cx="1080000" cy="360000"/>
          </a:xfrm>
          <a:prstGeom prst="ellipse">
            <a:avLst/>
          </a:prstGeom>
          <a:noFill/>
          <a:ln cap="flat" cmpd="sng" w="36000">
            <a:solidFill>
              <a:srgbClr val="F10D0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5" name="Google Shape;265;p31"/>
          <p:cNvPicPr preferRelativeResize="0"/>
          <p:nvPr/>
        </p:nvPicPr>
        <p:blipFill rotWithShape="1">
          <a:blip r:embed="rId3">
            <a:alphaModFix/>
          </a:blip>
          <a:srcRect b="9293" l="24796" r="25958" t="11418"/>
          <a:stretch/>
        </p:blipFill>
        <p:spPr>
          <a:xfrm rot="-1401575">
            <a:off x="8756753" y="3221627"/>
            <a:ext cx="530943" cy="85477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cxnSp>
        <p:nvCxnSpPr>
          <p:cNvPr id="270" name="Google Shape;270;p32"/>
          <p:cNvCxnSpPr/>
          <p:nvPr/>
        </p:nvCxnSpPr>
        <p:spPr>
          <a:xfrm>
            <a:off x="180000" y="540000"/>
            <a:ext cx="7920000" cy="0"/>
          </a:xfrm>
          <a:prstGeom prst="straightConnector1">
            <a:avLst/>
          </a:prstGeom>
          <a:noFill/>
          <a:ln cap="flat" cmpd="sng" w="36000">
            <a:solidFill>
              <a:srgbClr val="468A1A"/>
            </a:solidFill>
            <a:prstDash val="solid"/>
            <a:round/>
            <a:headEnd len="sm" w="sm" type="none"/>
            <a:tailEnd len="sm" w="sm" type="none"/>
          </a:ln>
        </p:spPr>
      </p:cxnSp>
      <p:sp>
        <p:nvSpPr>
          <p:cNvPr id="271" name="Google Shape;271;p32"/>
          <p:cNvSpPr txBox="1"/>
          <p:nvPr/>
        </p:nvSpPr>
        <p:spPr>
          <a:xfrm>
            <a:off x="192960" y="72000"/>
            <a:ext cx="6107040" cy="468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2200" strike="noStrike">
                <a:solidFill>
                  <a:srgbClr val="468A1A"/>
                </a:solidFill>
                <a:latin typeface="Arial"/>
                <a:ea typeface="Arial"/>
                <a:cs typeface="Arial"/>
                <a:sym typeface="Arial"/>
              </a:rPr>
              <a:t>Part 2 — What Good Metadata Looks Like</a:t>
            </a:r>
            <a:endParaRPr b="0" sz="2200" strike="noStrike">
              <a:latin typeface="Arial"/>
              <a:ea typeface="Arial"/>
              <a:cs typeface="Arial"/>
              <a:sym typeface="Arial"/>
            </a:endParaRPr>
          </a:p>
        </p:txBody>
      </p:sp>
      <p:sp>
        <p:nvSpPr>
          <p:cNvPr id="272" name="Google Shape;272;p32"/>
          <p:cNvSpPr txBox="1"/>
          <p:nvPr/>
        </p:nvSpPr>
        <p:spPr>
          <a:xfrm>
            <a:off x="1935163" y="726331"/>
            <a:ext cx="6210300" cy="593700"/>
          </a:xfrm>
          <a:prstGeom prst="rect">
            <a:avLst/>
          </a:prstGeom>
          <a:noFill/>
          <a:ln>
            <a:noFill/>
          </a:ln>
        </p:spPr>
        <p:txBody>
          <a:bodyPr anchorCtr="1" anchor="t" bIns="45000" lIns="90000" spcFirstLastPara="1" rIns="90000" wrap="square" tIns="45000">
            <a:noAutofit/>
          </a:bodyPr>
          <a:lstStyle/>
          <a:p>
            <a:pPr indent="0" lvl="0" marL="0" marR="0" rtl="0" algn="ctr">
              <a:lnSpc>
                <a:spcPct val="115000"/>
              </a:lnSpc>
              <a:spcBef>
                <a:spcPts val="0"/>
              </a:spcBef>
              <a:spcAft>
                <a:spcPts val="0"/>
              </a:spcAft>
              <a:buNone/>
            </a:pPr>
            <a:r>
              <a:rPr b="0" lang="en-US" sz="1200" strike="noStrike">
                <a:solidFill>
                  <a:srgbClr val="000000"/>
                </a:solidFill>
                <a:latin typeface="Arial"/>
                <a:ea typeface="Arial"/>
                <a:cs typeface="Arial"/>
                <a:sym typeface="Arial"/>
              </a:rPr>
              <a:t>We’ve talked about the structure of good metadata.</a:t>
            </a:r>
            <a:endParaRPr sz="1200"/>
          </a:p>
          <a:p>
            <a:pPr indent="0" lvl="0" marL="0" marR="0" rtl="0" algn="ctr">
              <a:lnSpc>
                <a:spcPct val="115000"/>
              </a:lnSpc>
              <a:spcBef>
                <a:spcPts val="0"/>
              </a:spcBef>
              <a:spcAft>
                <a:spcPts val="0"/>
              </a:spcAft>
              <a:buNone/>
            </a:pPr>
            <a:r>
              <a:rPr b="0" lang="en-US" sz="1500" strike="noStrike">
                <a:solidFill>
                  <a:srgbClr val="000000"/>
                </a:solidFill>
                <a:latin typeface="Arial"/>
                <a:ea typeface="Arial"/>
                <a:cs typeface="Arial"/>
                <a:sym typeface="Arial"/>
              </a:rPr>
              <a:t>But </a:t>
            </a:r>
            <a:r>
              <a:rPr b="1" lang="en-US" sz="1500" strike="noStrike">
                <a:solidFill>
                  <a:srgbClr val="000000"/>
                </a:solidFill>
                <a:latin typeface="Arial"/>
                <a:ea typeface="Arial"/>
                <a:cs typeface="Arial"/>
                <a:sym typeface="Arial"/>
              </a:rPr>
              <a:t>how do we decide which metadata fields to include?</a:t>
            </a:r>
            <a:endParaRPr b="0" sz="1500" strike="noStrike">
              <a:latin typeface="Arial"/>
              <a:ea typeface="Arial"/>
              <a:cs typeface="Arial"/>
              <a:sym typeface="Arial"/>
            </a:endParaRPr>
          </a:p>
        </p:txBody>
      </p:sp>
      <p:pic>
        <p:nvPicPr>
          <p:cNvPr id="273" name="Google Shape;273;p32"/>
          <p:cNvPicPr preferRelativeResize="0"/>
          <p:nvPr/>
        </p:nvPicPr>
        <p:blipFill>
          <a:blip r:embed="rId3">
            <a:alphaModFix/>
          </a:blip>
          <a:stretch>
            <a:fillRect/>
          </a:stretch>
        </p:blipFill>
        <p:spPr>
          <a:xfrm>
            <a:off x="3113509" y="1320045"/>
            <a:ext cx="3566700" cy="28526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cxnSp>
        <p:nvCxnSpPr>
          <p:cNvPr id="278" name="Google Shape;278;p33"/>
          <p:cNvCxnSpPr/>
          <p:nvPr/>
        </p:nvCxnSpPr>
        <p:spPr>
          <a:xfrm>
            <a:off x="180000" y="540000"/>
            <a:ext cx="7920000" cy="0"/>
          </a:xfrm>
          <a:prstGeom prst="straightConnector1">
            <a:avLst/>
          </a:prstGeom>
          <a:noFill/>
          <a:ln cap="flat" cmpd="sng" w="36000">
            <a:solidFill>
              <a:srgbClr val="468A1A"/>
            </a:solidFill>
            <a:prstDash val="solid"/>
            <a:round/>
            <a:headEnd len="sm" w="sm" type="none"/>
            <a:tailEnd len="sm" w="sm" type="none"/>
          </a:ln>
        </p:spPr>
      </p:cxnSp>
      <p:sp>
        <p:nvSpPr>
          <p:cNvPr id="279" name="Google Shape;279;p33"/>
          <p:cNvSpPr txBox="1"/>
          <p:nvPr/>
        </p:nvSpPr>
        <p:spPr>
          <a:xfrm>
            <a:off x="192960" y="72000"/>
            <a:ext cx="6107100" cy="468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2200" strike="noStrike">
                <a:solidFill>
                  <a:srgbClr val="468A1A"/>
                </a:solidFill>
                <a:latin typeface="Arial"/>
                <a:ea typeface="Arial"/>
                <a:cs typeface="Arial"/>
                <a:sym typeface="Arial"/>
              </a:rPr>
              <a:t>Part 2 — What Good Metadata Looks Like</a:t>
            </a:r>
            <a:endParaRPr b="0" sz="2200" strike="noStrike">
              <a:latin typeface="Arial"/>
              <a:ea typeface="Arial"/>
              <a:cs typeface="Arial"/>
              <a:sym typeface="Arial"/>
            </a:endParaRPr>
          </a:p>
        </p:txBody>
      </p:sp>
      <p:sp>
        <p:nvSpPr>
          <p:cNvPr id="280" name="Google Shape;280;p33"/>
          <p:cNvSpPr txBox="1"/>
          <p:nvPr/>
        </p:nvSpPr>
        <p:spPr>
          <a:xfrm>
            <a:off x="1935163" y="726331"/>
            <a:ext cx="6210300" cy="593700"/>
          </a:xfrm>
          <a:prstGeom prst="rect">
            <a:avLst/>
          </a:prstGeom>
          <a:noFill/>
          <a:ln>
            <a:noFill/>
          </a:ln>
        </p:spPr>
        <p:txBody>
          <a:bodyPr anchorCtr="1" anchor="t" bIns="45000" lIns="90000" spcFirstLastPara="1" rIns="90000" wrap="square" tIns="45000">
            <a:noAutofit/>
          </a:bodyPr>
          <a:lstStyle/>
          <a:p>
            <a:pPr indent="0" lvl="0" marL="0" marR="0" rtl="0" algn="ctr">
              <a:lnSpc>
                <a:spcPct val="115000"/>
              </a:lnSpc>
              <a:spcBef>
                <a:spcPts val="0"/>
              </a:spcBef>
              <a:spcAft>
                <a:spcPts val="0"/>
              </a:spcAft>
              <a:buNone/>
            </a:pPr>
            <a:r>
              <a:rPr b="0" lang="en-US" sz="1200" strike="noStrike">
                <a:solidFill>
                  <a:srgbClr val="000000"/>
                </a:solidFill>
                <a:latin typeface="Arial"/>
                <a:ea typeface="Arial"/>
                <a:cs typeface="Arial"/>
                <a:sym typeface="Arial"/>
              </a:rPr>
              <a:t>We’ve talked about the structure of good metadata.</a:t>
            </a:r>
            <a:endParaRPr sz="1200"/>
          </a:p>
          <a:p>
            <a:pPr indent="0" lvl="0" marL="0" marR="0" rtl="0" algn="ctr">
              <a:lnSpc>
                <a:spcPct val="115000"/>
              </a:lnSpc>
              <a:spcBef>
                <a:spcPts val="0"/>
              </a:spcBef>
              <a:spcAft>
                <a:spcPts val="0"/>
              </a:spcAft>
              <a:buNone/>
            </a:pPr>
            <a:r>
              <a:rPr b="0" lang="en-US" sz="1500" strike="noStrike">
                <a:solidFill>
                  <a:srgbClr val="000000"/>
                </a:solidFill>
                <a:latin typeface="Arial"/>
                <a:ea typeface="Arial"/>
                <a:cs typeface="Arial"/>
                <a:sym typeface="Arial"/>
              </a:rPr>
              <a:t>But </a:t>
            </a:r>
            <a:r>
              <a:rPr b="1" lang="en-US" sz="1500" strike="noStrike">
                <a:solidFill>
                  <a:srgbClr val="000000"/>
                </a:solidFill>
                <a:latin typeface="Arial"/>
                <a:ea typeface="Arial"/>
                <a:cs typeface="Arial"/>
                <a:sym typeface="Arial"/>
              </a:rPr>
              <a:t>how do we decide which metadata fields to include?</a:t>
            </a:r>
            <a:endParaRPr b="0" sz="1500" strike="noStrike">
              <a:latin typeface="Arial"/>
              <a:ea typeface="Arial"/>
              <a:cs typeface="Arial"/>
              <a:sym typeface="Arial"/>
            </a:endParaRPr>
          </a:p>
        </p:txBody>
      </p:sp>
      <p:sp>
        <p:nvSpPr>
          <p:cNvPr id="281" name="Google Shape;281;p33"/>
          <p:cNvSpPr txBox="1"/>
          <p:nvPr/>
        </p:nvSpPr>
        <p:spPr>
          <a:xfrm>
            <a:off x="678650" y="4271875"/>
            <a:ext cx="9029700" cy="1063800"/>
          </a:xfrm>
          <a:prstGeom prst="rect">
            <a:avLst/>
          </a:prstGeom>
          <a:noFill/>
          <a:ln>
            <a:noFill/>
          </a:ln>
        </p:spPr>
        <p:txBody>
          <a:bodyPr anchorCtr="1" anchor="t" bIns="45000" lIns="90000" spcFirstLastPara="1" rIns="90000" wrap="square" tIns="45000">
            <a:noAutofit/>
          </a:bodyPr>
          <a:lstStyle/>
          <a:p>
            <a:pPr indent="0" lvl="0" marL="0" marR="0" rtl="0" algn="ctr">
              <a:lnSpc>
                <a:spcPct val="115000"/>
              </a:lnSpc>
              <a:spcBef>
                <a:spcPts val="0"/>
              </a:spcBef>
              <a:spcAft>
                <a:spcPts val="0"/>
              </a:spcAft>
              <a:buNone/>
            </a:pPr>
            <a:r>
              <a:rPr b="1" lang="en-US" sz="1500" strike="noStrike">
                <a:solidFill>
                  <a:schemeClr val="dk1"/>
                </a:solidFill>
                <a:latin typeface="Arial"/>
                <a:ea typeface="Arial"/>
                <a:cs typeface="Arial"/>
                <a:sym typeface="Arial"/>
              </a:rPr>
              <a:t>There’s no universal metadata set that works for </a:t>
            </a:r>
            <a:r>
              <a:rPr b="1" lang="en-US" sz="1500">
                <a:solidFill>
                  <a:schemeClr val="dk1"/>
                </a:solidFill>
              </a:rPr>
              <a:t>every</a:t>
            </a:r>
            <a:r>
              <a:rPr b="1" lang="en-US" sz="1500" strike="noStrike">
                <a:solidFill>
                  <a:schemeClr val="dk1"/>
                </a:solidFill>
                <a:latin typeface="Arial"/>
                <a:ea typeface="Arial"/>
                <a:cs typeface="Arial"/>
                <a:sym typeface="Arial"/>
              </a:rPr>
              <a:t> occasion.</a:t>
            </a:r>
            <a:endParaRPr b="0" sz="1500" strike="noStrike">
              <a:solidFill>
                <a:schemeClr val="dk1"/>
              </a:solidFill>
              <a:latin typeface="Arial"/>
              <a:ea typeface="Arial"/>
              <a:cs typeface="Arial"/>
              <a:sym typeface="Arial"/>
            </a:endParaRPr>
          </a:p>
          <a:p>
            <a:pPr indent="0" lvl="0" marL="0" marR="0" rtl="0" algn="ctr">
              <a:lnSpc>
                <a:spcPct val="115000"/>
              </a:lnSpc>
              <a:spcBef>
                <a:spcPts val="0"/>
              </a:spcBef>
              <a:spcAft>
                <a:spcPts val="0"/>
              </a:spcAft>
              <a:buNone/>
            </a:pPr>
            <a:r>
              <a:t/>
            </a:r>
            <a:endParaRPr b="0" sz="1500" strike="noStrike">
              <a:solidFill>
                <a:schemeClr val="dk1"/>
              </a:solidFill>
              <a:latin typeface="Arial"/>
              <a:ea typeface="Arial"/>
              <a:cs typeface="Arial"/>
              <a:sym typeface="Arial"/>
            </a:endParaRPr>
          </a:p>
          <a:p>
            <a:pPr indent="0" lvl="0" marL="0" marR="0" rtl="0" algn="ctr">
              <a:lnSpc>
                <a:spcPct val="115000"/>
              </a:lnSpc>
              <a:spcBef>
                <a:spcPts val="0"/>
              </a:spcBef>
              <a:spcAft>
                <a:spcPts val="0"/>
              </a:spcAft>
              <a:buNone/>
            </a:pPr>
            <a:r>
              <a:rPr b="1" lang="en-US" sz="1500" strike="noStrike">
                <a:solidFill>
                  <a:srgbClr val="C9211E"/>
                </a:solidFill>
                <a:latin typeface="Arial"/>
                <a:ea typeface="Arial"/>
                <a:cs typeface="Arial"/>
                <a:sym typeface="Arial"/>
              </a:rPr>
              <a:t>Experimental design</a:t>
            </a:r>
            <a:r>
              <a:rPr b="1" lang="en-US" sz="1500" strike="noStrike">
                <a:solidFill>
                  <a:schemeClr val="dk1"/>
                </a:solidFill>
                <a:latin typeface="Arial"/>
                <a:ea typeface="Arial"/>
                <a:cs typeface="Arial"/>
                <a:sym typeface="Arial"/>
              </a:rPr>
              <a:t> and </a:t>
            </a:r>
            <a:r>
              <a:rPr b="1" lang="en-US" sz="1500" strike="noStrike">
                <a:solidFill>
                  <a:srgbClr val="C9211E"/>
                </a:solidFill>
                <a:latin typeface="Arial"/>
                <a:ea typeface="Arial"/>
                <a:cs typeface="Arial"/>
                <a:sym typeface="Arial"/>
              </a:rPr>
              <a:t>study goal</a:t>
            </a:r>
            <a:r>
              <a:rPr b="1" lang="en-US" sz="1500" strike="noStrike">
                <a:solidFill>
                  <a:schemeClr val="dk1"/>
                </a:solidFill>
                <a:latin typeface="Arial"/>
                <a:ea typeface="Arial"/>
                <a:cs typeface="Arial"/>
                <a:sym typeface="Arial"/>
              </a:rPr>
              <a:t> determine what information are vital for your specific case</a:t>
            </a:r>
            <a:r>
              <a:rPr b="0" lang="en-US" sz="1500" strike="noStrike">
                <a:solidFill>
                  <a:srgbClr val="000000"/>
                </a:solidFill>
                <a:latin typeface="Arial"/>
                <a:ea typeface="Arial"/>
                <a:cs typeface="Arial"/>
                <a:sym typeface="Arial"/>
              </a:rPr>
              <a:t>.</a:t>
            </a:r>
            <a:endParaRPr b="0" sz="1500" strike="noStrike">
              <a:latin typeface="Arial"/>
              <a:ea typeface="Arial"/>
              <a:cs typeface="Arial"/>
              <a:sym typeface="Arial"/>
            </a:endParaRPr>
          </a:p>
        </p:txBody>
      </p:sp>
      <p:pic>
        <p:nvPicPr>
          <p:cNvPr id="282" name="Google Shape;282;p33"/>
          <p:cNvPicPr preferRelativeResize="0"/>
          <p:nvPr/>
        </p:nvPicPr>
        <p:blipFill>
          <a:blip r:embed="rId3">
            <a:alphaModFix/>
          </a:blip>
          <a:stretch>
            <a:fillRect/>
          </a:stretch>
        </p:blipFill>
        <p:spPr>
          <a:xfrm>
            <a:off x="3113509" y="1320045"/>
            <a:ext cx="3566700" cy="28526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cxnSp>
        <p:nvCxnSpPr>
          <p:cNvPr id="287" name="Google Shape;287;p34"/>
          <p:cNvCxnSpPr/>
          <p:nvPr/>
        </p:nvCxnSpPr>
        <p:spPr>
          <a:xfrm>
            <a:off x="180000" y="540000"/>
            <a:ext cx="7920000" cy="0"/>
          </a:xfrm>
          <a:prstGeom prst="straightConnector1">
            <a:avLst/>
          </a:prstGeom>
          <a:noFill/>
          <a:ln cap="flat" cmpd="sng" w="36000">
            <a:solidFill>
              <a:srgbClr val="468A1A"/>
            </a:solidFill>
            <a:prstDash val="solid"/>
            <a:round/>
            <a:headEnd len="sm" w="sm" type="none"/>
            <a:tailEnd len="sm" w="sm" type="none"/>
          </a:ln>
        </p:spPr>
      </p:cxnSp>
      <p:sp>
        <p:nvSpPr>
          <p:cNvPr id="288" name="Google Shape;288;p34"/>
          <p:cNvSpPr txBox="1"/>
          <p:nvPr/>
        </p:nvSpPr>
        <p:spPr>
          <a:xfrm>
            <a:off x="192960" y="72000"/>
            <a:ext cx="6107100" cy="468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2200" strike="noStrike">
                <a:solidFill>
                  <a:srgbClr val="468A1A"/>
                </a:solidFill>
                <a:latin typeface="Arial"/>
                <a:ea typeface="Arial"/>
                <a:cs typeface="Arial"/>
                <a:sym typeface="Arial"/>
              </a:rPr>
              <a:t>Part 2 — What Good Metadata Looks Like</a:t>
            </a:r>
            <a:endParaRPr b="0" sz="2200" strike="noStrike">
              <a:latin typeface="Arial"/>
              <a:ea typeface="Arial"/>
              <a:cs typeface="Arial"/>
              <a:sym typeface="Arial"/>
            </a:endParaRPr>
          </a:p>
        </p:txBody>
      </p:sp>
      <p:sp>
        <p:nvSpPr>
          <p:cNvPr id="289" name="Google Shape;289;p34"/>
          <p:cNvSpPr txBox="1"/>
          <p:nvPr/>
        </p:nvSpPr>
        <p:spPr>
          <a:xfrm>
            <a:off x="1935163" y="726331"/>
            <a:ext cx="6210300" cy="593700"/>
          </a:xfrm>
          <a:prstGeom prst="rect">
            <a:avLst/>
          </a:prstGeom>
          <a:noFill/>
          <a:ln>
            <a:noFill/>
          </a:ln>
        </p:spPr>
        <p:txBody>
          <a:bodyPr anchorCtr="1" anchor="t" bIns="45000" lIns="90000" spcFirstLastPara="1" rIns="90000" wrap="square" tIns="45000">
            <a:noAutofit/>
          </a:bodyPr>
          <a:lstStyle/>
          <a:p>
            <a:pPr indent="0" lvl="0" marL="0" marR="0" rtl="0" algn="ctr">
              <a:lnSpc>
                <a:spcPct val="115000"/>
              </a:lnSpc>
              <a:spcBef>
                <a:spcPts val="0"/>
              </a:spcBef>
              <a:spcAft>
                <a:spcPts val="0"/>
              </a:spcAft>
              <a:buNone/>
            </a:pPr>
            <a:r>
              <a:rPr b="0" lang="en-US" sz="1200" strike="noStrike">
                <a:solidFill>
                  <a:srgbClr val="000000"/>
                </a:solidFill>
                <a:latin typeface="Arial"/>
                <a:ea typeface="Arial"/>
                <a:cs typeface="Arial"/>
                <a:sym typeface="Arial"/>
              </a:rPr>
              <a:t>We’ve talked about the structure of good metadata.</a:t>
            </a:r>
            <a:endParaRPr sz="1200"/>
          </a:p>
          <a:p>
            <a:pPr indent="0" lvl="0" marL="0" marR="0" rtl="0" algn="ctr">
              <a:lnSpc>
                <a:spcPct val="115000"/>
              </a:lnSpc>
              <a:spcBef>
                <a:spcPts val="0"/>
              </a:spcBef>
              <a:spcAft>
                <a:spcPts val="0"/>
              </a:spcAft>
              <a:buNone/>
            </a:pPr>
            <a:r>
              <a:rPr b="0" lang="en-US" sz="1500" strike="noStrike">
                <a:solidFill>
                  <a:srgbClr val="000000"/>
                </a:solidFill>
                <a:latin typeface="Arial"/>
                <a:ea typeface="Arial"/>
                <a:cs typeface="Arial"/>
                <a:sym typeface="Arial"/>
              </a:rPr>
              <a:t>But </a:t>
            </a:r>
            <a:r>
              <a:rPr b="1" lang="en-US" sz="1500" strike="noStrike">
                <a:solidFill>
                  <a:srgbClr val="000000"/>
                </a:solidFill>
                <a:latin typeface="Arial"/>
                <a:ea typeface="Arial"/>
                <a:cs typeface="Arial"/>
                <a:sym typeface="Arial"/>
              </a:rPr>
              <a:t>how do we decide which metadata fields to include?</a:t>
            </a:r>
            <a:endParaRPr b="0" sz="1500" strike="noStrike">
              <a:latin typeface="Arial"/>
              <a:ea typeface="Arial"/>
              <a:cs typeface="Arial"/>
              <a:sym typeface="Arial"/>
            </a:endParaRPr>
          </a:p>
        </p:txBody>
      </p:sp>
      <p:pic>
        <p:nvPicPr>
          <p:cNvPr id="290" name="Google Shape;290;p34"/>
          <p:cNvPicPr preferRelativeResize="0"/>
          <p:nvPr/>
        </p:nvPicPr>
        <p:blipFill>
          <a:blip r:embed="rId3">
            <a:alphaModFix/>
          </a:blip>
          <a:stretch>
            <a:fillRect/>
          </a:stretch>
        </p:blipFill>
        <p:spPr>
          <a:xfrm>
            <a:off x="3113509" y="1320045"/>
            <a:ext cx="3566700" cy="2852675"/>
          </a:xfrm>
          <a:prstGeom prst="rect">
            <a:avLst/>
          </a:prstGeom>
          <a:noFill/>
          <a:ln>
            <a:noFill/>
          </a:ln>
        </p:spPr>
      </p:pic>
      <p:sp>
        <p:nvSpPr>
          <p:cNvPr id="291" name="Google Shape;291;p34"/>
          <p:cNvSpPr txBox="1"/>
          <p:nvPr/>
        </p:nvSpPr>
        <p:spPr>
          <a:xfrm>
            <a:off x="678650" y="4271875"/>
            <a:ext cx="9029700" cy="1063800"/>
          </a:xfrm>
          <a:prstGeom prst="rect">
            <a:avLst/>
          </a:prstGeom>
          <a:noFill/>
          <a:ln>
            <a:noFill/>
          </a:ln>
        </p:spPr>
        <p:txBody>
          <a:bodyPr anchorCtr="1" anchor="t" bIns="45000" lIns="90000" spcFirstLastPara="1" rIns="90000" wrap="square" tIns="45000">
            <a:noAutofit/>
          </a:bodyPr>
          <a:lstStyle/>
          <a:p>
            <a:pPr indent="0" lvl="0" marL="0" marR="0" rtl="0" algn="ctr">
              <a:lnSpc>
                <a:spcPct val="115000"/>
              </a:lnSpc>
              <a:spcBef>
                <a:spcPts val="0"/>
              </a:spcBef>
              <a:spcAft>
                <a:spcPts val="0"/>
              </a:spcAft>
              <a:buNone/>
            </a:pPr>
            <a:r>
              <a:rPr b="1" lang="en-US" sz="1500" strike="noStrike">
                <a:solidFill>
                  <a:schemeClr val="dk1"/>
                </a:solidFill>
                <a:latin typeface="Arial"/>
                <a:ea typeface="Arial"/>
                <a:cs typeface="Arial"/>
                <a:sym typeface="Arial"/>
              </a:rPr>
              <a:t>There’s no universal metadata set that works for </a:t>
            </a:r>
            <a:r>
              <a:rPr b="1" lang="en-US" sz="1500">
                <a:solidFill>
                  <a:schemeClr val="dk1"/>
                </a:solidFill>
              </a:rPr>
              <a:t>every</a:t>
            </a:r>
            <a:r>
              <a:rPr b="1" lang="en-US" sz="1500" strike="noStrike">
                <a:solidFill>
                  <a:schemeClr val="dk1"/>
                </a:solidFill>
                <a:latin typeface="Arial"/>
                <a:ea typeface="Arial"/>
                <a:cs typeface="Arial"/>
                <a:sym typeface="Arial"/>
              </a:rPr>
              <a:t> occasion.</a:t>
            </a:r>
            <a:endParaRPr b="0" sz="1500" strike="noStrike">
              <a:solidFill>
                <a:schemeClr val="dk1"/>
              </a:solidFill>
              <a:latin typeface="Arial"/>
              <a:ea typeface="Arial"/>
              <a:cs typeface="Arial"/>
              <a:sym typeface="Arial"/>
            </a:endParaRPr>
          </a:p>
          <a:p>
            <a:pPr indent="0" lvl="0" marL="0" marR="0" rtl="0" algn="ctr">
              <a:lnSpc>
                <a:spcPct val="115000"/>
              </a:lnSpc>
              <a:spcBef>
                <a:spcPts val="0"/>
              </a:spcBef>
              <a:spcAft>
                <a:spcPts val="0"/>
              </a:spcAft>
              <a:buNone/>
            </a:pPr>
            <a:r>
              <a:t/>
            </a:r>
            <a:endParaRPr b="0" sz="1500" strike="noStrike">
              <a:solidFill>
                <a:schemeClr val="dk1"/>
              </a:solidFill>
              <a:latin typeface="Arial"/>
              <a:ea typeface="Arial"/>
              <a:cs typeface="Arial"/>
              <a:sym typeface="Arial"/>
            </a:endParaRPr>
          </a:p>
          <a:p>
            <a:pPr indent="0" lvl="0" marL="0" marR="0" rtl="0" algn="ctr">
              <a:lnSpc>
                <a:spcPct val="115000"/>
              </a:lnSpc>
              <a:spcBef>
                <a:spcPts val="0"/>
              </a:spcBef>
              <a:spcAft>
                <a:spcPts val="0"/>
              </a:spcAft>
              <a:buNone/>
            </a:pPr>
            <a:r>
              <a:rPr b="1" lang="en-US" sz="1500" strike="noStrike">
                <a:solidFill>
                  <a:srgbClr val="C9211E"/>
                </a:solidFill>
                <a:latin typeface="Arial"/>
                <a:ea typeface="Arial"/>
                <a:cs typeface="Arial"/>
                <a:sym typeface="Arial"/>
              </a:rPr>
              <a:t>Experimental design</a:t>
            </a:r>
            <a:r>
              <a:rPr b="1" lang="en-US" sz="1500" strike="noStrike">
                <a:solidFill>
                  <a:schemeClr val="dk1"/>
                </a:solidFill>
                <a:latin typeface="Arial"/>
                <a:ea typeface="Arial"/>
                <a:cs typeface="Arial"/>
                <a:sym typeface="Arial"/>
              </a:rPr>
              <a:t> and </a:t>
            </a:r>
            <a:r>
              <a:rPr b="1" lang="en-US" sz="1500" strike="noStrike">
                <a:solidFill>
                  <a:srgbClr val="C9211E"/>
                </a:solidFill>
                <a:latin typeface="Arial"/>
                <a:ea typeface="Arial"/>
                <a:cs typeface="Arial"/>
                <a:sym typeface="Arial"/>
              </a:rPr>
              <a:t>study goal</a:t>
            </a:r>
            <a:r>
              <a:rPr b="1" lang="en-US" sz="1500" strike="noStrike">
                <a:solidFill>
                  <a:schemeClr val="dk1"/>
                </a:solidFill>
                <a:latin typeface="Arial"/>
                <a:ea typeface="Arial"/>
                <a:cs typeface="Arial"/>
                <a:sym typeface="Arial"/>
              </a:rPr>
              <a:t> determine what information are vital for your specific case</a:t>
            </a:r>
            <a:r>
              <a:rPr b="0" lang="en-US" sz="1500" strike="noStrike">
                <a:solidFill>
                  <a:srgbClr val="000000"/>
                </a:solidFill>
                <a:latin typeface="Arial"/>
                <a:ea typeface="Arial"/>
                <a:cs typeface="Arial"/>
                <a:sym typeface="Arial"/>
              </a:rPr>
              <a:t>.</a:t>
            </a:r>
            <a:endParaRPr b="0" sz="1500" strike="noStrike">
              <a:latin typeface="Arial"/>
              <a:ea typeface="Arial"/>
              <a:cs typeface="Arial"/>
              <a:sym typeface="Arial"/>
            </a:endParaRPr>
          </a:p>
        </p:txBody>
      </p:sp>
      <p:sp>
        <p:nvSpPr>
          <p:cNvPr id="292" name="Google Shape;292;p34"/>
          <p:cNvSpPr txBox="1"/>
          <p:nvPr/>
        </p:nvSpPr>
        <p:spPr>
          <a:xfrm rot="440">
            <a:off x="602775" y="2276798"/>
            <a:ext cx="2342100" cy="1063500"/>
          </a:xfrm>
          <a:prstGeom prst="rect">
            <a:avLst/>
          </a:prstGeom>
          <a:noFill/>
          <a:ln>
            <a:noFill/>
          </a:ln>
        </p:spPr>
        <p:txBody>
          <a:bodyPr anchorCtr="1" anchor="t" bIns="45000" lIns="90000" spcFirstLastPara="1" rIns="90000" wrap="square" tIns="45000">
            <a:noAutofit/>
          </a:bodyPr>
          <a:lstStyle/>
          <a:p>
            <a:pPr indent="0" lvl="0" marL="0" marR="0" rtl="0" algn="ctr">
              <a:lnSpc>
                <a:spcPct val="115000"/>
              </a:lnSpc>
              <a:spcBef>
                <a:spcPts val="0"/>
              </a:spcBef>
              <a:spcAft>
                <a:spcPts val="0"/>
              </a:spcAft>
              <a:buNone/>
            </a:pPr>
            <a:r>
              <a:rPr lang="en-US" sz="1200"/>
              <a:t>If someone else gets access to these data in five or ten years, would they have all the necessary info to analyse and contextualize it?</a:t>
            </a:r>
            <a:endParaRPr b="0" sz="1200" strike="noStrike">
              <a:latin typeface="Arial"/>
              <a:ea typeface="Arial"/>
              <a:cs typeface="Arial"/>
              <a:sym typeface="Arial"/>
            </a:endParaRPr>
          </a:p>
        </p:txBody>
      </p:sp>
      <p:pic>
        <p:nvPicPr>
          <p:cNvPr id="293" name="Google Shape;293;p34"/>
          <p:cNvPicPr preferRelativeResize="0"/>
          <p:nvPr/>
        </p:nvPicPr>
        <p:blipFill rotWithShape="1">
          <a:blip r:embed="rId4">
            <a:alphaModFix/>
          </a:blip>
          <a:srcRect b="0" l="64770" r="0" t="0"/>
          <a:stretch/>
        </p:blipFill>
        <p:spPr>
          <a:xfrm>
            <a:off x="192950" y="2176622"/>
            <a:ext cx="409825" cy="116335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cxnSp>
        <p:nvCxnSpPr>
          <p:cNvPr id="298" name="Google Shape;298;p35"/>
          <p:cNvCxnSpPr/>
          <p:nvPr/>
        </p:nvCxnSpPr>
        <p:spPr>
          <a:xfrm>
            <a:off x="180000" y="540000"/>
            <a:ext cx="7920000" cy="0"/>
          </a:xfrm>
          <a:prstGeom prst="straightConnector1">
            <a:avLst/>
          </a:prstGeom>
          <a:noFill/>
          <a:ln cap="flat" cmpd="sng" w="36000">
            <a:solidFill>
              <a:srgbClr val="468A1A"/>
            </a:solidFill>
            <a:prstDash val="solid"/>
            <a:round/>
            <a:headEnd len="sm" w="sm" type="none"/>
            <a:tailEnd len="sm" w="sm" type="none"/>
          </a:ln>
        </p:spPr>
      </p:cxnSp>
      <p:sp>
        <p:nvSpPr>
          <p:cNvPr id="299" name="Google Shape;299;p35"/>
          <p:cNvSpPr txBox="1"/>
          <p:nvPr/>
        </p:nvSpPr>
        <p:spPr>
          <a:xfrm>
            <a:off x="192960" y="72000"/>
            <a:ext cx="6107100" cy="468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2200" strike="noStrike">
                <a:solidFill>
                  <a:srgbClr val="468A1A"/>
                </a:solidFill>
                <a:latin typeface="Arial"/>
                <a:ea typeface="Arial"/>
                <a:cs typeface="Arial"/>
                <a:sym typeface="Arial"/>
              </a:rPr>
              <a:t>Part 2 — What Good Metadata Looks Like</a:t>
            </a:r>
            <a:endParaRPr b="0" sz="2200" strike="noStrike">
              <a:latin typeface="Arial"/>
              <a:ea typeface="Arial"/>
              <a:cs typeface="Arial"/>
              <a:sym typeface="Arial"/>
            </a:endParaRPr>
          </a:p>
        </p:txBody>
      </p:sp>
      <p:sp>
        <p:nvSpPr>
          <p:cNvPr id="300" name="Google Shape;300;p35"/>
          <p:cNvSpPr txBox="1"/>
          <p:nvPr/>
        </p:nvSpPr>
        <p:spPr>
          <a:xfrm>
            <a:off x="1935163" y="726331"/>
            <a:ext cx="6210300" cy="593700"/>
          </a:xfrm>
          <a:prstGeom prst="rect">
            <a:avLst/>
          </a:prstGeom>
          <a:noFill/>
          <a:ln>
            <a:noFill/>
          </a:ln>
        </p:spPr>
        <p:txBody>
          <a:bodyPr anchorCtr="1" anchor="t" bIns="45000" lIns="90000" spcFirstLastPara="1" rIns="90000" wrap="square" tIns="45000">
            <a:noAutofit/>
          </a:bodyPr>
          <a:lstStyle/>
          <a:p>
            <a:pPr indent="0" lvl="0" marL="0" marR="0" rtl="0" algn="ctr">
              <a:lnSpc>
                <a:spcPct val="115000"/>
              </a:lnSpc>
              <a:spcBef>
                <a:spcPts val="0"/>
              </a:spcBef>
              <a:spcAft>
                <a:spcPts val="0"/>
              </a:spcAft>
              <a:buNone/>
            </a:pPr>
            <a:r>
              <a:rPr b="0" lang="en-US" sz="1200" strike="noStrike">
                <a:solidFill>
                  <a:srgbClr val="000000"/>
                </a:solidFill>
                <a:latin typeface="Arial"/>
                <a:ea typeface="Arial"/>
                <a:cs typeface="Arial"/>
                <a:sym typeface="Arial"/>
              </a:rPr>
              <a:t>We’ve talked about the structure of good metadata.</a:t>
            </a:r>
            <a:endParaRPr sz="1200"/>
          </a:p>
          <a:p>
            <a:pPr indent="0" lvl="0" marL="0" marR="0" rtl="0" algn="ctr">
              <a:lnSpc>
                <a:spcPct val="115000"/>
              </a:lnSpc>
              <a:spcBef>
                <a:spcPts val="0"/>
              </a:spcBef>
              <a:spcAft>
                <a:spcPts val="0"/>
              </a:spcAft>
              <a:buNone/>
            </a:pPr>
            <a:r>
              <a:rPr b="0" lang="en-US" sz="1500" strike="noStrike">
                <a:solidFill>
                  <a:srgbClr val="000000"/>
                </a:solidFill>
                <a:latin typeface="Arial"/>
                <a:ea typeface="Arial"/>
                <a:cs typeface="Arial"/>
                <a:sym typeface="Arial"/>
              </a:rPr>
              <a:t>But </a:t>
            </a:r>
            <a:r>
              <a:rPr b="1" lang="en-US" sz="1500" strike="noStrike">
                <a:solidFill>
                  <a:srgbClr val="000000"/>
                </a:solidFill>
                <a:latin typeface="Arial"/>
                <a:ea typeface="Arial"/>
                <a:cs typeface="Arial"/>
                <a:sym typeface="Arial"/>
              </a:rPr>
              <a:t>how do we decide which metadata fields to include?</a:t>
            </a:r>
            <a:endParaRPr b="0" sz="1500" strike="noStrike">
              <a:latin typeface="Arial"/>
              <a:ea typeface="Arial"/>
              <a:cs typeface="Arial"/>
              <a:sym typeface="Arial"/>
            </a:endParaRPr>
          </a:p>
        </p:txBody>
      </p:sp>
      <p:sp>
        <p:nvSpPr>
          <p:cNvPr id="301" name="Google Shape;301;p35"/>
          <p:cNvSpPr txBox="1"/>
          <p:nvPr/>
        </p:nvSpPr>
        <p:spPr>
          <a:xfrm rot="407">
            <a:off x="6945406" y="2432285"/>
            <a:ext cx="2531100" cy="628200"/>
          </a:xfrm>
          <a:prstGeom prst="rect">
            <a:avLst/>
          </a:prstGeom>
          <a:noFill/>
          <a:ln>
            <a:noFill/>
          </a:ln>
        </p:spPr>
        <p:txBody>
          <a:bodyPr anchorCtr="1" anchor="t" bIns="45000" lIns="90000" spcFirstLastPara="1" rIns="90000" wrap="square" tIns="45000">
            <a:noAutofit/>
          </a:bodyPr>
          <a:lstStyle/>
          <a:p>
            <a:pPr indent="0" lvl="0" marL="0" marR="0" rtl="0" algn="ctr">
              <a:lnSpc>
                <a:spcPct val="115000"/>
              </a:lnSpc>
              <a:spcBef>
                <a:spcPts val="0"/>
              </a:spcBef>
              <a:spcAft>
                <a:spcPts val="0"/>
              </a:spcAft>
              <a:buNone/>
            </a:pPr>
            <a:r>
              <a:rPr b="0" lang="en-US" sz="1200" strike="noStrike">
                <a:solidFill>
                  <a:srgbClr val="000000"/>
                </a:solidFill>
                <a:latin typeface="Arial"/>
                <a:ea typeface="Arial"/>
                <a:cs typeface="Arial"/>
                <a:sym typeface="Arial"/>
              </a:rPr>
              <a:t>The multidisciplinary approach </a:t>
            </a:r>
            <a:r>
              <a:rPr lang="en-US" sz="1200"/>
              <a:t>ensures</a:t>
            </a:r>
            <a:r>
              <a:rPr b="0" lang="en-US" sz="1200" strike="noStrike">
                <a:solidFill>
                  <a:srgbClr val="000000"/>
                </a:solidFill>
                <a:latin typeface="Arial"/>
                <a:ea typeface="Arial"/>
                <a:cs typeface="Arial"/>
                <a:sym typeface="Arial"/>
              </a:rPr>
              <a:t> </a:t>
            </a:r>
            <a:r>
              <a:rPr lang="en-US" sz="1200"/>
              <a:t>metadata</a:t>
            </a:r>
            <a:r>
              <a:rPr b="0" lang="en-US" sz="1200" strike="noStrike">
                <a:solidFill>
                  <a:srgbClr val="000000"/>
                </a:solidFill>
                <a:latin typeface="Arial"/>
                <a:ea typeface="Arial"/>
                <a:cs typeface="Arial"/>
                <a:sym typeface="Arial"/>
              </a:rPr>
              <a:t> are both</a:t>
            </a:r>
            <a:endParaRPr sz="1200"/>
          </a:p>
          <a:p>
            <a:pPr indent="0" lvl="0" marL="0" marR="0" rtl="0" algn="ctr">
              <a:lnSpc>
                <a:spcPct val="115000"/>
              </a:lnSpc>
              <a:spcBef>
                <a:spcPts val="0"/>
              </a:spcBef>
              <a:spcAft>
                <a:spcPts val="0"/>
              </a:spcAft>
              <a:buNone/>
            </a:pPr>
            <a:r>
              <a:rPr b="1" lang="en-US" sz="1200" strike="noStrike">
                <a:solidFill>
                  <a:srgbClr val="000000"/>
                </a:solidFill>
              </a:rPr>
              <a:t>well formatted</a:t>
            </a:r>
            <a:r>
              <a:rPr b="0" lang="en-US" sz="1200" strike="noStrike">
                <a:solidFill>
                  <a:srgbClr val="000000"/>
                </a:solidFill>
                <a:latin typeface="Arial"/>
                <a:ea typeface="Arial"/>
                <a:cs typeface="Arial"/>
                <a:sym typeface="Arial"/>
              </a:rPr>
              <a:t> and </a:t>
            </a:r>
            <a:r>
              <a:rPr b="1" lang="en-US" sz="1200" strike="noStrike">
                <a:solidFill>
                  <a:srgbClr val="000000"/>
                </a:solidFill>
                <a:latin typeface="Arial"/>
                <a:ea typeface="Arial"/>
                <a:cs typeface="Arial"/>
                <a:sym typeface="Arial"/>
              </a:rPr>
              <a:t>complete</a:t>
            </a:r>
            <a:r>
              <a:rPr b="0" lang="en-US" sz="1200" strike="noStrike">
                <a:solidFill>
                  <a:srgbClr val="000000"/>
                </a:solidFill>
                <a:latin typeface="Arial"/>
                <a:ea typeface="Arial"/>
                <a:cs typeface="Arial"/>
                <a:sym typeface="Arial"/>
              </a:rPr>
              <a:t>.</a:t>
            </a:r>
            <a:endParaRPr b="0" sz="1200" strike="noStrike">
              <a:latin typeface="Arial"/>
              <a:ea typeface="Arial"/>
              <a:cs typeface="Arial"/>
              <a:sym typeface="Arial"/>
            </a:endParaRPr>
          </a:p>
        </p:txBody>
      </p:sp>
      <p:pic>
        <p:nvPicPr>
          <p:cNvPr id="302" name="Google Shape;302;p35"/>
          <p:cNvPicPr preferRelativeResize="0"/>
          <p:nvPr/>
        </p:nvPicPr>
        <p:blipFill>
          <a:blip r:embed="rId3">
            <a:alphaModFix/>
          </a:blip>
          <a:stretch>
            <a:fillRect/>
          </a:stretch>
        </p:blipFill>
        <p:spPr>
          <a:xfrm>
            <a:off x="3113509" y="1320045"/>
            <a:ext cx="3566700" cy="2852675"/>
          </a:xfrm>
          <a:prstGeom prst="rect">
            <a:avLst/>
          </a:prstGeom>
          <a:noFill/>
          <a:ln>
            <a:noFill/>
          </a:ln>
        </p:spPr>
      </p:pic>
      <p:pic>
        <p:nvPicPr>
          <p:cNvPr id="303" name="Google Shape;303;p35"/>
          <p:cNvPicPr preferRelativeResize="0"/>
          <p:nvPr/>
        </p:nvPicPr>
        <p:blipFill rotWithShape="1">
          <a:blip r:embed="rId4">
            <a:alphaModFix/>
          </a:blip>
          <a:srcRect b="0" l="64770" r="0" t="0"/>
          <a:stretch/>
        </p:blipFill>
        <p:spPr>
          <a:xfrm>
            <a:off x="9321800" y="2164698"/>
            <a:ext cx="409825" cy="1163351"/>
          </a:xfrm>
          <a:prstGeom prst="rect">
            <a:avLst/>
          </a:prstGeom>
          <a:noFill/>
          <a:ln>
            <a:noFill/>
          </a:ln>
        </p:spPr>
      </p:pic>
      <p:sp>
        <p:nvSpPr>
          <p:cNvPr id="304" name="Google Shape;304;p35"/>
          <p:cNvSpPr txBox="1"/>
          <p:nvPr/>
        </p:nvSpPr>
        <p:spPr>
          <a:xfrm>
            <a:off x="678650" y="4271875"/>
            <a:ext cx="9029700" cy="1063800"/>
          </a:xfrm>
          <a:prstGeom prst="rect">
            <a:avLst/>
          </a:prstGeom>
          <a:noFill/>
          <a:ln>
            <a:noFill/>
          </a:ln>
        </p:spPr>
        <p:txBody>
          <a:bodyPr anchorCtr="1" anchor="t" bIns="45000" lIns="90000" spcFirstLastPara="1" rIns="90000" wrap="square" tIns="45000">
            <a:noAutofit/>
          </a:bodyPr>
          <a:lstStyle/>
          <a:p>
            <a:pPr indent="0" lvl="0" marL="0" marR="0" rtl="0" algn="ctr">
              <a:lnSpc>
                <a:spcPct val="115000"/>
              </a:lnSpc>
              <a:spcBef>
                <a:spcPts val="0"/>
              </a:spcBef>
              <a:spcAft>
                <a:spcPts val="0"/>
              </a:spcAft>
              <a:buNone/>
            </a:pPr>
            <a:r>
              <a:rPr b="1" lang="en-US" sz="1500" strike="noStrike">
                <a:solidFill>
                  <a:schemeClr val="dk1"/>
                </a:solidFill>
                <a:latin typeface="Arial"/>
                <a:ea typeface="Arial"/>
                <a:cs typeface="Arial"/>
                <a:sym typeface="Arial"/>
              </a:rPr>
              <a:t>There’s no universal metadata set that works for </a:t>
            </a:r>
            <a:r>
              <a:rPr b="1" lang="en-US" sz="1500">
                <a:solidFill>
                  <a:schemeClr val="dk1"/>
                </a:solidFill>
              </a:rPr>
              <a:t>every</a:t>
            </a:r>
            <a:r>
              <a:rPr b="1" lang="en-US" sz="1500" strike="noStrike">
                <a:solidFill>
                  <a:schemeClr val="dk1"/>
                </a:solidFill>
                <a:latin typeface="Arial"/>
                <a:ea typeface="Arial"/>
                <a:cs typeface="Arial"/>
                <a:sym typeface="Arial"/>
              </a:rPr>
              <a:t> occasion.</a:t>
            </a:r>
            <a:endParaRPr b="0" sz="1500" strike="noStrike">
              <a:solidFill>
                <a:schemeClr val="dk1"/>
              </a:solidFill>
              <a:latin typeface="Arial"/>
              <a:ea typeface="Arial"/>
              <a:cs typeface="Arial"/>
              <a:sym typeface="Arial"/>
            </a:endParaRPr>
          </a:p>
          <a:p>
            <a:pPr indent="0" lvl="0" marL="0" marR="0" rtl="0" algn="ctr">
              <a:lnSpc>
                <a:spcPct val="115000"/>
              </a:lnSpc>
              <a:spcBef>
                <a:spcPts val="0"/>
              </a:spcBef>
              <a:spcAft>
                <a:spcPts val="0"/>
              </a:spcAft>
              <a:buNone/>
            </a:pPr>
            <a:r>
              <a:t/>
            </a:r>
            <a:endParaRPr b="0" sz="1500" strike="noStrike">
              <a:solidFill>
                <a:schemeClr val="dk1"/>
              </a:solidFill>
              <a:latin typeface="Arial"/>
              <a:ea typeface="Arial"/>
              <a:cs typeface="Arial"/>
              <a:sym typeface="Arial"/>
            </a:endParaRPr>
          </a:p>
          <a:p>
            <a:pPr indent="0" lvl="0" marL="0" marR="0" rtl="0" algn="ctr">
              <a:lnSpc>
                <a:spcPct val="115000"/>
              </a:lnSpc>
              <a:spcBef>
                <a:spcPts val="0"/>
              </a:spcBef>
              <a:spcAft>
                <a:spcPts val="0"/>
              </a:spcAft>
              <a:buNone/>
            </a:pPr>
            <a:r>
              <a:rPr b="1" lang="en-US" sz="1500" strike="noStrike">
                <a:solidFill>
                  <a:srgbClr val="C9211E"/>
                </a:solidFill>
                <a:latin typeface="Arial"/>
                <a:ea typeface="Arial"/>
                <a:cs typeface="Arial"/>
                <a:sym typeface="Arial"/>
              </a:rPr>
              <a:t>Experimental design</a:t>
            </a:r>
            <a:r>
              <a:rPr b="1" lang="en-US" sz="1500" strike="noStrike">
                <a:solidFill>
                  <a:schemeClr val="dk1"/>
                </a:solidFill>
                <a:latin typeface="Arial"/>
                <a:ea typeface="Arial"/>
                <a:cs typeface="Arial"/>
                <a:sym typeface="Arial"/>
              </a:rPr>
              <a:t> and </a:t>
            </a:r>
            <a:r>
              <a:rPr b="1" lang="en-US" sz="1500" strike="noStrike">
                <a:solidFill>
                  <a:srgbClr val="C9211E"/>
                </a:solidFill>
                <a:latin typeface="Arial"/>
                <a:ea typeface="Arial"/>
                <a:cs typeface="Arial"/>
                <a:sym typeface="Arial"/>
              </a:rPr>
              <a:t>study goal</a:t>
            </a:r>
            <a:r>
              <a:rPr b="1" lang="en-US" sz="1500" strike="noStrike">
                <a:solidFill>
                  <a:schemeClr val="dk1"/>
                </a:solidFill>
                <a:latin typeface="Arial"/>
                <a:ea typeface="Arial"/>
                <a:cs typeface="Arial"/>
                <a:sym typeface="Arial"/>
              </a:rPr>
              <a:t> determine what information are vital for your specific case</a:t>
            </a:r>
            <a:r>
              <a:rPr b="0" lang="en-US" sz="1500" strike="noStrike">
                <a:solidFill>
                  <a:srgbClr val="000000"/>
                </a:solidFill>
                <a:latin typeface="Arial"/>
                <a:ea typeface="Arial"/>
                <a:cs typeface="Arial"/>
                <a:sym typeface="Arial"/>
              </a:rPr>
              <a:t>.</a:t>
            </a:r>
            <a:endParaRPr b="0" sz="1500" strike="noStrike">
              <a:latin typeface="Arial"/>
              <a:ea typeface="Arial"/>
              <a:cs typeface="Arial"/>
              <a:sym typeface="Arial"/>
            </a:endParaRPr>
          </a:p>
        </p:txBody>
      </p:sp>
      <p:sp>
        <p:nvSpPr>
          <p:cNvPr id="305" name="Google Shape;305;p35"/>
          <p:cNvSpPr txBox="1"/>
          <p:nvPr/>
        </p:nvSpPr>
        <p:spPr>
          <a:xfrm rot="440">
            <a:off x="602775" y="2276798"/>
            <a:ext cx="2342100" cy="1063500"/>
          </a:xfrm>
          <a:prstGeom prst="rect">
            <a:avLst/>
          </a:prstGeom>
          <a:noFill/>
          <a:ln>
            <a:noFill/>
          </a:ln>
        </p:spPr>
        <p:txBody>
          <a:bodyPr anchorCtr="1" anchor="t" bIns="45000" lIns="90000" spcFirstLastPara="1" rIns="90000" wrap="square" tIns="45000">
            <a:noAutofit/>
          </a:bodyPr>
          <a:lstStyle/>
          <a:p>
            <a:pPr indent="0" lvl="0" marL="0" marR="0" rtl="0" algn="ctr">
              <a:lnSpc>
                <a:spcPct val="115000"/>
              </a:lnSpc>
              <a:spcBef>
                <a:spcPts val="0"/>
              </a:spcBef>
              <a:spcAft>
                <a:spcPts val="0"/>
              </a:spcAft>
              <a:buNone/>
            </a:pPr>
            <a:r>
              <a:rPr lang="en-US" sz="1200"/>
              <a:t>If someone else gets access to these data in five or ten years, would they have all the necessary info to analyse and contextualize it?</a:t>
            </a:r>
            <a:endParaRPr b="0" sz="1200" strike="noStrike">
              <a:latin typeface="Arial"/>
              <a:ea typeface="Arial"/>
              <a:cs typeface="Arial"/>
              <a:sym typeface="Arial"/>
            </a:endParaRPr>
          </a:p>
        </p:txBody>
      </p:sp>
      <p:pic>
        <p:nvPicPr>
          <p:cNvPr id="306" name="Google Shape;306;p35"/>
          <p:cNvPicPr preferRelativeResize="0"/>
          <p:nvPr/>
        </p:nvPicPr>
        <p:blipFill rotWithShape="1">
          <a:blip r:embed="rId4">
            <a:alphaModFix/>
          </a:blip>
          <a:srcRect b="0" l="64770" r="0" t="0"/>
          <a:stretch/>
        </p:blipFill>
        <p:spPr>
          <a:xfrm>
            <a:off x="192950" y="2176622"/>
            <a:ext cx="409825" cy="116335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cxnSp>
        <p:nvCxnSpPr>
          <p:cNvPr id="311" name="Google Shape;311;p36"/>
          <p:cNvCxnSpPr/>
          <p:nvPr/>
        </p:nvCxnSpPr>
        <p:spPr>
          <a:xfrm>
            <a:off x="180000" y="540000"/>
            <a:ext cx="7920000" cy="0"/>
          </a:xfrm>
          <a:prstGeom prst="straightConnector1">
            <a:avLst/>
          </a:prstGeom>
          <a:noFill/>
          <a:ln cap="flat" cmpd="sng" w="36000">
            <a:solidFill>
              <a:srgbClr val="468A1A"/>
            </a:solidFill>
            <a:prstDash val="solid"/>
            <a:round/>
            <a:headEnd len="sm" w="sm" type="none"/>
            <a:tailEnd len="sm" w="sm" type="none"/>
          </a:ln>
        </p:spPr>
      </p:cxnSp>
      <p:sp>
        <p:nvSpPr>
          <p:cNvPr id="312" name="Google Shape;312;p36"/>
          <p:cNvSpPr txBox="1"/>
          <p:nvPr/>
        </p:nvSpPr>
        <p:spPr>
          <a:xfrm>
            <a:off x="192960" y="72000"/>
            <a:ext cx="6107040" cy="468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2200" strike="noStrike">
                <a:solidFill>
                  <a:srgbClr val="468A1A"/>
                </a:solidFill>
                <a:latin typeface="Arial"/>
                <a:ea typeface="Arial"/>
                <a:cs typeface="Arial"/>
                <a:sym typeface="Arial"/>
              </a:rPr>
              <a:t>Part 2 — What Good Metadata Looks Like</a:t>
            </a:r>
            <a:endParaRPr b="0" sz="2200" strike="noStrike">
              <a:latin typeface="Arial"/>
              <a:ea typeface="Arial"/>
              <a:cs typeface="Arial"/>
              <a:sym typeface="Arial"/>
            </a:endParaRPr>
          </a:p>
        </p:txBody>
      </p:sp>
      <p:graphicFrame>
        <p:nvGraphicFramePr>
          <p:cNvPr id="313" name="Google Shape;313;p36"/>
          <p:cNvGraphicFramePr/>
          <p:nvPr/>
        </p:nvGraphicFramePr>
        <p:xfrm>
          <a:off x="425160" y="1202400"/>
          <a:ext cx="3000000" cy="3000000"/>
        </p:xfrm>
        <a:graphic>
          <a:graphicData uri="http://schemas.openxmlformats.org/drawingml/2006/table">
            <a:tbl>
              <a:tblPr>
                <a:noFill/>
                <a:tableStyleId>{FBF6C270-3839-495F-BF6B-5D2B0D70D4C5}</a:tableStyleId>
              </a:tblPr>
              <a:tblGrid>
                <a:gridCol w="3098525"/>
                <a:gridCol w="6131875"/>
              </a:tblGrid>
              <a:tr h="413650">
                <a:tc>
                  <a:txBody>
                    <a:bodyPr/>
                    <a:lstStyle/>
                    <a:p>
                      <a:pPr indent="-216000" lvl="0" marL="216000" marR="0" rtl="0" algn="l">
                        <a:spcBef>
                          <a:spcPts val="0"/>
                        </a:spcBef>
                        <a:spcAft>
                          <a:spcPts val="0"/>
                        </a:spcAft>
                        <a:buClr>
                          <a:srgbClr val="000000"/>
                        </a:buClr>
                        <a:buSzPts val="540"/>
                        <a:buFont typeface="Noto Sans Symbols"/>
                        <a:buChar char="●"/>
                      </a:pPr>
                      <a:r>
                        <a:rPr b="1" lang="en-US" sz="1200" strike="noStrike">
                          <a:solidFill>
                            <a:srgbClr val="000000"/>
                          </a:solidFill>
                          <a:latin typeface="Arial"/>
                          <a:ea typeface="Arial"/>
                          <a:cs typeface="Arial"/>
                          <a:sym typeface="Arial"/>
                        </a:rPr>
                        <a:t>What kind of information do we want to extract from the data?</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We need to know what is </a:t>
                      </a:r>
                      <a:r>
                        <a:rPr lang="en-US" sz="1200"/>
                        <a:t>clinically</a:t>
                      </a:r>
                      <a:r>
                        <a:rPr b="0" lang="en-US" sz="1200" strike="noStrike">
                          <a:latin typeface="Arial"/>
                          <a:ea typeface="Arial"/>
                          <a:cs typeface="Arial"/>
                          <a:sym typeface="Arial"/>
                        </a:rPr>
                        <a:t> or biologically relevant for our experimental hypothesis.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46325">
                <a:tc>
                  <a:txBody>
                    <a:bodyPr/>
                    <a:lstStyle/>
                    <a:p>
                      <a:pPr indent="-216000" lvl="0" marL="216000" marR="0" rtl="0" algn="l">
                        <a:spcBef>
                          <a:spcPts val="0"/>
                        </a:spcBef>
                        <a:spcAft>
                          <a:spcPts val="0"/>
                        </a:spcAft>
                        <a:buClr>
                          <a:srgbClr val="000000"/>
                        </a:buClr>
                        <a:buSzPts val="540"/>
                        <a:buFont typeface="Noto Sans Symbols"/>
                        <a:buChar char="●"/>
                      </a:pPr>
                      <a:r>
                        <a:rPr b="1" lang="en-US" sz="1200" strike="noStrike">
                          <a:latin typeface="Arial"/>
                          <a:ea typeface="Arial"/>
                          <a:cs typeface="Arial"/>
                          <a:sym typeface="Arial"/>
                        </a:rPr>
                        <a:t>What is the </a:t>
                      </a:r>
                      <a:r>
                        <a:rPr b="1" lang="en-US" sz="1200"/>
                        <a:t>experimental</a:t>
                      </a:r>
                      <a:r>
                        <a:rPr b="1" lang="en-US" sz="1200" strike="noStrike">
                          <a:latin typeface="Arial"/>
                          <a:ea typeface="Arial"/>
                          <a:cs typeface="Arial"/>
                          <a:sym typeface="Arial"/>
                        </a:rPr>
                        <a:t> design?</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Do we have multiple batches, how </a:t>
                      </a:r>
                      <a:r>
                        <a:rPr lang="en-US" sz="1200"/>
                        <a:t>many</a:t>
                      </a:r>
                      <a:r>
                        <a:rPr b="0" lang="en-US" sz="1200" strike="noStrike">
                          <a:latin typeface="Arial"/>
                          <a:ea typeface="Arial"/>
                          <a:cs typeface="Arial"/>
                          <a:sym typeface="Arial"/>
                        </a:rPr>
                        <a:t> conditions, which treatment dose, etc.</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46325">
                <a:tc>
                  <a:txBody>
                    <a:bodyPr/>
                    <a:lstStyle/>
                    <a:p>
                      <a:pPr indent="-216000" lvl="0" marL="216000" marR="0" rtl="0" algn="l">
                        <a:spcBef>
                          <a:spcPts val="0"/>
                        </a:spcBef>
                        <a:spcAft>
                          <a:spcPts val="0"/>
                        </a:spcAft>
                        <a:buClr>
                          <a:srgbClr val="000000"/>
                        </a:buClr>
                        <a:buSzPts val="540"/>
                        <a:buFont typeface="Noto Sans Symbols"/>
                        <a:buChar char="●"/>
                      </a:pPr>
                      <a:r>
                        <a:rPr b="1" lang="en-US" sz="1200" strike="noStrike">
                          <a:latin typeface="Arial"/>
                          <a:ea typeface="Arial"/>
                          <a:cs typeface="Arial"/>
                          <a:sym typeface="Arial"/>
                        </a:rPr>
                        <a:t>Are there confounding elements?</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We need to document any </a:t>
                      </a:r>
                      <a:r>
                        <a:rPr lang="en-US" sz="1200"/>
                        <a:t>condition</a:t>
                      </a:r>
                      <a:r>
                        <a:rPr b="0" lang="en-US" sz="1200" strike="noStrike">
                          <a:latin typeface="Arial"/>
                          <a:ea typeface="Arial"/>
                          <a:cs typeface="Arial"/>
                          <a:sym typeface="Arial"/>
                        </a:rPr>
                        <a:t> or element that could alter or influence the results.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46325">
                <a:tc>
                  <a:txBody>
                    <a:bodyPr/>
                    <a:lstStyle/>
                    <a:p>
                      <a:pPr indent="-216000" lvl="0" marL="216000" marR="0" rtl="0" algn="l">
                        <a:spcBef>
                          <a:spcPts val="0"/>
                        </a:spcBef>
                        <a:spcAft>
                          <a:spcPts val="0"/>
                        </a:spcAft>
                        <a:buClr>
                          <a:srgbClr val="000000"/>
                        </a:buClr>
                        <a:buSzPts val="540"/>
                        <a:buFont typeface="Noto Sans Symbols"/>
                        <a:buChar char="●"/>
                      </a:pPr>
                      <a:r>
                        <a:rPr b="1" lang="en-US" sz="1200" strike="noStrike">
                          <a:latin typeface="Arial"/>
                          <a:ea typeface="Arial"/>
                          <a:cs typeface="Arial"/>
                          <a:sym typeface="Arial"/>
                        </a:rPr>
                        <a:t>How many layer of information are there in our design?</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For complex studies, there might be the need to layer metadata and connect them through unique keys (e.g. patient’s info, sample info, treatment info, etc.)</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pic>
        <p:nvPicPr>
          <p:cNvPr id="314" name="Google Shape;314;p36"/>
          <p:cNvPicPr preferRelativeResize="0"/>
          <p:nvPr/>
        </p:nvPicPr>
        <p:blipFill>
          <a:blip r:embed="rId3">
            <a:alphaModFix/>
          </a:blip>
          <a:stretch>
            <a:fillRect/>
          </a:stretch>
        </p:blipFill>
        <p:spPr>
          <a:xfrm>
            <a:off x="8946550" y="72000"/>
            <a:ext cx="1041398" cy="1041398"/>
          </a:xfrm>
          <a:prstGeom prst="rect">
            <a:avLst/>
          </a:prstGeom>
          <a:noFill/>
          <a:ln>
            <a:noFill/>
          </a:ln>
        </p:spPr>
      </p:pic>
      <p:sp>
        <p:nvSpPr>
          <p:cNvPr id="315" name="Google Shape;315;p36"/>
          <p:cNvSpPr txBox="1"/>
          <p:nvPr/>
        </p:nvSpPr>
        <p:spPr>
          <a:xfrm>
            <a:off x="1653313" y="663450"/>
            <a:ext cx="6774000" cy="4155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US" sz="1500">
                <a:solidFill>
                  <a:schemeClr val="dk1"/>
                </a:solidFill>
              </a:rPr>
              <a:t>H</a:t>
            </a:r>
            <a:r>
              <a:rPr b="1" lang="en-US" sz="1500">
                <a:solidFill>
                  <a:schemeClr val="dk1"/>
                </a:solidFill>
              </a:rPr>
              <a:t>ow do we decide which metadata fields to include?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cxnSp>
        <p:nvCxnSpPr>
          <p:cNvPr id="320" name="Google Shape;320;p37"/>
          <p:cNvCxnSpPr/>
          <p:nvPr/>
        </p:nvCxnSpPr>
        <p:spPr>
          <a:xfrm>
            <a:off x="180000" y="540000"/>
            <a:ext cx="7920000" cy="0"/>
          </a:xfrm>
          <a:prstGeom prst="straightConnector1">
            <a:avLst/>
          </a:prstGeom>
          <a:noFill/>
          <a:ln cap="flat" cmpd="sng" w="36000">
            <a:solidFill>
              <a:srgbClr val="468A1A"/>
            </a:solidFill>
            <a:prstDash val="solid"/>
            <a:round/>
            <a:headEnd len="sm" w="sm" type="none"/>
            <a:tailEnd len="sm" w="sm" type="none"/>
          </a:ln>
        </p:spPr>
      </p:cxnSp>
      <p:sp>
        <p:nvSpPr>
          <p:cNvPr id="321" name="Google Shape;321;p37"/>
          <p:cNvSpPr txBox="1"/>
          <p:nvPr/>
        </p:nvSpPr>
        <p:spPr>
          <a:xfrm>
            <a:off x="192960" y="72000"/>
            <a:ext cx="6107040" cy="468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2200" strike="noStrike">
                <a:solidFill>
                  <a:srgbClr val="468A1A"/>
                </a:solidFill>
                <a:latin typeface="Arial"/>
                <a:ea typeface="Arial"/>
                <a:cs typeface="Arial"/>
                <a:sym typeface="Arial"/>
              </a:rPr>
              <a:t>Part 2 — What Good Metadata Looks Like</a:t>
            </a:r>
            <a:endParaRPr b="0" sz="2200" strike="noStrike">
              <a:latin typeface="Arial"/>
              <a:ea typeface="Arial"/>
              <a:cs typeface="Arial"/>
              <a:sym typeface="Arial"/>
            </a:endParaRPr>
          </a:p>
        </p:txBody>
      </p:sp>
      <p:graphicFrame>
        <p:nvGraphicFramePr>
          <p:cNvPr id="322" name="Google Shape;322;p37"/>
          <p:cNvGraphicFramePr/>
          <p:nvPr/>
        </p:nvGraphicFramePr>
        <p:xfrm>
          <a:off x="425520" y="1202760"/>
          <a:ext cx="3000000" cy="3000000"/>
        </p:xfrm>
        <a:graphic>
          <a:graphicData uri="http://schemas.openxmlformats.org/drawingml/2006/table">
            <a:tbl>
              <a:tblPr>
                <a:noFill/>
                <a:tableStyleId>{FBF6C270-3839-495F-BF6B-5D2B0D70D4C5}</a:tableStyleId>
              </a:tblPr>
              <a:tblGrid>
                <a:gridCol w="3098525"/>
                <a:gridCol w="6131875"/>
              </a:tblGrid>
              <a:tr h="413650">
                <a:tc>
                  <a:txBody>
                    <a:bodyPr/>
                    <a:lstStyle/>
                    <a:p>
                      <a:pPr indent="-216000" lvl="0" marL="216000" marR="0" rtl="0" algn="l">
                        <a:spcBef>
                          <a:spcPts val="0"/>
                        </a:spcBef>
                        <a:spcAft>
                          <a:spcPts val="0"/>
                        </a:spcAft>
                        <a:buClr>
                          <a:srgbClr val="000000"/>
                        </a:buClr>
                        <a:buSzPts val="540"/>
                        <a:buFont typeface="Noto Sans Symbols"/>
                        <a:buChar char="●"/>
                      </a:pPr>
                      <a:r>
                        <a:rPr b="1" lang="en-US" sz="1200" strike="noStrike">
                          <a:solidFill>
                            <a:srgbClr val="000000"/>
                          </a:solidFill>
                          <a:latin typeface="Arial"/>
                          <a:ea typeface="Arial"/>
                          <a:cs typeface="Arial"/>
                          <a:sym typeface="Arial"/>
                        </a:rPr>
                        <a:t>What kind of information do we want to extract from the data?</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We need to know what is </a:t>
                      </a:r>
                      <a:r>
                        <a:rPr lang="en-US" sz="1200"/>
                        <a:t>clinically</a:t>
                      </a:r>
                      <a:r>
                        <a:rPr b="0" lang="en-US" sz="1200" strike="noStrike">
                          <a:latin typeface="Arial"/>
                          <a:ea typeface="Arial"/>
                          <a:cs typeface="Arial"/>
                          <a:sym typeface="Arial"/>
                        </a:rPr>
                        <a:t> or biologically relevant for our experimental hypothesis.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46325">
                <a:tc>
                  <a:txBody>
                    <a:bodyPr/>
                    <a:lstStyle/>
                    <a:p>
                      <a:pPr indent="-216000" lvl="0" marL="216000" marR="0" rtl="0" algn="l">
                        <a:spcBef>
                          <a:spcPts val="0"/>
                        </a:spcBef>
                        <a:spcAft>
                          <a:spcPts val="0"/>
                        </a:spcAft>
                        <a:buClr>
                          <a:srgbClr val="000000"/>
                        </a:buClr>
                        <a:buSzPts val="540"/>
                        <a:buFont typeface="Noto Sans Symbols"/>
                        <a:buChar char="●"/>
                      </a:pPr>
                      <a:r>
                        <a:rPr b="1" lang="en-US" sz="1200" strike="noStrike">
                          <a:latin typeface="Arial"/>
                          <a:ea typeface="Arial"/>
                          <a:cs typeface="Arial"/>
                          <a:sym typeface="Arial"/>
                        </a:rPr>
                        <a:t>What is the </a:t>
                      </a:r>
                      <a:r>
                        <a:rPr b="1" lang="en-US" sz="1200"/>
                        <a:t>experimental</a:t>
                      </a:r>
                      <a:r>
                        <a:rPr b="1" lang="en-US" sz="1200" strike="noStrike">
                          <a:latin typeface="Arial"/>
                          <a:ea typeface="Arial"/>
                          <a:cs typeface="Arial"/>
                          <a:sym typeface="Arial"/>
                        </a:rPr>
                        <a:t> design?</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Do we have multiple batches, how </a:t>
                      </a:r>
                      <a:r>
                        <a:rPr lang="en-US" sz="1200"/>
                        <a:t>many</a:t>
                      </a:r>
                      <a:r>
                        <a:rPr b="0" lang="en-US" sz="1200" strike="noStrike">
                          <a:latin typeface="Arial"/>
                          <a:ea typeface="Arial"/>
                          <a:cs typeface="Arial"/>
                          <a:sym typeface="Arial"/>
                        </a:rPr>
                        <a:t> conditions, which treatment dose, etc.</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46325">
                <a:tc>
                  <a:txBody>
                    <a:bodyPr/>
                    <a:lstStyle/>
                    <a:p>
                      <a:pPr indent="-216000" lvl="0" marL="216000" marR="0" rtl="0" algn="l">
                        <a:spcBef>
                          <a:spcPts val="0"/>
                        </a:spcBef>
                        <a:spcAft>
                          <a:spcPts val="0"/>
                        </a:spcAft>
                        <a:buClr>
                          <a:srgbClr val="000000"/>
                        </a:buClr>
                        <a:buSzPts val="540"/>
                        <a:buFont typeface="Noto Sans Symbols"/>
                        <a:buChar char="●"/>
                      </a:pPr>
                      <a:r>
                        <a:rPr b="1" lang="en-US" sz="1200" strike="noStrike">
                          <a:latin typeface="Arial"/>
                          <a:ea typeface="Arial"/>
                          <a:cs typeface="Arial"/>
                          <a:sym typeface="Arial"/>
                        </a:rPr>
                        <a:t>Are there confounding elements?</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We need to document any </a:t>
                      </a:r>
                      <a:r>
                        <a:rPr lang="en-US" sz="1200"/>
                        <a:t>condition</a:t>
                      </a:r>
                      <a:r>
                        <a:rPr b="0" lang="en-US" sz="1200" strike="noStrike">
                          <a:latin typeface="Arial"/>
                          <a:ea typeface="Arial"/>
                          <a:cs typeface="Arial"/>
                          <a:sym typeface="Arial"/>
                        </a:rPr>
                        <a:t> or element that could alter or influence the results.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46325">
                <a:tc>
                  <a:txBody>
                    <a:bodyPr/>
                    <a:lstStyle/>
                    <a:p>
                      <a:pPr indent="-216000" lvl="0" marL="216000" marR="0" rtl="0" algn="l">
                        <a:spcBef>
                          <a:spcPts val="0"/>
                        </a:spcBef>
                        <a:spcAft>
                          <a:spcPts val="0"/>
                        </a:spcAft>
                        <a:buClr>
                          <a:srgbClr val="000000"/>
                        </a:buClr>
                        <a:buSzPts val="540"/>
                        <a:buFont typeface="Noto Sans Symbols"/>
                        <a:buChar char="●"/>
                      </a:pPr>
                      <a:r>
                        <a:rPr b="1" lang="en-US" sz="1200" strike="noStrike">
                          <a:latin typeface="Arial"/>
                          <a:ea typeface="Arial"/>
                          <a:cs typeface="Arial"/>
                          <a:sym typeface="Arial"/>
                        </a:rPr>
                        <a:t>How many layer of information are there in our design?</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For complex studies, there might be the need to layer metadata and connect them through unique keys (e.g. patient’s info, sample info, treatment info, etc.)</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pic>
        <p:nvPicPr>
          <p:cNvPr id="323" name="Google Shape;323;p37"/>
          <p:cNvPicPr preferRelativeResize="0"/>
          <p:nvPr/>
        </p:nvPicPr>
        <p:blipFill>
          <a:blip r:embed="rId3">
            <a:alphaModFix/>
          </a:blip>
          <a:stretch>
            <a:fillRect/>
          </a:stretch>
        </p:blipFill>
        <p:spPr>
          <a:xfrm>
            <a:off x="8946550" y="72000"/>
            <a:ext cx="1041398" cy="1041398"/>
          </a:xfrm>
          <a:prstGeom prst="rect">
            <a:avLst/>
          </a:prstGeom>
          <a:noFill/>
          <a:ln>
            <a:noFill/>
          </a:ln>
        </p:spPr>
      </p:pic>
      <p:sp>
        <p:nvSpPr>
          <p:cNvPr id="324" name="Google Shape;324;p37"/>
          <p:cNvSpPr txBox="1"/>
          <p:nvPr/>
        </p:nvSpPr>
        <p:spPr>
          <a:xfrm>
            <a:off x="3933500" y="3000800"/>
            <a:ext cx="2213700" cy="402900"/>
          </a:xfrm>
          <a:prstGeom prst="rect">
            <a:avLst/>
          </a:prstGeom>
          <a:noFill/>
          <a:ln>
            <a:noFill/>
          </a:ln>
        </p:spPr>
        <p:txBody>
          <a:bodyPr anchorCtr="0" anchor="t" bIns="45000" lIns="90000" spcFirstLastPara="1" rIns="90000" wrap="square" tIns="45000">
            <a:noAutofit/>
          </a:bodyPr>
          <a:lstStyle/>
          <a:p>
            <a:pPr indent="0" lvl="0" marL="0" marR="0" rtl="0" algn="l">
              <a:lnSpc>
                <a:spcPct val="115000"/>
              </a:lnSpc>
              <a:spcBef>
                <a:spcPts val="0"/>
              </a:spcBef>
              <a:spcAft>
                <a:spcPts val="0"/>
              </a:spcAft>
              <a:buNone/>
            </a:pPr>
            <a:r>
              <a:rPr b="1" lang="en-US" sz="1500">
                <a:solidFill>
                  <a:srgbClr val="C9211E"/>
                </a:solidFill>
              </a:rPr>
              <a:t>DIFFICULT DATASETS</a:t>
            </a:r>
            <a:endParaRPr b="1" sz="1500" strike="noStrike">
              <a:solidFill>
                <a:srgbClr val="C9211E"/>
              </a:solidFill>
            </a:endParaRPr>
          </a:p>
          <a:p>
            <a:pPr indent="-181710" lvl="0" marL="216000" marR="0" rtl="0" algn="l">
              <a:lnSpc>
                <a:spcPct val="115000"/>
              </a:lnSpc>
              <a:spcBef>
                <a:spcPts val="624"/>
              </a:spcBef>
              <a:spcAft>
                <a:spcPts val="0"/>
              </a:spcAft>
              <a:buClr>
                <a:srgbClr val="000000"/>
              </a:buClr>
              <a:buSzPts val="540"/>
              <a:buFont typeface="Noto Sans Symbols"/>
              <a:buNone/>
            </a:pPr>
            <a:r>
              <a:t/>
            </a:r>
            <a:endParaRPr b="0" sz="1200" strike="noStrike">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cxnSp>
        <p:nvCxnSpPr>
          <p:cNvPr id="329" name="Google Shape;329;p38"/>
          <p:cNvCxnSpPr/>
          <p:nvPr/>
        </p:nvCxnSpPr>
        <p:spPr>
          <a:xfrm>
            <a:off x="180000" y="540000"/>
            <a:ext cx="7920000" cy="0"/>
          </a:xfrm>
          <a:prstGeom prst="straightConnector1">
            <a:avLst/>
          </a:prstGeom>
          <a:noFill/>
          <a:ln cap="flat" cmpd="sng" w="36000">
            <a:solidFill>
              <a:srgbClr val="468A1A"/>
            </a:solidFill>
            <a:prstDash val="solid"/>
            <a:round/>
            <a:headEnd len="sm" w="sm" type="none"/>
            <a:tailEnd len="sm" w="sm" type="none"/>
          </a:ln>
        </p:spPr>
      </p:cxnSp>
      <p:sp>
        <p:nvSpPr>
          <p:cNvPr id="330" name="Google Shape;330;p38"/>
          <p:cNvSpPr txBox="1"/>
          <p:nvPr/>
        </p:nvSpPr>
        <p:spPr>
          <a:xfrm>
            <a:off x="192960" y="72000"/>
            <a:ext cx="6107100" cy="468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2200" strike="noStrike">
                <a:solidFill>
                  <a:srgbClr val="468A1A"/>
                </a:solidFill>
                <a:latin typeface="Arial"/>
                <a:ea typeface="Arial"/>
                <a:cs typeface="Arial"/>
                <a:sym typeface="Arial"/>
              </a:rPr>
              <a:t>Part 2 — What Good Metadata Looks Like</a:t>
            </a:r>
            <a:endParaRPr b="0" sz="2200" strike="noStrike">
              <a:latin typeface="Arial"/>
              <a:ea typeface="Arial"/>
              <a:cs typeface="Arial"/>
              <a:sym typeface="Arial"/>
            </a:endParaRPr>
          </a:p>
        </p:txBody>
      </p:sp>
      <p:sp>
        <p:nvSpPr>
          <p:cNvPr id="331" name="Google Shape;331;p38"/>
          <p:cNvSpPr txBox="1"/>
          <p:nvPr/>
        </p:nvSpPr>
        <p:spPr>
          <a:xfrm>
            <a:off x="720000" y="3204000"/>
            <a:ext cx="8820000" cy="1818300"/>
          </a:xfrm>
          <a:prstGeom prst="rect">
            <a:avLst/>
          </a:prstGeom>
          <a:noFill/>
          <a:ln>
            <a:noFill/>
          </a:ln>
        </p:spPr>
        <p:txBody>
          <a:bodyPr anchorCtr="0" anchor="t" bIns="45000" lIns="90000" spcFirstLastPara="1" rIns="90000" wrap="square" tIns="45000">
            <a:noAutofit/>
          </a:bodyPr>
          <a:lstStyle/>
          <a:p>
            <a:pPr indent="0" lvl="0" marL="0" marR="0" rtl="0" algn="l">
              <a:lnSpc>
                <a:spcPct val="115000"/>
              </a:lnSpc>
              <a:spcBef>
                <a:spcPts val="0"/>
              </a:spcBef>
              <a:spcAft>
                <a:spcPts val="0"/>
              </a:spcAft>
              <a:buNone/>
            </a:pPr>
            <a:r>
              <a:t/>
            </a:r>
            <a:endParaRPr b="0" sz="1200" strike="noStrike">
              <a:latin typeface="Arial"/>
              <a:ea typeface="Arial"/>
              <a:cs typeface="Arial"/>
              <a:sym typeface="Arial"/>
            </a:endParaRPr>
          </a:p>
          <a:p>
            <a:pPr indent="-216000" lvl="0" marL="216000" marR="0" rtl="0" algn="l">
              <a:lnSpc>
                <a:spcPct val="115000"/>
              </a:lnSpc>
              <a:spcBef>
                <a:spcPts val="0"/>
              </a:spcBef>
              <a:spcAft>
                <a:spcPts val="0"/>
              </a:spcAft>
              <a:buClr>
                <a:srgbClr val="000000"/>
              </a:buClr>
              <a:buSzPts val="540"/>
              <a:buFont typeface="Noto Sans Symbols"/>
              <a:buChar char="●"/>
            </a:pPr>
            <a:r>
              <a:rPr b="1" lang="en-US" sz="1200" strike="noStrike">
                <a:solidFill>
                  <a:srgbClr val="C9211E"/>
                </a:solidFill>
                <a:latin typeface="Arial"/>
                <a:ea typeface="Arial"/>
                <a:cs typeface="Arial"/>
                <a:sym typeface="Arial"/>
              </a:rPr>
              <a:t>Pediatric patients</a:t>
            </a:r>
            <a:r>
              <a:rPr b="0" lang="en-US" sz="1200" strike="noStrike">
                <a:solidFill>
                  <a:srgbClr val="000000"/>
                </a:solidFill>
                <a:latin typeface="Arial"/>
                <a:ea typeface="Arial"/>
                <a:cs typeface="Arial"/>
                <a:sym typeface="Arial"/>
              </a:rPr>
              <a:t>: age is a key layered parameter, we could need to separate infant - </a:t>
            </a:r>
            <a:r>
              <a:rPr lang="en-US" sz="1200"/>
              <a:t>toddler</a:t>
            </a:r>
            <a:r>
              <a:rPr b="0" lang="en-US" sz="1200" strike="noStrike">
                <a:solidFill>
                  <a:srgbClr val="000000"/>
                </a:solidFill>
                <a:latin typeface="Arial"/>
                <a:ea typeface="Arial"/>
                <a:cs typeface="Arial"/>
                <a:sym typeface="Arial"/>
              </a:rPr>
              <a:t> - teen, time unit should be decided based on the cohort.</a:t>
            </a:r>
            <a:endParaRPr b="0" sz="1200" strike="noStrike">
              <a:latin typeface="Arial"/>
              <a:ea typeface="Arial"/>
              <a:cs typeface="Arial"/>
              <a:sym typeface="Arial"/>
            </a:endParaRPr>
          </a:p>
        </p:txBody>
      </p:sp>
      <p:graphicFrame>
        <p:nvGraphicFramePr>
          <p:cNvPr id="332" name="Google Shape;332;p38"/>
          <p:cNvGraphicFramePr/>
          <p:nvPr/>
        </p:nvGraphicFramePr>
        <p:xfrm>
          <a:off x="425520" y="1202760"/>
          <a:ext cx="3000000" cy="3000000"/>
        </p:xfrm>
        <a:graphic>
          <a:graphicData uri="http://schemas.openxmlformats.org/drawingml/2006/table">
            <a:tbl>
              <a:tblPr>
                <a:noFill/>
                <a:tableStyleId>{FBF6C270-3839-495F-BF6B-5D2B0D70D4C5}</a:tableStyleId>
              </a:tblPr>
              <a:tblGrid>
                <a:gridCol w="3098525"/>
                <a:gridCol w="6131875"/>
              </a:tblGrid>
              <a:tr h="413650">
                <a:tc>
                  <a:txBody>
                    <a:bodyPr/>
                    <a:lstStyle/>
                    <a:p>
                      <a:pPr indent="-216000" lvl="0" marL="216000" marR="0" rtl="0" algn="l">
                        <a:spcBef>
                          <a:spcPts val="0"/>
                        </a:spcBef>
                        <a:spcAft>
                          <a:spcPts val="0"/>
                        </a:spcAft>
                        <a:buClr>
                          <a:srgbClr val="000000"/>
                        </a:buClr>
                        <a:buSzPts val="540"/>
                        <a:buFont typeface="Noto Sans Symbols"/>
                        <a:buChar char="●"/>
                      </a:pPr>
                      <a:r>
                        <a:rPr b="1" lang="en-US" sz="1200" strike="noStrike">
                          <a:solidFill>
                            <a:srgbClr val="000000"/>
                          </a:solidFill>
                          <a:latin typeface="Arial"/>
                          <a:ea typeface="Arial"/>
                          <a:cs typeface="Arial"/>
                          <a:sym typeface="Arial"/>
                        </a:rPr>
                        <a:t>What kind of information do we want to extract from the data?</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We need to know what is </a:t>
                      </a:r>
                      <a:r>
                        <a:rPr lang="en-US" sz="1200"/>
                        <a:t>clinically</a:t>
                      </a:r>
                      <a:r>
                        <a:rPr b="0" lang="en-US" sz="1200" strike="noStrike">
                          <a:latin typeface="Arial"/>
                          <a:ea typeface="Arial"/>
                          <a:cs typeface="Arial"/>
                          <a:sym typeface="Arial"/>
                        </a:rPr>
                        <a:t> or biologically relevant for our experimental hypothesis.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46325">
                <a:tc>
                  <a:txBody>
                    <a:bodyPr/>
                    <a:lstStyle/>
                    <a:p>
                      <a:pPr indent="-216000" lvl="0" marL="216000" marR="0" rtl="0" algn="l">
                        <a:spcBef>
                          <a:spcPts val="0"/>
                        </a:spcBef>
                        <a:spcAft>
                          <a:spcPts val="0"/>
                        </a:spcAft>
                        <a:buClr>
                          <a:srgbClr val="000000"/>
                        </a:buClr>
                        <a:buSzPts val="540"/>
                        <a:buFont typeface="Noto Sans Symbols"/>
                        <a:buChar char="●"/>
                      </a:pPr>
                      <a:r>
                        <a:rPr b="1" lang="en-US" sz="1200" strike="noStrike">
                          <a:latin typeface="Arial"/>
                          <a:ea typeface="Arial"/>
                          <a:cs typeface="Arial"/>
                          <a:sym typeface="Arial"/>
                        </a:rPr>
                        <a:t>What is the </a:t>
                      </a:r>
                      <a:r>
                        <a:rPr b="1" lang="en-US" sz="1200"/>
                        <a:t>experimental</a:t>
                      </a:r>
                      <a:r>
                        <a:rPr b="1" lang="en-US" sz="1200" strike="noStrike">
                          <a:latin typeface="Arial"/>
                          <a:ea typeface="Arial"/>
                          <a:cs typeface="Arial"/>
                          <a:sym typeface="Arial"/>
                        </a:rPr>
                        <a:t> design?</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Do we have multiple batches, how </a:t>
                      </a:r>
                      <a:r>
                        <a:rPr lang="en-US" sz="1200"/>
                        <a:t>many</a:t>
                      </a:r>
                      <a:r>
                        <a:rPr b="0" lang="en-US" sz="1200" strike="noStrike">
                          <a:latin typeface="Arial"/>
                          <a:ea typeface="Arial"/>
                          <a:cs typeface="Arial"/>
                          <a:sym typeface="Arial"/>
                        </a:rPr>
                        <a:t> conditions, which treatment dose, etc.</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46325">
                <a:tc>
                  <a:txBody>
                    <a:bodyPr/>
                    <a:lstStyle/>
                    <a:p>
                      <a:pPr indent="-216000" lvl="0" marL="216000" marR="0" rtl="0" algn="l">
                        <a:spcBef>
                          <a:spcPts val="0"/>
                        </a:spcBef>
                        <a:spcAft>
                          <a:spcPts val="0"/>
                        </a:spcAft>
                        <a:buClr>
                          <a:srgbClr val="000000"/>
                        </a:buClr>
                        <a:buSzPts val="540"/>
                        <a:buFont typeface="Noto Sans Symbols"/>
                        <a:buChar char="●"/>
                      </a:pPr>
                      <a:r>
                        <a:rPr b="1" lang="en-US" sz="1200" strike="noStrike">
                          <a:latin typeface="Arial"/>
                          <a:ea typeface="Arial"/>
                          <a:cs typeface="Arial"/>
                          <a:sym typeface="Arial"/>
                        </a:rPr>
                        <a:t>Are there confounding elements?</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We need to document any </a:t>
                      </a:r>
                      <a:r>
                        <a:rPr lang="en-US" sz="1200"/>
                        <a:t>condition</a:t>
                      </a:r>
                      <a:r>
                        <a:rPr b="0" lang="en-US" sz="1200" strike="noStrike">
                          <a:latin typeface="Arial"/>
                          <a:ea typeface="Arial"/>
                          <a:cs typeface="Arial"/>
                          <a:sym typeface="Arial"/>
                        </a:rPr>
                        <a:t> or element that could alter or influence the results.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46325">
                <a:tc>
                  <a:txBody>
                    <a:bodyPr/>
                    <a:lstStyle/>
                    <a:p>
                      <a:pPr indent="-216000" lvl="0" marL="216000" marR="0" rtl="0" algn="l">
                        <a:spcBef>
                          <a:spcPts val="0"/>
                        </a:spcBef>
                        <a:spcAft>
                          <a:spcPts val="0"/>
                        </a:spcAft>
                        <a:buClr>
                          <a:srgbClr val="000000"/>
                        </a:buClr>
                        <a:buSzPts val="540"/>
                        <a:buFont typeface="Noto Sans Symbols"/>
                        <a:buChar char="●"/>
                      </a:pPr>
                      <a:r>
                        <a:rPr b="1" lang="en-US" sz="1200" strike="noStrike">
                          <a:latin typeface="Arial"/>
                          <a:ea typeface="Arial"/>
                          <a:cs typeface="Arial"/>
                          <a:sym typeface="Arial"/>
                        </a:rPr>
                        <a:t>How many layer of information are there in our design?</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For complex studies, there might be the need to layer metadata and connect them through unique keys (e.g. patient’s info, sample info, treatment info, etc.)</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pic>
        <p:nvPicPr>
          <p:cNvPr id="333" name="Google Shape;333;p38"/>
          <p:cNvPicPr preferRelativeResize="0"/>
          <p:nvPr/>
        </p:nvPicPr>
        <p:blipFill>
          <a:blip r:embed="rId3">
            <a:alphaModFix/>
          </a:blip>
          <a:stretch>
            <a:fillRect/>
          </a:stretch>
        </p:blipFill>
        <p:spPr>
          <a:xfrm>
            <a:off x="8946550" y="72000"/>
            <a:ext cx="1041398" cy="1041398"/>
          </a:xfrm>
          <a:prstGeom prst="rect">
            <a:avLst/>
          </a:prstGeom>
          <a:noFill/>
          <a:ln>
            <a:noFill/>
          </a:ln>
        </p:spPr>
      </p:pic>
      <p:sp>
        <p:nvSpPr>
          <p:cNvPr id="334" name="Google Shape;334;p38"/>
          <p:cNvSpPr txBox="1"/>
          <p:nvPr/>
        </p:nvSpPr>
        <p:spPr>
          <a:xfrm>
            <a:off x="3933500" y="3000800"/>
            <a:ext cx="2213700" cy="402900"/>
          </a:xfrm>
          <a:prstGeom prst="rect">
            <a:avLst/>
          </a:prstGeom>
          <a:noFill/>
          <a:ln>
            <a:noFill/>
          </a:ln>
        </p:spPr>
        <p:txBody>
          <a:bodyPr anchorCtr="0" anchor="t" bIns="45000" lIns="90000" spcFirstLastPara="1" rIns="90000" wrap="square" tIns="45000">
            <a:noAutofit/>
          </a:bodyPr>
          <a:lstStyle/>
          <a:p>
            <a:pPr indent="0" lvl="0" marL="0" marR="0" rtl="0" algn="l">
              <a:lnSpc>
                <a:spcPct val="115000"/>
              </a:lnSpc>
              <a:spcBef>
                <a:spcPts val="0"/>
              </a:spcBef>
              <a:spcAft>
                <a:spcPts val="0"/>
              </a:spcAft>
              <a:buNone/>
            </a:pPr>
            <a:r>
              <a:rPr b="1" lang="en-US" sz="1500">
                <a:solidFill>
                  <a:srgbClr val="C9211E"/>
                </a:solidFill>
              </a:rPr>
              <a:t>DIFFICULT DATASETS</a:t>
            </a:r>
            <a:endParaRPr b="1" sz="1500" strike="noStrike">
              <a:solidFill>
                <a:srgbClr val="C9211E"/>
              </a:solidFill>
            </a:endParaRPr>
          </a:p>
          <a:p>
            <a:pPr indent="-181710" lvl="0" marL="216000" marR="0" rtl="0" algn="l">
              <a:lnSpc>
                <a:spcPct val="115000"/>
              </a:lnSpc>
              <a:spcBef>
                <a:spcPts val="624"/>
              </a:spcBef>
              <a:spcAft>
                <a:spcPts val="0"/>
              </a:spcAft>
              <a:buClr>
                <a:srgbClr val="000000"/>
              </a:buClr>
              <a:buSzPts val="540"/>
              <a:buFont typeface="Noto Sans Symbols"/>
              <a:buNone/>
            </a:pPr>
            <a:r>
              <a:t/>
            </a:r>
            <a:endParaRPr b="0" sz="1200" strike="noStrike">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cxnSp>
        <p:nvCxnSpPr>
          <p:cNvPr id="339" name="Google Shape;339;p39"/>
          <p:cNvCxnSpPr/>
          <p:nvPr/>
        </p:nvCxnSpPr>
        <p:spPr>
          <a:xfrm>
            <a:off x="180000" y="540000"/>
            <a:ext cx="7920000" cy="0"/>
          </a:xfrm>
          <a:prstGeom prst="straightConnector1">
            <a:avLst/>
          </a:prstGeom>
          <a:noFill/>
          <a:ln cap="flat" cmpd="sng" w="36000">
            <a:solidFill>
              <a:srgbClr val="468A1A"/>
            </a:solidFill>
            <a:prstDash val="solid"/>
            <a:round/>
            <a:headEnd len="sm" w="sm" type="none"/>
            <a:tailEnd len="sm" w="sm" type="none"/>
          </a:ln>
        </p:spPr>
      </p:cxnSp>
      <p:sp>
        <p:nvSpPr>
          <p:cNvPr id="340" name="Google Shape;340;p39"/>
          <p:cNvSpPr txBox="1"/>
          <p:nvPr/>
        </p:nvSpPr>
        <p:spPr>
          <a:xfrm>
            <a:off x="192960" y="72000"/>
            <a:ext cx="6107100" cy="468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2200" strike="noStrike">
                <a:solidFill>
                  <a:srgbClr val="468A1A"/>
                </a:solidFill>
                <a:latin typeface="Arial"/>
                <a:ea typeface="Arial"/>
                <a:cs typeface="Arial"/>
                <a:sym typeface="Arial"/>
              </a:rPr>
              <a:t>Part 2 — What Good Metadata Looks Like</a:t>
            </a:r>
            <a:endParaRPr b="0" sz="2200" strike="noStrike">
              <a:latin typeface="Arial"/>
              <a:ea typeface="Arial"/>
              <a:cs typeface="Arial"/>
              <a:sym typeface="Arial"/>
            </a:endParaRPr>
          </a:p>
        </p:txBody>
      </p:sp>
      <p:sp>
        <p:nvSpPr>
          <p:cNvPr id="341" name="Google Shape;341;p39"/>
          <p:cNvSpPr txBox="1"/>
          <p:nvPr/>
        </p:nvSpPr>
        <p:spPr>
          <a:xfrm>
            <a:off x="720000" y="3204000"/>
            <a:ext cx="8820000" cy="1818300"/>
          </a:xfrm>
          <a:prstGeom prst="rect">
            <a:avLst/>
          </a:prstGeom>
          <a:noFill/>
          <a:ln>
            <a:noFill/>
          </a:ln>
        </p:spPr>
        <p:txBody>
          <a:bodyPr anchorCtr="0" anchor="t" bIns="45000" lIns="90000" spcFirstLastPara="1" rIns="90000" wrap="square" tIns="45000">
            <a:noAutofit/>
          </a:bodyPr>
          <a:lstStyle/>
          <a:p>
            <a:pPr indent="0" lvl="0" marL="0" marR="0" rtl="0" algn="l">
              <a:lnSpc>
                <a:spcPct val="115000"/>
              </a:lnSpc>
              <a:spcBef>
                <a:spcPts val="0"/>
              </a:spcBef>
              <a:spcAft>
                <a:spcPts val="0"/>
              </a:spcAft>
              <a:buNone/>
            </a:pPr>
            <a:r>
              <a:t/>
            </a:r>
            <a:endParaRPr b="0" sz="1200" strike="noStrike">
              <a:latin typeface="Arial"/>
              <a:ea typeface="Arial"/>
              <a:cs typeface="Arial"/>
              <a:sym typeface="Arial"/>
            </a:endParaRPr>
          </a:p>
          <a:p>
            <a:pPr indent="-216000" lvl="0" marL="216000" marR="0" rtl="0" algn="l">
              <a:lnSpc>
                <a:spcPct val="115000"/>
              </a:lnSpc>
              <a:spcBef>
                <a:spcPts val="0"/>
              </a:spcBef>
              <a:spcAft>
                <a:spcPts val="0"/>
              </a:spcAft>
              <a:buClr>
                <a:srgbClr val="000000"/>
              </a:buClr>
              <a:buSzPts val="540"/>
              <a:buFont typeface="Noto Sans Symbols"/>
              <a:buChar char="●"/>
            </a:pPr>
            <a:r>
              <a:rPr b="1" lang="en-US" sz="1200" strike="noStrike">
                <a:solidFill>
                  <a:srgbClr val="C9211E"/>
                </a:solidFill>
                <a:latin typeface="Arial"/>
                <a:ea typeface="Arial"/>
                <a:cs typeface="Arial"/>
                <a:sym typeface="Arial"/>
              </a:rPr>
              <a:t>Pediatric patients</a:t>
            </a:r>
            <a:r>
              <a:rPr b="0" lang="en-US" sz="1200" strike="noStrike">
                <a:solidFill>
                  <a:srgbClr val="000000"/>
                </a:solidFill>
                <a:latin typeface="Arial"/>
                <a:ea typeface="Arial"/>
                <a:cs typeface="Arial"/>
                <a:sym typeface="Arial"/>
              </a:rPr>
              <a:t>: age is a key layered parameter, we could need to separate infant - </a:t>
            </a:r>
            <a:r>
              <a:rPr lang="en-US" sz="1200"/>
              <a:t>toddler</a:t>
            </a:r>
            <a:r>
              <a:rPr b="0" lang="en-US" sz="1200" strike="noStrike">
                <a:solidFill>
                  <a:srgbClr val="000000"/>
                </a:solidFill>
                <a:latin typeface="Arial"/>
                <a:ea typeface="Arial"/>
                <a:cs typeface="Arial"/>
                <a:sym typeface="Arial"/>
              </a:rPr>
              <a:t> - teen, time unit should be decided based on the cohort.</a:t>
            </a:r>
            <a:endParaRPr b="0" sz="1200" strike="noStrike">
              <a:latin typeface="Arial"/>
              <a:ea typeface="Arial"/>
              <a:cs typeface="Arial"/>
              <a:sym typeface="Arial"/>
            </a:endParaRPr>
          </a:p>
          <a:p>
            <a:pPr indent="-216000" lvl="0" marL="216000" marR="0" rtl="0" algn="l">
              <a:lnSpc>
                <a:spcPct val="115000"/>
              </a:lnSpc>
              <a:spcBef>
                <a:spcPts val="624"/>
              </a:spcBef>
              <a:spcAft>
                <a:spcPts val="0"/>
              </a:spcAft>
              <a:buClr>
                <a:srgbClr val="000000"/>
              </a:buClr>
              <a:buSzPts val="540"/>
              <a:buFont typeface="Noto Sans Symbols"/>
              <a:buChar char="●"/>
            </a:pPr>
            <a:r>
              <a:rPr b="1" lang="en-US" sz="1200" strike="noStrike">
                <a:solidFill>
                  <a:srgbClr val="C9211E"/>
                </a:solidFill>
                <a:latin typeface="Arial"/>
                <a:ea typeface="Arial"/>
                <a:cs typeface="Arial"/>
                <a:sym typeface="Arial"/>
              </a:rPr>
              <a:t>Rare diseases</a:t>
            </a:r>
            <a:r>
              <a:rPr b="0" lang="en-US" sz="1200" strike="noStrike">
                <a:solidFill>
                  <a:srgbClr val="000000"/>
                </a:solidFill>
                <a:latin typeface="Arial"/>
                <a:ea typeface="Arial"/>
                <a:cs typeface="Arial"/>
                <a:sym typeface="Arial"/>
              </a:rPr>
              <a:t>: when samples are few, we need as many info as possible to ensure each sample doesn’t get wasted. In a clinical </a:t>
            </a:r>
            <a:r>
              <a:rPr lang="en-US" sz="1200"/>
              <a:t>environment</a:t>
            </a:r>
            <a:r>
              <a:rPr b="0" lang="en-US" sz="1200" strike="noStrike">
                <a:solidFill>
                  <a:srgbClr val="000000"/>
                </a:solidFill>
                <a:latin typeface="Arial"/>
                <a:ea typeface="Arial"/>
                <a:cs typeface="Arial"/>
                <a:sym typeface="Arial"/>
              </a:rPr>
              <a:t>, it’s easier to collect more data upfront, since you already have ethical approval for anything you may need later, rather than having to go through the process again.</a:t>
            </a:r>
            <a:endParaRPr b="0" sz="1200" strike="noStrike">
              <a:latin typeface="Arial"/>
              <a:ea typeface="Arial"/>
              <a:cs typeface="Arial"/>
              <a:sym typeface="Arial"/>
            </a:endParaRPr>
          </a:p>
        </p:txBody>
      </p:sp>
      <p:graphicFrame>
        <p:nvGraphicFramePr>
          <p:cNvPr id="342" name="Google Shape;342;p39"/>
          <p:cNvGraphicFramePr/>
          <p:nvPr/>
        </p:nvGraphicFramePr>
        <p:xfrm>
          <a:off x="425520" y="1202760"/>
          <a:ext cx="3000000" cy="3000000"/>
        </p:xfrm>
        <a:graphic>
          <a:graphicData uri="http://schemas.openxmlformats.org/drawingml/2006/table">
            <a:tbl>
              <a:tblPr>
                <a:noFill/>
                <a:tableStyleId>{FBF6C270-3839-495F-BF6B-5D2B0D70D4C5}</a:tableStyleId>
              </a:tblPr>
              <a:tblGrid>
                <a:gridCol w="3098525"/>
                <a:gridCol w="6131875"/>
              </a:tblGrid>
              <a:tr h="413650">
                <a:tc>
                  <a:txBody>
                    <a:bodyPr/>
                    <a:lstStyle/>
                    <a:p>
                      <a:pPr indent="-216000" lvl="0" marL="216000" marR="0" rtl="0" algn="l">
                        <a:spcBef>
                          <a:spcPts val="0"/>
                        </a:spcBef>
                        <a:spcAft>
                          <a:spcPts val="0"/>
                        </a:spcAft>
                        <a:buClr>
                          <a:srgbClr val="000000"/>
                        </a:buClr>
                        <a:buSzPts val="540"/>
                        <a:buFont typeface="Noto Sans Symbols"/>
                        <a:buChar char="●"/>
                      </a:pPr>
                      <a:r>
                        <a:rPr b="1" lang="en-US" sz="1200" strike="noStrike">
                          <a:solidFill>
                            <a:srgbClr val="000000"/>
                          </a:solidFill>
                          <a:latin typeface="Arial"/>
                          <a:ea typeface="Arial"/>
                          <a:cs typeface="Arial"/>
                          <a:sym typeface="Arial"/>
                        </a:rPr>
                        <a:t>What kind of information do we want to extract from the data?</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We need to know what is </a:t>
                      </a:r>
                      <a:r>
                        <a:rPr lang="en-US" sz="1200"/>
                        <a:t>clinically</a:t>
                      </a:r>
                      <a:r>
                        <a:rPr b="0" lang="en-US" sz="1200" strike="noStrike">
                          <a:latin typeface="Arial"/>
                          <a:ea typeface="Arial"/>
                          <a:cs typeface="Arial"/>
                          <a:sym typeface="Arial"/>
                        </a:rPr>
                        <a:t> or biologically relevant for our experimental hypothesis.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46325">
                <a:tc>
                  <a:txBody>
                    <a:bodyPr/>
                    <a:lstStyle/>
                    <a:p>
                      <a:pPr indent="-216000" lvl="0" marL="216000" marR="0" rtl="0" algn="l">
                        <a:spcBef>
                          <a:spcPts val="0"/>
                        </a:spcBef>
                        <a:spcAft>
                          <a:spcPts val="0"/>
                        </a:spcAft>
                        <a:buClr>
                          <a:srgbClr val="000000"/>
                        </a:buClr>
                        <a:buSzPts val="540"/>
                        <a:buFont typeface="Noto Sans Symbols"/>
                        <a:buChar char="●"/>
                      </a:pPr>
                      <a:r>
                        <a:rPr b="1" lang="en-US" sz="1200" strike="noStrike">
                          <a:latin typeface="Arial"/>
                          <a:ea typeface="Arial"/>
                          <a:cs typeface="Arial"/>
                          <a:sym typeface="Arial"/>
                        </a:rPr>
                        <a:t>What is the </a:t>
                      </a:r>
                      <a:r>
                        <a:rPr b="1" lang="en-US" sz="1200"/>
                        <a:t>experimental</a:t>
                      </a:r>
                      <a:r>
                        <a:rPr b="1" lang="en-US" sz="1200" strike="noStrike">
                          <a:latin typeface="Arial"/>
                          <a:ea typeface="Arial"/>
                          <a:cs typeface="Arial"/>
                          <a:sym typeface="Arial"/>
                        </a:rPr>
                        <a:t> design?</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Do we have multiple batches, how </a:t>
                      </a:r>
                      <a:r>
                        <a:rPr lang="en-US" sz="1200"/>
                        <a:t>many</a:t>
                      </a:r>
                      <a:r>
                        <a:rPr b="0" lang="en-US" sz="1200" strike="noStrike">
                          <a:latin typeface="Arial"/>
                          <a:ea typeface="Arial"/>
                          <a:cs typeface="Arial"/>
                          <a:sym typeface="Arial"/>
                        </a:rPr>
                        <a:t> conditions, which treatment dose, etc.</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46325">
                <a:tc>
                  <a:txBody>
                    <a:bodyPr/>
                    <a:lstStyle/>
                    <a:p>
                      <a:pPr indent="-216000" lvl="0" marL="216000" marR="0" rtl="0" algn="l">
                        <a:spcBef>
                          <a:spcPts val="0"/>
                        </a:spcBef>
                        <a:spcAft>
                          <a:spcPts val="0"/>
                        </a:spcAft>
                        <a:buClr>
                          <a:srgbClr val="000000"/>
                        </a:buClr>
                        <a:buSzPts val="540"/>
                        <a:buFont typeface="Noto Sans Symbols"/>
                        <a:buChar char="●"/>
                      </a:pPr>
                      <a:r>
                        <a:rPr b="1" lang="en-US" sz="1200" strike="noStrike">
                          <a:latin typeface="Arial"/>
                          <a:ea typeface="Arial"/>
                          <a:cs typeface="Arial"/>
                          <a:sym typeface="Arial"/>
                        </a:rPr>
                        <a:t>Are there confounding elements?</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We need to document any </a:t>
                      </a:r>
                      <a:r>
                        <a:rPr lang="en-US" sz="1200"/>
                        <a:t>condition</a:t>
                      </a:r>
                      <a:r>
                        <a:rPr b="0" lang="en-US" sz="1200" strike="noStrike">
                          <a:latin typeface="Arial"/>
                          <a:ea typeface="Arial"/>
                          <a:cs typeface="Arial"/>
                          <a:sym typeface="Arial"/>
                        </a:rPr>
                        <a:t> or element that could alter or influence the results.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46325">
                <a:tc>
                  <a:txBody>
                    <a:bodyPr/>
                    <a:lstStyle/>
                    <a:p>
                      <a:pPr indent="-216000" lvl="0" marL="216000" marR="0" rtl="0" algn="l">
                        <a:spcBef>
                          <a:spcPts val="0"/>
                        </a:spcBef>
                        <a:spcAft>
                          <a:spcPts val="0"/>
                        </a:spcAft>
                        <a:buClr>
                          <a:srgbClr val="000000"/>
                        </a:buClr>
                        <a:buSzPts val="540"/>
                        <a:buFont typeface="Noto Sans Symbols"/>
                        <a:buChar char="●"/>
                      </a:pPr>
                      <a:r>
                        <a:rPr b="1" lang="en-US" sz="1200" strike="noStrike">
                          <a:latin typeface="Arial"/>
                          <a:ea typeface="Arial"/>
                          <a:cs typeface="Arial"/>
                          <a:sym typeface="Arial"/>
                        </a:rPr>
                        <a:t>How many layer of information are there in our design?</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For complex studies, there might be the need to layer metadata and connect them through unique keys (e.g. patient’s info, sample info, treatment info, etc.)</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pic>
        <p:nvPicPr>
          <p:cNvPr id="343" name="Google Shape;343;p39"/>
          <p:cNvPicPr preferRelativeResize="0"/>
          <p:nvPr/>
        </p:nvPicPr>
        <p:blipFill>
          <a:blip r:embed="rId3">
            <a:alphaModFix/>
          </a:blip>
          <a:stretch>
            <a:fillRect/>
          </a:stretch>
        </p:blipFill>
        <p:spPr>
          <a:xfrm>
            <a:off x="8946550" y="72000"/>
            <a:ext cx="1041398" cy="1041398"/>
          </a:xfrm>
          <a:prstGeom prst="rect">
            <a:avLst/>
          </a:prstGeom>
          <a:noFill/>
          <a:ln>
            <a:noFill/>
          </a:ln>
        </p:spPr>
      </p:pic>
      <p:sp>
        <p:nvSpPr>
          <p:cNvPr id="344" name="Google Shape;344;p39"/>
          <p:cNvSpPr txBox="1"/>
          <p:nvPr/>
        </p:nvSpPr>
        <p:spPr>
          <a:xfrm>
            <a:off x="3933500" y="3000800"/>
            <a:ext cx="2213700" cy="402900"/>
          </a:xfrm>
          <a:prstGeom prst="rect">
            <a:avLst/>
          </a:prstGeom>
          <a:noFill/>
          <a:ln>
            <a:noFill/>
          </a:ln>
        </p:spPr>
        <p:txBody>
          <a:bodyPr anchorCtr="0" anchor="t" bIns="45000" lIns="90000" spcFirstLastPara="1" rIns="90000" wrap="square" tIns="45000">
            <a:noAutofit/>
          </a:bodyPr>
          <a:lstStyle/>
          <a:p>
            <a:pPr indent="0" lvl="0" marL="0" marR="0" rtl="0" algn="l">
              <a:lnSpc>
                <a:spcPct val="115000"/>
              </a:lnSpc>
              <a:spcBef>
                <a:spcPts val="0"/>
              </a:spcBef>
              <a:spcAft>
                <a:spcPts val="0"/>
              </a:spcAft>
              <a:buNone/>
            </a:pPr>
            <a:r>
              <a:rPr b="1" lang="en-US" sz="1500">
                <a:solidFill>
                  <a:srgbClr val="C9211E"/>
                </a:solidFill>
              </a:rPr>
              <a:t>DIFFICULT DATASETS</a:t>
            </a:r>
            <a:endParaRPr b="1" sz="1500" strike="noStrike">
              <a:solidFill>
                <a:srgbClr val="C9211E"/>
              </a:solidFill>
            </a:endParaRPr>
          </a:p>
          <a:p>
            <a:pPr indent="-181710" lvl="0" marL="216000" marR="0" rtl="0" algn="l">
              <a:lnSpc>
                <a:spcPct val="115000"/>
              </a:lnSpc>
              <a:spcBef>
                <a:spcPts val="624"/>
              </a:spcBef>
              <a:spcAft>
                <a:spcPts val="0"/>
              </a:spcAft>
              <a:buClr>
                <a:srgbClr val="000000"/>
              </a:buClr>
              <a:buSzPts val="540"/>
              <a:buFont typeface="Noto Sans Symbols"/>
              <a:buNone/>
            </a:pPr>
            <a:r>
              <a:t/>
            </a:r>
            <a:endParaRPr b="0" sz="1200" strike="noStrike">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cxnSp>
        <p:nvCxnSpPr>
          <p:cNvPr id="349" name="Google Shape;349;p40"/>
          <p:cNvCxnSpPr/>
          <p:nvPr/>
        </p:nvCxnSpPr>
        <p:spPr>
          <a:xfrm>
            <a:off x="180000" y="540000"/>
            <a:ext cx="7920000" cy="0"/>
          </a:xfrm>
          <a:prstGeom prst="straightConnector1">
            <a:avLst/>
          </a:prstGeom>
          <a:noFill/>
          <a:ln cap="flat" cmpd="sng" w="36000">
            <a:solidFill>
              <a:srgbClr val="468A1A"/>
            </a:solidFill>
            <a:prstDash val="solid"/>
            <a:round/>
            <a:headEnd len="sm" w="sm" type="none"/>
            <a:tailEnd len="sm" w="sm" type="none"/>
          </a:ln>
        </p:spPr>
      </p:cxnSp>
      <p:sp>
        <p:nvSpPr>
          <p:cNvPr id="350" name="Google Shape;350;p40"/>
          <p:cNvSpPr txBox="1"/>
          <p:nvPr/>
        </p:nvSpPr>
        <p:spPr>
          <a:xfrm>
            <a:off x="192960" y="72000"/>
            <a:ext cx="6107100" cy="468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2200" strike="noStrike">
                <a:solidFill>
                  <a:srgbClr val="468A1A"/>
                </a:solidFill>
                <a:latin typeface="Arial"/>
                <a:ea typeface="Arial"/>
                <a:cs typeface="Arial"/>
                <a:sym typeface="Arial"/>
              </a:rPr>
              <a:t>Part 2 — What Good Metadata Looks Like</a:t>
            </a:r>
            <a:endParaRPr b="0" sz="2200" strike="noStrike">
              <a:latin typeface="Arial"/>
              <a:ea typeface="Arial"/>
              <a:cs typeface="Arial"/>
              <a:sym typeface="Arial"/>
            </a:endParaRPr>
          </a:p>
        </p:txBody>
      </p:sp>
      <p:sp>
        <p:nvSpPr>
          <p:cNvPr id="351" name="Google Shape;351;p40"/>
          <p:cNvSpPr txBox="1"/>
          <p:nvPr/>
        </p:nvSpPr>
        <p:spPr>
          <a:xfrm>
            <a:off x="720000" y="3204000"/>
            <a:ext cx="8820000" cy="1818300"/>
          </a:xfrm>
          <a:prstGeom prst="rect">
            <a:avLst/>
          </a:prstGeom>
          <a:noFill/>
          <a:ln>
            <a:noFill/>
          </a:ln>
        </p:spPr>
        <p:txBody>
          <a:bodyPr anchorCtr="0" anchor="t" bIns="45000" lIns="90000" spcFirstLastPara="1" rIns="90000" wrap="square" tIns="45000">
            <a:noAutofit/>
          </a:bodyPr>
          <a:lstStyle/>
          <a:p>
            <a:pPr indent="0" lvl="0" marL="0" marR="0" rtl="0" algn="l">
              <a:lnSpc>
                <a:spcPct val="115000"/>
              </a:lnSpc>
              <a:spcBef>
                <a:spcPts val="0"/>
              </a:spcBef>
              <a:spcAft>
                <a:spcPts val="0"/>
              </a:spcAft>
              <a:buNone/>
            </a:pPr>
            <a:r>
              <a:t/>
            </a:r>
            <a:endParaRPr b="0" sz="1200" strike="noStrike">
              <a:latin typeface="Arial"/>
              <a:ea typeface="Arial"/>
              <a:cs typeface="Arial"/>
              <a:sym typeface="Arial"/>
            </a:endParaRPr>
          </a:p>
          <a:p>
            <a:pPr indent="-216000" lvl="0" marL="216000" marR="0" rtl="0" algn="l">
              <a:lnSpc>
                <a:spcPct val="115000"/>
              </a:lnSpc>
              <a:spcBef>
                <a:spcPts val="0"/>
              </a:spcBef>
              <a:spcAft>
                <a:spcPts val="0"/>
              </a:spcAft>
              <a:buClr>
                <a:srgbClr val="000000"/>
              </a:buClr>
              <a:buSzPts val="540"/>
              <a:buFont typeface="Noto Sans Symbols"/>
              <a:buChar char="●"/>
            </a:pPr>
            <a:r>
              <a:rPr b="1" lang="en-US" sz="1200" strike="noStrike">
                <a:solidFill>
                  <a:srgbClr val="C9211E"/>
                </a:solidFill>
                <a:latin typeface="Arial"/>
                <a:ea typeface="Arial"/>
                <a:cs typeface="Arial"/>
                <a:sym typeface="Arial"/>
              </a:rPr>
              <a:t>Pediatric patients</a:t>
            </a:r>
            <a:r>
              <a:rPr b="0" lang="en-US" sz="1200" strike="noStrike">
                <a:solidFill>
                  <a:srgbClr val="000000"/>
                </a:solidFill>
                <a:latin typeface="Arial"/>
                <a:ea typeface="Arial"/>
                <a:cs typeface="Arial"/>
                <a:sym typeface="Arial"/>
              </a:rPr>
              <a:t>: age is a key layered parameter, we could need to separate infant - </a:t>
            </a:r>
            <a:r>
              <a:rPr lang="en-US" sz="1200"/>
              <a:t>toddler</a:t>
            </a:r>
            <a:r>
              <a:rPr b="0" lang="en-US" sz="1200" strike="noStrike">
                <a:solidFill>
                  <a:srgbClr val="000000"/>
                </a:solidFill>
                <a:latin typeface="Arial"/>
                <a:ea typeface="Arial"/>
                <a:cs typeface="Arial"/>
                <a:sym typeface="Arial"/>
              </a:rPr>
              <a:t> - teen, time unit should be decided based on the cohort.</a:t>
            </a:r>
            <a:endParaRPr b="0" sz="1200" strike="noStrike">
              <a:latin typeface="Arial"/>
              <a:ea typeface="Arial"/>
              <a:cs typeface="Arial"/>
              <a:sym typeface="Arial"/>
            </a:endParaRPr>
          </a:p>
          <a:p>
            <a:pPr indent="-216000" lvl="0" marL="216000" marR="0" rtl="0" algn="l">
              <a:lnSpc>
                <a:spcPct val="115000"/>
              </a:lnSpc>
              <a:spcBef>
                <a:spcPts val="624"/>
              </a:spcBef>
              <a:spcAft>
                <a:spcPts val="0"/>
              </a:spcAft>
              <a:buClr>
                <a:srgbClr val="000000"/>
              </a:buClr>
              <a:buSzPts val="540"/>
              <a:buFont typeface="Noto Sans Symbols"/>
              <a:buChar char="●"/>
            </a:pPr>
            <a:r>
              <a:rPr b="1" lang="en-US" sz="1200" strike="noStrike">
                <a:solidFill>
                  <a:srgbClr val="C9211E"/>
                </a:solidFill>
                <a:latin typeface="Arial"/>
                <a:ea typeface="Arial"/>
                <a:cs typeface="Arial"/>
                <a:sym typeface="Arial"/>
              </a:rPr>
              <a:t>Rare diseases</a:t>
            </a:r>
            <a:r>
              <a:rPr b="0" lang="en-US" sz="1200" strike="noStrike">
                <a:solidFill>
                  <a:srgbClr val="000000"/>
                </a:solidFill>
                <a:latin typeface="Arial"/>
                <a:ea typeface="Arial"/>
                <a:cs typeface="Arial"/>
                <a:sym typeface="Arial"/>
              </a:rPr>
              <a:t>: when samples are few, we need as many info as possible to ensure each sample doesn’t get wasted. In a clinical </a:t>
            </a:r>
            <a:r>
              <a:rPr lang="en-US" sz="1200"/>
              <a:t>environment</a:t>
            </a:r>
            <a:r>
              <a:rPr b="0" lang="en-US" sz="1200" strike="noStrike">
                <a:solidFill>
                  <a:srgbClr val="000000"/>
                </a:solidFill>
                <a:latin typeface="Arial"/>
                <a:ea typeface="Arial"/>
                <a:cs typeface="Arial"/>
                <a:sym typeface="Arial"/>
              </a:rPr>
              <a:t>, it’s easier to collect more data upfront, since you already have ethical approval for anything you may need later, rather than having to go through the process again.</a:t>
            </a:r>
            <a:endParaRPr b="0" sz="1200" strike="noStrike">
              <a:latin typeface="Arial"/>
              <a:ea typeface="Arial"/>
              <a:cs typeface="Arial"/>
              <a:sym typeface="Arial"/>
            </a:endParaRPr>
          </a:p>
          <a:p>
            <a:pPr indent="-216000" lvl="0" marL="216000" marR="0" rtl="0" algn="l">
              <a:lnSpc>
                <a:spcPct val="115000"/>
              </a:lnSpc>
              <a:spcBef>
                <a:spcPts val="1049"/>
              </a:spcBef>
              <a:spcAft>
                <a:spcPts val="0"/>
              </a:spcAft>
              <a:buClr>
                <a:srgbClr val="000000"/>
              </a:buClr>
              <a:buSzPts val="540"/>
              <a:buFont typeface="Noto Sans Symbols"/>
              <a:buChar char="●"/>
            </a:pPr>
            <a:r>
              <a:rPr b="1" lang="en-US" sz="1200" strike="noStrike">
                <a:solidFill>
                  <a:srgbClr val="C9211E"/>
                </a:solidFill>
                <a:latin typeface="Arial"/>
                <a:ea typeface="Arial"/>
                <a:cs typeface="Arial"/>
                <a:sym typeface="Arial"/>
              </a:rPr>
              <a:t>Multicentric studies</a:t>
            </a:r>
            <a:r>
              <a:rPr b="0" lang="en-US" sz="1200" strike="noStrike">
                <a:solidFill>
                  <a:srgbClr val="000000"/>
                </a:solidFill>
                <a:latin typeface="Arial"/>
                <a:ea typeface="Arial"/>
                <a:cs typeface="Arial"/>
                <a:sym typeface="Arial"/>
              </a:rPr>
              <a:t>: when samples are collected from different </a:t>
            </a:r>
            <a:r>
              <a:rPr lang="en-US" sz="1200"/>
              <a:t>facilities</a:t>
            </a:r>
            <a:r>
              <a:rPr b="0" lang="en-US" sz="1200" strike="noStrike">
                <a:solidFill>
                  <a:srgbClr val="000000"/>
                </a:solidFill>
                <a:latin typeface="Arial"/>
                <a:ea typeface="Arial"/>
                <a:cs typeface="Arial"/>
                <a:sym typeface="Arial"/>
              </a:rPr>
              <a:t>, metadata should account for possible variability in protocols and conditions. </a:t>
            </a:r>
            <a:endParaRPr b="0" sz="1200" strike="noStrike">
              <a:latin typeface="Arial"/>
              <a:ea typeface="Arial"/>
              <a:cs typeface="Arial"/>
              <a:sym typeface="Arial"/>
            </a:endParaRPr>
          </a:p>
        </p:txBody>
      </p:sp>
      <p:graphicFrame>
        <p:nvGraphicFramePr>
          <p:cNvPr id="352" name="Google Shape;352;p40"/>
          <p:cNvGraphicFramePr/>
          <p:nvPr/>
        </p:nvGraphicFramePr>
        <p:xfrm>
          <a:off x="425520" y="1202760"/>
          <a:ext cx="3000000" cy="3000000"/>
        </p:xfrm>
        <a:graphic>
          <a:graphicData uri="http://schemas.openxmlformats.org/drawingml/2006/table">
            <a:tbl>
              <a:tblPr>
                <a:noFill/>
                <a:tableStyleId>{FBF6C270-3839-495F-BF6B-5D2B0D70D4C5}</a:tableStyleId>
              </a:tblPr>
              <a:tblGrid>
                <a:gridCol w="3098525"/>
                <a:gridCol w="6131875"/>
              </a:tblGrid>
              <a:tr h="413650">
                <a:tc>
                  <a:txBody>
                    <a:bodyPr/>
                    <a:lstStyle/>
                    <a:p>
                      <a:pPr indent="-216000" lvl="0" marL="216000" marR="0" rtl="0" algn="l">
                        <a:spcBef>
                          <a:spcPts val="0"/>
                        </a:spcBef>
                        <a:spcAft>
                          <a:spcPts val="0"/>
                        </a:spcAft>
                        <a:buClr>
                          <a:srgbClr val="000000"/>
                        </a:buClr>
                        <a:buSzPts val="540"/>
                        <a:buFont typeface="Noto Sans Symbols"/>
                        <a:buChar char="●"/>
                      </a:pPr>
                      <a:r>
                        <a:rPr b="1" lang="en-US" sz="1200" strike="noStrike">
                          <a:solidFill>
                            <a:srgbClr val="000000"/>
                          </a:solidFill>
                          <a:latin typeface="Arial"/>
                          <a:ea typeface="Arial"/>
                          <a:cs typeface="Arial"/>
                          <a:sym typeface="Arial"/>
                        </a:rPr>
                        <a:t>What kind of information do we want to extract from the data?</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We need to know what is </a:t>
                      </a:r>
                      <a:r>
                        <a:rPr lang="en-US" sz="1200"/>
                        <a:t>clinically</a:t>
                      </a:r>
                      <a:r>
                        <a:rPr b="0" lang="en-US" sz="1200" strike="noStrike">
                          <a:latin typeface="Arial"/>
                          <a:ea typeface="Arial"/>
                          <a:cs typeface="Arial"/>
                          <a:sym typeface="Arial"/>
                        </a:rPr>
                        <a:t> or biologically relevant for our experimental hypothesis.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46325">
                <a:tc>
                  <a:txBody>
                    <a:bodyPr/>
                    <a:lstStyle/>
                    <a:p>
                      <a:pPr indent="-216000" lvl="0" marL="216000" marR="0" rtl="0" algn="l">
                        <a:spcBef>
                          <a:spcPts val="0"/>
                        </a:spcBef>
                        <a:spcAft>
                          <a:spcPts val="0"/>
                        </a:spcAft>
                        <a:buClr>
                          <a:srgbClr val="000000"/>
                        </a:buClr>
                        <a:buSzPts val="540"/>
                        <a:buFont typeface="Noto Sans Symbols"/>
                        <a:buChar char="●"/>
                      </a:pPr>
                      <a:r>
                        <a:rPr b="1" lang="en-US" sz="1200" strike="noStrike">
                          <a:latin typeface="Arial"/>
                          <a:ea typeface="Arial"/>
                          <a:cs typeface="Arial"/>
                          <a:sym typeface="Arial"/>
                        </a:rPr>
                        <a:t>What is the </a:t>
                      </a:r>
                      <a:r>
                        <a:rPr b="1" lang="en-US" sz="1200"/>
                        <a:t>experimental</a:t>
                      </a:r>
                      <a:r>
                        <a:rPr b="1" lang="en-US" sz="1200" strike="noStrike">
                          <a:latin typeface="Arial"/>
                          <a:ea typeface="Arial"/>
                          <a:cs typeface="Arial"/>
                          <a:sym typeface="Arial"/>
                        </a:rPr>
                        <a:t> design?</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Do we have multiple batches, how </a:t>
                      </a:r>
                      <a:r>
                        <a:rPr lang="en-US" sz="1200"/>
                        <a:t>many</a:t>
                      </a:r>
                      <a:r>
                        <a:rPr b="0" lang="en-US" sz="1200" strike="noStrike">
                          <a:latin typeface="Arial"/>
                          <a:ea typeface="Arial"/>
                          <a:cs typeface="Arial"/>
                          <a:sym typeface="Arial"/>
                        </a:rPr>
                        <a:t> conditions, which treatment dose, etc.</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46325">
                <a:tc>
                  <a:txBody>
                    <a:bodyPr/>
                    <a:lstStyle/>
                    <a:p>
                      <a:pPr indent="-216000" lvl="0" marL="216000" marR="0" rtl="0" algn="l">
                        <a:spcBef>
                          <a:spcPts val="0"/>
                        </a:spcBef>
                        <a:spcAft>
                          <a:spcPts val="0"/>
                        </a:spcAft>
                        <a:buClr>
                          <a:srgbClr val="000000"/>
                        </a:buClr>
                        <a:buSzPts val="540"/>
                        <a:buFont typeface="Noto Sans Symbols"/>
                        <a:buChar char="●"/>
                      </a:pPr>
                      <a:r>
                        <a:rPr b="1" lang="en-US" sz="1200" strike="noStrike">
                          <a:latin typeface="Arial"/>
                          <a:ea typeface="Arial"/>
                          <a:cs typeface="Arial"/>
                          <a:sym typeface="Arial"/>
                        </a:rPr>
                        <a:t>Are there confounding elements?</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We need to document any </a:t>
                      </a:r>
                      <a:r>
                        <a:rPr lang="en-US" sz="1200"/>
                        <a:t>condition</a:t>
                      </a:r>
                      <a:r>
                        <a:rPr b="0" lang="en-US" sz="1200" strike="noStrike">
                          <a:latin typeface="Arial"/>
                          <a:ea typeface="Arial"/>
                          <a:cs typeface="Arial"/>
                          <a:sym typeface="Arial"/>
                        </a:rPr>
                        <a:t> or element that could alter or influence the results.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46325">
                <a:tc>
                  <a:txBody>
                    <a:bodyPr/>
                    <a:lstStyle/>
                    <a:p>
                      <a:pPr indent="-216000" lvl="0" marL="216000" marR="0" rtl="0" algn="l">
                        <a:spcBef>
                          <a:spcPts val="0"/>
                        </a:spcBef>
                        <a:spcAft>
                          <a:spcPts val="0"/>
                        </a:spcAft>
                        <a:buClr>
                          <a:srgbClr val="000000"/>
                        </a:buClr>
                        <a:buSzPts val="540"/>
                        <a:buFont typeface="Noto Sans Symbols"/>
                        <a:buChar char="●"/>
                      </a:pPr>
                      <a:r>
                        <a:rPr b="1" lang="en-US" sz="1200" strike="noStrike">
                          <a:latin typeface="Arial"/>
                          <a:ea typeface="Arial"/>
                          <a:cs typeface="Arial"/>
                          <a:sym typeface="Arial"/>
                        </a:rPr>
                        <a:t>How many layer of information are there in our design?</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For complex studies, there might be the need to layer metadata and connect them through unique keys (e.g. patient’s info, sample info, treatment info, etc.)</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pic>
        <p:nvPicPr>
          <p:cNvPr id="353" name="Google Shape;353;p40"/>
          <p:cNvPicPr preferRelativeResize="0"/>
          <p:nvPr/>
        </p:nvPicPr>
        <p:blipFill>
          <a:blip r:embed="rId3">
            <a:alphaModFix/>
          </a:blip>
          <a:stretch>
            <a:fillRect/>
          </a:stretch>
        </p:blipFill>
        <p:spPr>
          <a:xfrm>
            <a:off x="8946550" y="72000"/>
            <a:ext cx="1041398" cy="1041398"/>
          </a:xfrm>
          <a:prstGeom prst="rect">
            <a:avLst/>
          </a:prstGeom>
          <a:noFill/>
          <a:ln>
            <a:noFill/>
          </a:ln>
        </p:spPr>
      </p:pic>
      <p:sp>
        <p:nvSpPr>
          <p:cNvPr id="354" name="Google Shape;354;p40"/>
          <p:cNvSpPr txBox="1"/>
          <p:nvPr/>
        </p:nvSpPr>
        <p:spPr>
          <a:xfrm>
            <a:off x="3933500" y="3000800"/>
            <a:ext cx="2213700" cy="402900"/>
          </a:xfrm>
          <a:prstGeom prst="rect">
            <a:avLst/>
          </a:prstGeom>
          <a:noFill/>
          <a:ln>
            <a:noFill/>
          </a:ln>
        </p:spPr>
        <p:txBody>
          <a:bodyPr anchorCtr="0" anchor="t" bIns="45000" lIns="90000" spcFirstLastPara="1" rIns="90000" wrap="square" tIns="45000">
            <a:noAutofit/>
          </a:bodyPr>
          <a:lstStyle/>
          <a:p>
            <a:pPr indent="0" lvl="0" marL="0" marR="0" rtl="0" algn="l">
              <a:lnSpc>
                <a:spcPct val="115000"/>
              </a:lnSpc>
              <a:spcBef>
                <a:spcPts val="0"/>
              </a:spcBef>
              <a:spcAft>
                <a:spcPts val="0"/>
              </a:spcAft>
              <a:buNone/>
            </a:pPr>
            <a:r>
              <a:rPr b="1" lang="en-US" sz="1500">
                <a:solidFill>
                  <a:srgbClr val="C9211E"/>
                </a:solidFill>
              </a:rPr>
              <a:t>DIFFICULT DATASETS</a:t>
            </a:r>
            <a:endParaRPr b="1" sz="1500" strike="noStrike">
              <a:solidFill>
                <a:srgbClr val="C9211E"/>
              </a:solidFill>
            </a:endParaRPr>
          </a:p>
          <a:p>
            <a:pPr indent="-181710" lvl="0" marL="216000" marR="0" rtl="0" algn="l">
              <a:lnSpc>
                <a:spcPct val="115000"/>
              </a:lnSpc>
              <a:spcBef>
                <a:spcPts val="624"/>
              </a:spcBef>
              <a:spcAft>
                <a:spcPts val="0"/>
              </a:spcAft>
              <a:buClr>
                <a:srgbClr val="000000"/>
              </a:buClr>
              <a:buSzPts val="540"/>
              <a:buFont typeface="Noto Sans Symbols"/>
              <a:buNone/>
            </a:pPr>
            <a:r>
              <a:t/>
            </a:r>
            <a:endParaRPr b="0" sz="1200" strike="noStrike">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cxnSp>
        <p:nvCxnSpPr>
          <p:cNvPr id="359" name="Google Shape;359;p41"/>
          <p:cNvCxnSpPr/>
          <p:nvPr/>
        </p:nvCxnSpPr>
        <p:spPr>
          <a:xfrm>
            <a:off x="180000" y="540000"/>
            <a:ext cx="7920000" cy="0"/>
          </a:xfrm>
          <a:prstGeom prst="straightConnector1">
            <a:avLst/>
          </a:prstGeom>
          <a:noFill/>
          <a:ln cap="flat" cmpd="sng" w="36000">
            <a:solidFill>
              <a:srgbClr val="468A1A"/>
            </a:solidFill>
            <a:prstDash val="solid"/>
            <a:round/>
            <a:headEnd len="sm" w="sm" type="none"/>
            <a:tailEnd len="sm" w="sm" type="none"/>
          </a:ln>
        </p:spPr>
      </p:cxnSp>
      <p:sp>
        <p:nvSpPr>
          <p:cNvPr id="360" name="Google Shape;360;p41"/>
          <p:cNvSpPr txBox="1"/>
          <p:nvPr/>
        </p:nvSpPr>
        <p:spPr>
          <a:xfrm>
            <a:off x="192960" y="72000"/>
            <a:ext cx="6107100" cy="468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2200" strike="noStrike">
                <a:solidFill>
                  <a:srgbClr val="468A1A"/>
                </a:solidFill>
                <a:latin typeface="Arial"/>
                <a:ea typeface="Arial"/>
                <a:cs typeface="Arial"/>
                <a:sym typeface="Arial"/>
              </a:rPr>
              <a:t>Part 2 — What Good Metadata Looks Like</a:t>
            </a:r>
            <a:endParaRPr b="0" sz="2200" strike="noStrike">
              <a:latin typeface="Arial"/>
              <a:ea typeface="Arial"/>
              <a:cs typeface="Arial"/>
              <a:sym typeface="Arial"/>
            </a:endParaRPr>
          </a:p>
        </p:txBody>
      </p:sp>
      <p:sp>
        <p:nvSpPr>
          <p:cNvPr id="361" name="Google Shape;361;p41"/>
          <p:cNvSpPr txBox="1"/>
          <p:nvPr/>
        </p:nvSpPr>
        <p:spPr>
          <a:xfrm>
            <a:off x="720000" y="3204000"/>
            <a:ext cx="8820000" cy="1818300"/>
          </a:xfrm>
          <a:prstGeom prst="rect">
            <a:avLst/>
          </a:prstGeom>
          <a:noFill/>
          <a:ln>
            <a:noFill/>
          </a:ln>
        </p:spPr>
        <p:txBody>
          <a:bodyPr anchorCtr="0" anchor="t" bIns="45000" lIns="90000" spcFirstLastPara="1" rIns="90000" wrap="square" tIns="45000">
            <a:noAutofit/>
          </a:bodyPr>
          <a:lstStyle/>
          <a:p>
            <a:pPr indent="0" lvl="0" marL="0" marR="0" rtl="0" algn="l">
              <a:lnSpc>
                <a:spcPct val="115000"/>
              </a:lnSpc>
              <a:spcBef>
                <a:spcPts val="0"/>
              </a:spcBef>
              <a:spcAft>
                <a:spcPts val="0"/>
              </a:spcAft>
              <a:buNone/>
            </a:pPr>
            <a:r>
              <a:t/>
            </a:r>
            <a:endParaRPr b="0" sz="1200" strike="noStrike">
              <a:latin typeface="Arial"/>
              <a:ea typeface="Arial"/>
              <a:cs typeface="Arial"/>
              <a:sym typeface="Arial"/>
            </a:endParaRPr>
          </a:p>
          <a:p>
            <a:pPr indent="-216000" lvl="0" marL="216000" marR="0" rtl="0" algn="l">
              <a:lnSpc>
                <a:spcPct val="115000"/>
              </a:lnSpc>
              <a:spcBef>
                <a:spcPts val="0"/>
              </a:spcBef>
              <a:spcAft>
                <a:spcPts val="0"/>
              </a:spcAft>
              <a:buClr>
                <a:srgbClr val="000000"/>
              </a:buClr>
              <a:buSzPts val="540"/>
              <a:buFont typeface="Noto Sans Symbols"/>
              <a:buChar char="●"/>
            </a:pPr>
            <a:r>
              <a:rPr b="1" lang="en-US" sz="1200" strike="noStrike">
                <a:solidFill>
                  <a:srgbClr val="C9211E"/>
                </a:solidFill>
                <a:latin typeface="Arial"/>
                <a:ea typeface="Arial"/>
                <a:cs typeface="Arial"/>
                <a:sym typeface="Arial"/>
              </a:rPr>
              <a:t>Pediatric patients</a:t>
            </a:r>
            <a:r>
              <a:rPr b="0" lang="en-US" sz="1200" strike="noStrike">
                <a:solidFill>
                  <a:srgbClr val="000000"/>
                </a:solidFill>
                <a:latin typeface="Arial"/>
                <a:ea typeface="Arial"/>
                <a:cs typeface="Arial"/>
                <a:sym typeface="Arial"/>
              </a:rPr>
              <a:t>: age is a key layered parameter, we could need to separate infant - </a:t>
            </a:r>
            <a:r>
              <a:rPr lang="en-US" sz="1200"/>
              <a:t>toddler</a:t>
            </a:r>
            <a:r>
              <a:rPr b="0" lang="en-US" sz="1200" strike="noStrike">
                <a:solidFill>
                  <a:srgbClr val="000000"/>
                </a:solidFill>
                <a:latin typeface="Arial"/>
                <a:ea typeface="Arial"/>
                <a:cs typeface="Arial"/>
                <a:sym typeface="Arial"/>
              </a:rPr>
              <a:t> - teen, time unit should be decided based on the cohort.</a:t>
            </a:r>
            <a:endParaRPr b="0" sz="1200" strike="noStrike">
              <a:latin typeface="Arial"/>
              <a:ea typeface="Arial"/>
              <a:cs typeface="Arial"/>
              <a:sym typeface="Arial"/>
            </a:endParaRPr>
          </a:p>
          <a:p>
            <a:pPr indent="-216000" lvl="0" marL="216000" marR="0" rtl="0" algn="l">
              <a:lnSpc>
                <a:spcPct val="115000"/>
              </a:lnSpc>
              <a:spcBef>
                <a:spcPts val="624"/>
              </a:spcBef>
              <a:spcAft>
                <a:spcPts val="0"/>
              </a:spcAft>
              <a:buClr>
                <a:srgbClr val="000000"/>
              </a:buClr>
              <a:buSzPts val="540"/>
              <a:buFont typeface="Noto Sans Symbols"/>
              <a:buChar char="●"/>
            </a:pPr>
            <a:r>
              <a:rPr b="1" lang="en-US" sz="1200" strike="noStrike">
                <a:solidFill>
                  <a:srgbClr val="C9211E"/>
                </a:solidFill>
                <a:latin typeface="Arial"/>
                <a:ea typeface="Arial"/>
                <a:cs typeface="Arial"/>
                <a:sym typeface="Arial"/>
              </a:rPr>
              <a:t>Rare diseases</a:t>
            </a:r>
            <a:r>
              <a:rPr b="0" lang="en-US" sz="1200" strike="noStrike">
                <a:solidFill>
                  <a:srgbClr val="000000"/>
                </a:solidFill>
                <a:latin typeface="Arial"/>
                <a:ea typeface="Arial"/>
                <a:cs typeface="Arial"/>
                <a:sym typeface="Arial"/>
              </a:rPr>
              <a:t>: when samples are few, we need as many info as possible to ensure each sample doesn’t get wasted. In a clinical </a:t>
            </a:r>
            <a:r>
              <a:rPr lang="en-US" sz="1200"/>
              <a:t>environment</a:t>
            </a:r>
            <a:r>
              <a:rPr b="0" lang="en-US" sz="1200" strike="noStrike">
                <a:solidFill>
                  <a:srgbClr val="000000"/>
                </a:solidFill>
                <a:latin typeface="Arial"/>
                <a:ea typeface="Arial"/>
                <a:cs typeface="Arial"/>
                <a:sym typeface="Arial"/>
              </a:rPr>
              <a:t>, it’s easier to collect more data upfront, since you already have ethical approval for anything you may need later, rather than having to go through the process again.</a:t>
            </a:r>
            <a:endParaRPr b="0" sz="1200" strike="noStrike">
              <a:latin typeface="Arial"/>
              <a:ea typeface="Arial"/>
              <a:cs typeface="Arial"/>
              <a:sym typeface="Arial"/>
            </a:endParaRPr>
          </a:p>
          <a:p>
            <a:pPr indent="-216000" lvl="0" marL="216000" marR="0" rtl="0" algn="l">
              <a:lnSpc>
                <a:spcPct val="115000"/>
              </a:lnSpc>
              <a:spcBef>
                <a:spcPts val="1049"/>
              </a:spcBef>
              <a:spcAft>
                <a:spcPts val="0"/>
              </a:spcAft>
              <a:buClr>
                <a:srgbClr val="000000"/>
              </a:buClr>
              <a:buSzPts val="540"/>
              <a:buFont typeface="Noto Sans Symbols"/>
              <a:buChar char="●"/>
            </a:pPr>
            <a:r>
              <a:rPr b="1" lang="en-US" sz="1200" strike="noStrike">
                <a:solidFill>
                  <a:srgbClr val="C9211E"/>
                </a:solidFill>
                <a:latin typeface="Arial"/>
                <a:ea typeface="Arial"/>
                <a:cs typeface="Arial"/>
                <a:sym typeface="Arial"/>
              </a:rPr>
              <a:t>Multicentric studies</a:t>
            </a:r>
            <a:r>
              <a:rPr b="0" lang="en-US" sz="1200" strike="noStrike">
                <a:solidFill>
                  <a:srgbClr val="000000"/>
                </a:solidFill>
                <a:latin typeface="Arial"/>
                <a:ea typeface="Arial"/>
                <a:cs typeface="Arial"/>
                <a:sym typeface="Arial"/>
              </a:rPr>
              <a:t>: when samples are collected from different </a:t>
            </a:r>
            <a:r>
              <a:rPr lang="en-US" sz="1200"/>
              <a:t>facilities</a:t>
            </a:r>
            <a:r>
              <a:rPr b="0" lang="en-US" sz="1200" strike="noStrike">
                <a:solidFill>
                  <a:srgbClr val="000000"/>
                </a:solidFill>
                <a:latin typeface="Arial"/>
                <a:ea typeface="Arial"/>
                <a:cs typeface="Arial"/>
                <a:sym typeface="Arial"/>
              </a:rPr>
              <a:t>, metadata should account for possible variability in protocols and conditions. </a:t>
            </a:r>
            <a:endParaRPr b="0" sz="1200" strike="noStrike">
              <a:latin typeface="Arial"/>
              <a:ea typeface="Arial"/>
              <a:cs typeface="Arial"/>
              <a:sym typeface="Arial"/>
            </a:endParaRPr>
          </a:p>
        </p:txBody>
      </p:sp>
      <p:graphicFrame>
        <p:nvGraphicFramePr>
          <p:cNvPr id="362" name="Google Shape;362;p41"/>
          <p:cNvGraphicFramePr/>
          <p:nvPr/>
        </p:nvGraphicFramePr>
        <p:xfrm>
          <a:off x="425520" y="1202760"/>
          <a:ext cx="3000000" cy="3000000"/>
        </p:xfrm>
        <a:graphic>
          <a:graphicData uri="http://schemas.openxmlformats.org/drawingml/2006/table">
            <a:tbl>
              <a:tblPr>
                <a:noFill/>
                <a:tableStyleId>{FBF6C270-3839-495F-BF6B-5D2B0D70D4C5}</a:tableStyleId>
              </a:tblPr>
              <a:tblGrid>
                <a:gridCol w="3098525"/>
                <a:gridCol w="6131875"/>
              </a:tblGrid>
              <a:tr h="413650">
                <a:tc>
                  <a:txBody>
                    <a:bodyPr/>
                    <a:lstStyle/>
                    <a:p>
                      <a:pPr indent="-216000" lvl="0" marL="216000" marR="0" rtl="0" algn="l">
                        <a:spcBef>
                          <a:spcPts val="0"/>
                        </a:spcBef>
                        <a:spcAft>
                          <a:spcPts val="0"/>
                        </a:spcAft>
                        <a:buClr>
                          <a:srgbClr val="000000"/>
                        </a:buClr>
                        <a:buSzPts val="540"/>
                        <a:buFont typeface="Noto Sans Symbols"/>
                        <a:buChar char="●"/>
                      </a:pPr>
                      <a:r>
                        <a:rPr b="1" lang="en-US" sz="1200" strike="noStrike">
                          <a:solidFill>
                            <a:srgbClr val="000000"/>
                          </a:solidFill>
                          <a:latin typeface="Arial"/>
                          <a:ea typeface="Arial"/>
                          <a:cs typeface="Arial"/>
                          <a:sym typeface="Arial"/>
                        </a:rPr>
                        <a:t>What kind of information do we want to extract from the data?</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We need to know what is </a:t>
                      </a:r>
                      <a:r>
                        <a:rPr lang="en-US" sz="1200"/>
                        <a:t>clinically</a:t>
                      </a:r>
                      <a:r>
                        <a:rPr b="0" lang="en-US" sz="1200" strike="noStrike">
                          <a:latin typeface="Arial"/>
                          <a:ea typeface="Arial"/>
                          <a:cs typeface="Arial"/>
                          <a:sym typeface="Arial"/>
                        </a:rPr>
                        <a:t> or biologically relevant for our experimental hypothesis.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46325">
                <a:tc>
                  <a:txBody>
                    <a:bodyPr/>
                    <a:lstStyle/>
                    <a:p>
                      <a:pPr indent="-216000" lvl="0" marL="216000" marR="0" rtl="0" algn="l">
                        <a:spcBef>
                          <a:spcPts val="0"/>
                        </a:spcBef>
                        <a:spcAft>
                          <a:spcPts val="0"/>
                        </a:spcAft>
                        <a:buClr>
                          <a:srgbClr val="000000"/>
                        </a:buClr>
                        <a:buSzPts val="540"/>
                        <a:buFont typeface="Noto Sans Symbols"/>
                        <a:buChar char="●"/>
                      </a:pPr>
                      <a:r>
                        <a:rPr b="1" lang="en-US" sz="1200" strike="noStrike">
                          <a:latin typeface="Arial"/>
                          <a:ea typeface="Arial"/>
                          <a:cs typeface="Arial"/>
                          <a:sym typeface="Arial"/>
                        </a:rPr>
                        <a:t>What is the </a:t>
                      </a:r>
                      <a:r>
                        <a:rPr b="1" lang="en-US" sz="1200"/>
                        <a:t>experimental</a:t>
                      </a:r>
                      <a:r>
                        <a:rPr b="1" lang="en-US" sz="1200" strike="noStrike">
                          <a:latin typeface="Arial"/>
                          <a:ea typeface="Arial"/>
                          <a:cs typeface="Arial"/>
                          <a:sym typeface="Arial"/>
                        </a:rPr>
                        <a:t> design?</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Do we have multiple batches, how </a:t>
                      </a:r>
                      <a:r>
                        <a:rPr lang="en-US" sz="1200"/>
                        <a:t>many</a:t>
                      </a:r>
                      <a:r>
                        <a:rPr b="0" lang="en-US" sz="1200" strike="noStrike">
                          <a:latin typeface="Arial"/>
                          <a:ea typeface="Arial"/>
                          <a:cs typeface="Arial"/>
                          <a:sym typeface="Arial"/>
                        </a:rPr>
                        <a:t> conditions, which treatment dose, etc.</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46325">
                <a:tc>
                  <a:txBody>
                    <a:bodyPr/>
                    <a:lstStyle/>
                    <a:p>
                      <a:pPr indent="-216000" lvl="0" marL="216000" marR="0" rtl="0" algn="l">
                        <a:spcBef>
                          <a:spcPts val="0"/>
                        </a:spcBef>
                        <a:spcAft>
                          <a:spcPts val="0"/>
                        </a:spcAft>
                        <a:buClr>
                          <a:srgbClr val="000000"/>
                        </a:buClr>
                        <a:buSzPts val="540"/>
                        <a:buFont typeface="Noto Sans Symbols"/>
                        <a:buChar char="●"/>
                      </a:pPr>
                      <a:r>
                        <a:rPr b="1" lang="en-US" sz="1200" strike="noStrike">
                          <a:latin typeface="Arial"/>
                          <a:ea typeface="Arial"/>
                          <a:cs typeface="Arial"/>
                          <a:sym typeface="Arial"/>
                        </a:rPr>
                        <a:t>Are there confounding elements?</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We need to document any </a:t>
                      </a:r>
                      <a:r>
                        <a:rPr lang="en-US" sz="1200"/>
                        <a:t>condition</a:t>
                      </a:r>
                      <a:r>
                        <a:rPr b="0" lang="en-US" sz="1200" strike="noStrike">
                          <a:latin typeface="Arial"/>
                          <a:ea typeface="Arial"/>
                          <a:cs typeface="Arial"/>
                          <a:sym typeface="Arial"/>
                        </a:rPr>
                        <a:t> or element that could alter or influence the results. </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46325">
                <a:tc>
                  <a:txBody>
                    <a:bodyPr/>
                    <a:lstStyle/>
                    <a:p>
                      <a:pPr indent="-216000" lvl="0" marL="216000" marR="0" rtl="0" algn="l">
                        <a:spcBef>
                          <a:spcPts val="0"/>
                        </a:spcBef>
                        <a:spcAft>
                          <a:spcPts val="0"/>
                        </a:spcAft>
                        <a:buClr>
                          <a:srgbClr val="000000"/>
                        </a:buClr>
                        <a:buSzPts val="540"/>
                        <a:buFont typeface="Noto Sans Symbols"/>
                        <a:buChar char="●"/>
                      </a:pPr>
                      <a:r>
                        <a:rPr b="1" lang="en-US" sz="1200" strike="noStrike">
                          <a:latin typeface="Arial"/>
                          <a:ea typeface="Arial"/>
                          <a:cs typeface="Arial"/>
                          <a:sym typeface="Arial"/>
                        </a:rPr>
                        <a:t>How many layer of information are there in our design?</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0" lang="en-US" sz="1200" strike="noStrike">
                          <a:latin typeface="Arial"/>
                          <a:ea typeface="Arial"/>
                          <a:cs typeface="Arial"/>
                          <a:sym typeface="Arial"/>
                        </a:rPr>
                        <a:t>For complex studies, there might be the need to layer metadata and connect them through unique keys (e.g. patient’s info, sample info, treatment info, etc.)</a:t>
                      </a:r>
                      <a:endParaRPr b="0" sz="12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363" name="Google Shape;363;p41"/>
          <p:cNvSpPr txBox="1"/>
          <p:nvPr/>
        </p:nvSpPr>
        <p:spPr>
          <a:xfrm>
            <a:off x="2639413" y="5148000"/>
            <a:ext cx="4801800" cy="4029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C9211E"/>
                </a:solidFill>
              </a:rPr>
              <a:t>H</a:t>
            </a:r>
            <a:r>
              <a:rPr b="0" lang="en-US" sz="1800" strike="noStrike">
                <a:solidFill>
                  <a:srgbClr val="C9211E"/>
                </a:solidFill>
                <a:latin typeface="Arial"/>
                <a:ea typeface="Arial"/>
                <a:cs typeface="Arial"/>
                <a:sym typeface="Arial"/>
              </a:rPr>
              <a:t>ow should a biobank record be </a:t>
            </a:r>
            <a:r>
              <a:rPr lang="en-US" sz="1800">
                <a:solidFill>
                  <a:srgbClr val="C9211E"/>
                </a:solidFill>
              </a:rPr>
              <a:t>structured</a:t>
            </a:r>
            <a:r>
              <a:rPr b="0" lang="en-US" sz="1800" strike="noStrike">
                <a:solidFill>
                  <a:srgbClr val="C9211E"/>
                </a:solidFill>
                <a:latin typeface="Arial"/>
                <a:ea typeface="Arial"/>
                <a:cs typeface="Arial"/>
                <a:sym typeface="Arial"/>
              </a:rPr>
              <a:t>?</a:t>
            </a:r>
            <a:endParaRPr b="0" sz="1800" strike="noStrike">
              <a:latin typeface="Arial"/>
              <a:ea typeface="Arial"/>
              <a:cs typeface="Arial"/>
              <a:sym typeface="Arial"/>
            </a:endParaRPr>
          </a:p>
        </p:txBody>
      </p:sp>
      <p:pic>
        <p:nvPicPr>
          <p:cNvPr id="364" name="Google Shape;364;p41"/>
          <p:cNvPicPr preferRelativeResize="0"/>
          <p:nvPr/>
        </p:nvPicPr>
        <p:blipFill>
          <a:blip r:embed="rId3">
            <a:alphaModFix/>
          </a:blip>
          <a:stretch>
            <a:fillRect/>
          </a:stretch>
        </p:blipFill>
        <p:spPr>
          <a:xfrm>
            <a:off x="8946550" y="72000"/>
            <a:ext cx="1041398" cy="1041398"/>
          </a:xfrm>
          <a:prstGeom prst="rect">
            <a:avLst/>
          </a:prstGeom>
          <a:noFill/>
          <a:ln>
            <a:noFill/>
          </a:ln>
        </p:spPr>
      </p:pic>
      <p:sp>
        <p:nvSpPr>
          <p:cNvPr id="365" name="Google Shape;365;p41"/>
          <p:cNvSpPr txBox="1"/>
          <p:nvPr/>
        </p:nvSpPr>
        <p:spPr>
          <a:xfrm>
            <a:off x="3933500" y="3000800"/>
            <a:ext cx="2213700" cy="402900"/>
          </a:xfrm>
          <a:prstGeom prst="rect">
            <a:avLst/>
          </a:prstGeom>
          <a:noFill/>
          <a:ln>
            <a:noFill/>
          </a:ln>
        </p:spPr>
        <p:txBody>
          <a:bodyPr anchorCtr="0" anchor="t" bIns="45000" lIns="90000" spcFirstLastPara="1" rIns="90000" wrap="square" tIns="45000">
            <a:noAutofit/>
          </a:bodyPr>
          <a:lstStyle/>
          <a:p>
            <a:pPr indent="0" lvl="0" marL="0" marR="0" rtl="0" algn="l">
              <a:lnSpc>
                <a:spcPct val="115000"/>
              </a:lnSpc>
              <a:spcBef>
                <a:spcPts val="0"/>
              </a:spcBef>
              <a:spcAft>
                <a:spcPts val="0"/>
              </a:spcAft>
              <a:buNone/>
            </a:pPr>
            <a:r>
              <a:rPr b="1" lang="en-US" sz="1500">
                <a:solidFill>
                  <a:srgbClr val="C9211E"/>
                </a:solidFill>
              </a:rPr>
              <a:t>DIFFICULT DATASETS</a:t>
            </a:r>
            <a:endParaRPr b="1" sz="1500" strike="noStrike">
              <a:solidFill>
                <a:srgbClr val="C9211E"/>
              </a:solidFill>
            </a:endParaRPr>
          </a:p>
          <a:p>
            <a:pPr indent="-181710" lvl="0" marL="216000" marR="0" rtl="0" algn="l">
              <a:lnSpc>
                <a:spcPct val="115000"/>
              </a:lnSpc>
              <a:spcBef>
                <a:spcPts val="624"/>
              </a:spcBef>
              <a:spcAft>
                <a:spcPts val="0"/>
              </a:spcAft>
              <a:buClr>
                <a:srgbClr val="000000"/>
              </a:buClr>
              <a:buSzPts val="540"/>
              <a:buFont typeface="Noto Sans Symbols"/>
              <a:buNone/>
            </a:pPr>
            <a:r>
              <a:t/>
            </a:r>
            <a:endParaRPr b="0" sz="1200" strike="noStrike">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cxnSp>
        <p:nvCxnSpPr>
          <p:cNvPr id="370" name="Google Shape;370;p42"/>
          <p:cNvCxnSpPr/>
          <p:nvPr/>
        </p:nvCxnSpPr>
        <p:spPr>
          <a:xfrm>
            <a:off x="180000" y="540000"/>
            <a:ext cx="7920000" cy="0"/>
          </a:xfrm>
          <a:prstGeom prst="straightConnector1">
            <a:avLst/>
          </a:prstGeom>
          <a:noFill/>
          <a:ln cap="flat" cmpd="sng" w="36000">
            <a:solidFill>
              <a:srgbClr val="468A1A"/>
            </a:solidFill>
            <a:prstDash val="solid"/>
            <a:round/>
            <a:headEnd len="sm" w="sm" type="none"/>
            <a:tailEnd len="sm" w="sm" type="none"/>
          </a:ln>
        </p:spPr>
      </p:cxnSp>
      <p:sp>
        <p:nvSpPr>
          <p:cNvPr id="371" name="Google Shape;371;p42"/>
          <p:cNvSpPr txBox="1"/>
          <p:nvPr/>
        </p:nvSpPr>
        <p:spPr>
          <a:xfrm>
            <a:off x="192960" y="72000"/>
            <a:ext cx="6107040" cy="468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2200" strike="noStrike">
                <a:solidFill>
                  <a:srgbClr val="468A1A"/>
                </a:solidFill>
                <a:latin typeface="Arial"/>
                <a:ea typeface="Arial"/>
                <a:cs typeface="Arial"/>
                <a:sym typeface="Arial"/>
              </a:rPr>
              <a:t>Part 3 — Biobank Basics</a:t>
            </a:r>
            <a:endParaRPr b="0" sz="2200" strike="noStrike">
              <a:latin typeface="Arial"/>
              <a:ea typeface="Arial"/>
              <a:cs typeface="Arial"/>
              <a:sym typeface="Arial"/>
            </a:endParaRPr>
          </a:p>
        </p:txBody>
      </p:sp>
      <p:sp>
        <p:nvSpPr>
          <p:cNvPr id="372" name="Google Shape;372;p42"/>
          <p:cNvSpPr txBox="1"/>
          <p:nvPr/>
        </p:nvSpPr>
        <p:spPr>
          <a:xfrm>
            <a:off x="171360" y="910300"/>
            <a:ext cx="9908700" cy="1519500"/>
          </a:xfrm>
          <a:prstGeom prst="rect">
            <a:avLst/>
          </a:prstGeom>
          <a:noFill/>
          <a:ln>
            <a:noFill/>
          </a:ln>
        </p:spPr>
        <p:txBody>
          <a:bodyPr anchorCtr="0" anchor="t" bIns="45000" lIns="90000" spcFirstLastPara="1" rIns="90000" wrap="square" tIns="45000">
            <a:noAutofit/>
          </a:bodyPr>
          <a:lstStyle/>
          <a:p>
            <a:pPr indent="0" lvl="0" marL="0" marR="0" rtl="0" algn="ctr">
              <a:spcBef>
                <a:spcPts val="0"/>
              </a:spcBef>
              <a:spcAft>
                <a:spcPts val="0"/>
              </a:spcAft>
              <a:buNone/>
            </a:pPr>
            <a:r>
              <a:rPr b="0" lang="en-US" sz="1200" strike="noStrike">
                <a:latin typeface="Arial"/>
                <a:ea typeface="Arial"/>
                <a:cs typeface="Arial"/>
                <a:sym typeface="Arial"/>
              </a:rPr>
              <a:t>A </a:t>
            </a:r>
            <a:r>
              <a:rPr b="1" lang="en-US" sz="1200" strike="noStrike">
                <a:latin typeface="Arial"/>
                <a:ea typeface="Arial"/>
                <a:cs typeface="Arial"/>
                <a:sym typeface="Arial"/>
              </a:rPr>
              <a:t>biobank</a:t>
            </a:r>
            <a:r>
              <a:rPr b="0" lang="en-US" sz="1200" strike="noStrike">
                <a:latin typeface="Arial"/>
                <a:ea typeface="Arial"/>
                <a:cs typeface="Arial"/>
                <a:sym typeface="Arial"/>
              </a:rPr>
              <a:t> is, at its core, a system for keeping three linked things in sync for every sample, indefinitely:</a:t>
            </a:r>
            <a:endParaRPr b="0" sz="1200" strike="noStrike">
              <a:latin typeface="Arial"/>
              <a:ea typeface="Arial"/>
              <a:cs typeface="Arial"/>
              <a:sym typeface="Arial"/>
            </a:endParaRPr>
          </a:p>
          <a:p>
            <a:pPr indent="-216000" lvl="0" marL="216000" marR="0" rtl="0" algn="l">
              <a:spcBef>
                <a:spcPts val="2183"/>
              </a:spcBef>
              <a:spcAft>
                <a:spcPts val="0"/>
              </a:spcAft>
              <a:buClr>
                <a:srgbClr val="000000"/>
              </a:buClr>
              <a:buSzPts val="540"/>
              <a:buFont typeface="Noto Sans Symbols"/>
              <a:buChar char="●"/>
            </a:pPr>
            <a:r>
              <a:rPr b="1" lang="en-US" sz="1200" strike="noStrike">
                <a:latin typeface="Arial"/>
                <a:ea typeface="Arial"/>
                <a:cs typeface="Arial"/>
                <a:sym typeface="Arial"/>
              </a:rPr>
              <a:t>The physical sample</a:t>
            </a:r>
            <a:r>
              <a:rPr b="0" lang="en-US" sz="1200" strike="noStrike">
                <a:latin typeface="Arial"/>
                <a:ea typeface="Arial"/>
                <a:cs typeface="Arial"/>
                <a:sym typeface="Arial"/>
              </a:rPr>
              <a:t> (tumor tissue, blood, DNA, RNA — stored, tracked, and eventually consumed by analyses like the one in this tutorial).</a:t>
            </a:r>
            <a:endParaRPr b="0" sz="1200" strike="noStrike">
              <a:latin typeface="Arial"/>
              <a:ea typeface="Arial"/>
              <a:cs typeface="Arial"/>
              <a:sym typeface="Arial"/>
            </a:endParaRPr>
          </a:p>
          <a:p>
            <a:pPr indent="-216000" lvl="0" marL="216000" marR="0" rtl="0" algn="l">
              <a:spcBef>
                <a:spcPts val="2183"/>
              </a:spcBef>
              <a:spcAft>
                <a:spcPts val="0"/>
              </a:spcAft>
              <a:buClr>
                <a:srgbClr val="000000"/>
              </a:buClr>
              <a:buSzPts val="540"/>
              <a:buFont typeface="Noto Sans Symbols"/>
              <a:buChar char="●"/>
            </a:pPr>
            <a:r>
              <a:rPr b="1" lang="en-US" sz="1200" strike="noStrike">
                <a:latin typeface="Arial"/>
                <a:ea typeface="Arial"/>
                <a:cs typeface="Arial"/>
                <a:sym typeface="Arial"/>
              </a:rPr>
              <a:t>The linked clinical/phenotypic data </a:t>
            </a:r>
            <a:r>
              <a:rPr b="0" lang="en-US" sz="1200" strike="noStrike">
                <a:latin typeface="Arial"/>
                <a:ea typeface="Arial"/>
                <a:cs typeface="Arial"/>
                <a:sym typeface="Arial"/>
              </a:rPr>
              <a:t>(diagnosis, treatment, outcome — everything that gives the sample scientific meaning).</a:t>
            </a:r>
            <a:endParaRPr b="0" sz="1200" strike="noStrike">
              <a:latin typeface="Arial"/>
              <a:ea typeface="Arial"/>
              <a:cs typeface="Arial"/>
              <a:sym typeface="Arial"/>
            </a:endParaRPr>
          </a:p>
          <a:p>
            <a:pPr indent="-216000" lvl="0" marL="216000" marR="0" rtl="0" algn="l">
              <a:spcBef>
                <a:spcPts val="2183"/>
              </a:spcBef>
              <a:spcAft>
                <a:spcPts val="0"/>
              </a:spcAft>
              <a:buClr>
                <a:srgbClr val="000000"/>
              </a:buClr>
              <a:buSzPts val="540"/>
              <a:buFont typeface="Noto Sans Symbols"/>
              <a:buChar char="●"/>
            </a:pPr>
            <a:r>
              <a:rPr b="1" lang="en-US" sz="1200" strike="noStrike">
                <a:latin typeface="Arial"/>
                <a:ea typeface="Arial"/>
                <a:cs typeface="Arial"/>
                <a:sym typeface="Arial"/>
              </a:rPr>
              <a:t>The consent record</a:t>
            </a:r>
            <a:r>
              <a:rPr b="0" lang="en-US" sz="1200" strike="noStrike">
                <a:latin typeface="Arial"/>
                <a:ea typeface="Arial"/>
                <a:cs typeface="Arial"/>
                <a:sym typeface="Arial"/>
              </a:rPr>
              <a:t> (what the donor agreed to, and for how long).</a:t>
            </a:r>
            <a:endParaRPr b="0" sz="1200" strike="noStrike">
              <a:latin typeface="Arial"/>
              <a:ea typeface="Arial"/>
              <a:cs typeface="Arial"/>
              <a:sym typeface="Arial"/>
            </a:endParaRPr>
          </a:p>
          <a:p>
            <a:pPr indent="0" lvl="0" marL="0" marR="0" rtl="0" algn="l">
              <a:spcBef>
                <a:spcPts val="992"/>
              </a:spcBef>
              <a:spcAft>
                <a:spcPts val="0"/>
              </a:spcAft>
              <a:buNone/>
            </a:pPr>
            <a:r>
              <a:t/>
            </a:r>
            <a:endParaRPr b="0" sz="1200" strike="noStrike">
              <a:latin typeface="Arial"/>
              <a:ea typeface="Arial"/>
              <a:cs typeface="Arial"/>
              <a:sym typeface="Arial"/>
            </a:endParaRPr>
          </a:p>
        </p:txBody>
      </p:sp>
      <p:cxnSp>
        <p:nvCxnSpPr>
          <p:cNvPr id="373" name="Google Shape;373;p42"/>
          <p:cNvCxnSpPr/>
          <p:nvPr/>
        </p:nvCxnSpPr>
        <p:spPr>
          <a:xfrm>
            <a:off x="1980000" y="2693600"/>
            <a:ext cx="5400000" cy="0"/>
          </a:xfrm>
          <a:prstGeom prst="straightConnector1">
            <a:avLst/>
          </a:prstGeom>
          <a:noFill/>
          <a:ln cap="flat" cmpd="sng" w="9525">
            <a:solidFill>
              <a:srgbClr val="468A1A"/>
            </a:solidFill>
            <a:prstDash val="solid"/>
            <a:round/>
            <a:headEnd len="sm" w="sm" type="none"/>
            <a:tailEnd len="sm" w="sm" type="none"/>
          </a:ln>
        </p:spPr>
      </p:cxn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cxnSp>
        <p:nvCxnSpPr>
          <p:cNvPr id="378" name="Google Shape;378;p43"/>
          <p:cNvCxnSpPr/>
          <p:nvPr/>
        </p:nvCxnSpPr>
        <p:spPr>
          <a:xfrm>
            <a:off x="180000" y="540000"/>
            <a:ext cx="7920000" cy="0"/>
          </a:xfrm>
          <a:prstGeom prst="straightConnector1">
            <a:avLst/>
          </a:prstGeom>
          <a:noFill/>
          <a:ln cap="flat" cmpd="sng" w="36000">
            <a:solidFill>
              <a:srgbClr val="468A1A"/>
            </a:solidFill>
            <a:prstDash val="solid"/>
            <a:round/>
            <a:headEnd len="sm" w="sm" type="none"/>
            <a:tailEnd len="sm" w="sm" type="none"/>
          </a:ln>
        </p:spPr>
      </p:cxnSp>
      <p:sp>
        <p:nvSpPr>
          <p:cNvPr id="379" name="Google Shape;379;p43"/>
          <p:cNvSpPr txBox="1"/>
          <p:nvPr/>
        </p:nvSpPr>
        <p:spPr>
          <a:xfrm>
            <a:off x="192960" y="72000"/>
            <a:ext cx="6107040" cy="468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2200" strike="noStrike">
                <a:solidFill>
                  <a:srgbClr val="468A1A"/>
                </a:solidFill>
                <a:latin typeface="Arial"/>
                <a:ea typeface="Arial"/>
                <a:cs typeface="Arial"/>
                <a:sym typeface="Arial"/>
              </a:rPr>
              <a:t>Part 3 — Biobank Basics</a:t>
            </a:r>
            <a:endParaRPr b="0" sz="2200" strike="noStrike">
              <a:latin typeface="Arial"/>
              <a:ea typeface="Arial"/>
              <a:cs typeface="Arial"/>
              <a:sym typeface="Arial"/>
            </a:endParaRPr>
          </a:p>
        </p:txBody>
      </p:sp>
      <p:sp>
        <p:nvSpPr>
          <p:cNvPr id="380" name="Google Shape;380;p43"/>
          <p:cNvSpPr txBox="1"/>
          <p:nvPr/>
        </p:nvSpPr>
        <p:spPr>
          <a:xfrm>
            <a:off x="171360" y="910300"/>
            <a:ext cx="9908700" cy="1519500"/>
          </a:xfrm>
          <a:prstGeom prst="rect">
            <a:avLst/>
          </a:prstGeom>
          <a:noFill/>
          <a:ln>
            <a:noFill/>
          </a:ln>
        </p:spPr>
        <p:txBody>
          <a:bodyPr anchorCtr="0" anchor="t" bIns="45000" lIns="90000" spcFirstLastPara="1" rIns="90000" wrap="square" tIns="45000">
            <a:noAutofit/>
          </a:bodyPr>
          <a:lstStyle/>
          <a:p>
            <a:pPr indent="0" lvl="0" marL="0" marR="0" rtl="0" algn="ctr">
              <a:spcBef>
                <a:spcPts val="0"/>
              </a:spcBef>
              <a:spcAft>
                <a:spcPts val="0"/>
              </a:spcAft>
              <a:buNone/>
            </a:pPr>
            <a:r>
              <a:rPr b="0" lang="en-US" sz="1200" strike="noStrike">
                <a:latin typeface="Arial"/>
                <a:ea typeface="Arial"/>
                <a:cs typeface="Arial"/>
                <a:sym typeface="Arial"/>
              </a:rPr>
              <a:t>A </a:t>
            </a:r>
            <a:r>
              <a:rPr b="1" lang="en-US" sz="1200" strike="noStrike">
                <a:latin typeface="Arial"/>
                <a:ea typeface="Arial"/>
                <a:cs typeface="Arial"/>
                <a:sym typeface="Arial"/>
              </a:rPr>
              <a:t>biobank</a:t>
            </a:r>
            <a:r>
              <a:rPr b="0" lang="en-US" sz="1200" strike="noStrike">
                <a:latin typeface="Arial"/>
                <a:ea typeface="Arial"/>
                <a:cs typeface="Arial"/>
                <a:sym typeface="Arial"/>
              </a:rPr>
              <a:t> is, at its core, a system for keeping three linked things in sync for every sample, indefinitely:</a:t>
            </a:r>
            <a:endParaRPr b="0" sz="1200" strike="noStrike">
              <a:latin typeface="Arial"/>
              <a:ea typeface="Arial"/>
              <a:cs typeface="Arial"/>
              <a:sym typeface="Arial"/>
            </a:endParaRPr>
          </a:p>
          <a:p>
            <a:pPr indent="-216000" lvl="0" marL="216000" marR="0" rtl="0" algn="l">
              <a:spcBef>
                <a:spcPts val="2183"/>
              </a:spcBef>
              <a:spcAft>
                <a:spcPts val="0"/>
              </a:spcAft>
              <a:buClr>
                <a:srgbClr val="000000"/>
              </a:buClr>
              <a:buSzPts val="540"/>
              <a:buFont typeface="Noto Sans Symbols"/>
              <a:buChar char="●"/>
            </a:pPr>
            <a:r>
              <a:rPr b="1" lang="en-US" sz="1200" strike="noStrike">
                <a:latin typeface="Arial"/>
                <a:ea typeface="Arial"/>
                <a:cs typeface="Arial"/>
                <a:sym typeface="Arial"/>
              </a:rPr>
              <a:t>The physical sample</a:t>
            </a:r>
            <a:r>
              <a:rPr b="0" lang="en-US" sz="1200" strike="noStrike">
                <a:latin typeface="Arial"/>
                <a:ea typeface="Arial"/>
                <a:cs typeface="Arial"/>
                <a:sym typeface="Arial"/>
              </a:rPr>
              <a:t> (tumor tissue, blood, DNA, RNA — stored, tracked, and eventually consumed by analyses like the one in this tutorial).</a:t>
            </a:r>
            <a:endParaRPr b="0" sz="1200" strike="noStrike">
              <a:latin typeface="Arial"/>
              <a:ea typeface="Arial"/>
              <a:cs typeface="Arial"/>
              <a:sym typeface="Arial"/>
            </a:endParaRPr>
          </a:p>
          <a:p>
            <a:pPr indent="-216000" lvl="0" marL="216000" marR="0" rtl="0" algn="l">
              <a:spcBef>
                <a:spcPts val="2183"/>
              </a:spcBef>
              <a:spcAft>
                <a:spcPts val="0"/>
              </a:spcAft>
              <a:buClr>
                <a:srgbClr val="000000"/>
              </a:buClr>
              <a:buSzPts val="540"/>
              <a:buFont typeface="Noto Sans Symbols"/>
              <a:buChar char="●"/>
            </a:pPr>
            <a:r>
              <a:rPr b="1" lang="en-US" sz="1200" strike="noStrike">
                <a:latin typeface="Arial"/>
                <a:ea typeface="Arial"/>
                <a:cs typeface="Arial"/>
                <a:sym typeface="Arial"/>
              </a:rPr>
              <a:t>The linked clinical/phenotypic data </a:t>
            </a:r>
            <a:r>
              <a:rPr b="0" lang="en-US" sz="1200" strike="noStrike">
                <a:latin typeface="Arial"/>
                <a:ea typeface="Arial"/>
                <a:cs typeface="Arial"/>
                <a:sym typeface="Arial"/>
              </a:rPr>
              <a:t>(diagnosis, treatment, outcome — everything that gives the sample scientific meaning).</a:t>
            </a:r>
            <a:endParaRPr b="0" sz="1200" strike="noStrike">
              <a:latin typeface="Arial"/>
              <a:ea typeface="Arial"/>
              <a:cs typeface="Arial"/>
              <a:sym typeface="Arial"/>
            </a:endParaRPr>
          </a:p>
          <a:p>
            <a:pPr indent="-216000" lvl="0" marL="216000" marR="0" rtl="0" algn="l">
              <a:spcBef>
                <a:spcPts val="2183"/>
              </a:spcBef>
              <a:spcAft>
                <a:spcPts val="0"/>
              </a:spcAft>
              <a:buClr>
                <a:srgbClr val="000000"/>
              </a:buClr>
              <a:buSzPts val="540"/>
              <a:buFont typeface="Noto Sans Symbols"/>
              <a:buChar char="●"/>
            </a:pPr>
            <a:r>
              <a:rPr b="1" lang="en-US" sz="1200" strike="noStrike">
                <a:latin typeface="Arial"/>
                <a:ea typeface="Arial"/>
                <a:cs typeface="Arial"/>
                <a:sym typeface="Arial"/>
              </a:rPr>
              <a:t>The consent record</a:t>
            </a:r>
            <a:r>
              <a:rPr b="0" lang="en-US" sz="1200" strike="noStrike">
                <a:latin typeface="Arial"/>
                <a:ea typeface="Arial"/>
                <a:cs typeface="Arial"/>
                <a:sym typeface="Arial"/>
              </a:rPr>
              <a:t> (what the donor agreed to, and for how long).</a:t>
            </a:r>
            <a:endParaRPr b="0" sz="1200" strike="noStrike">
              <a:latin typeface="Arial"/>
              <a:ea typeface="Arial"/>
              <a:cs typeface="Arial"/>
              <a:sym typeface="Arial"/>
            </a:endParaRPr>
          </a:p>
          <a:p>
            <a:pPr indent="0" lvl="0" marL="0" marR="0" rtl="0" algn="l">
              <a:spcBef>
                <a:spcPts val="992"/>
              </a:spcBef>
              <a:spcAft>
                <a:spcPts val="0"/>
              </a:spcAft>
              <a:buNone/>
            </a:pPr>
            <a:r>
              <a:t/>
            </a:r>
            <a:endParaRPr b="0" sz="1200" strike="noStrike">
              <a:latin typeface="Arial"/>
              <a:ea typeface="Arial"/>
              <a:cs typeface="Arial"/>
              <a:sym typeface="Arial"/>
            </a:endParaRPr>
          </a:p>
        </p:txBody>
      </p:sp>
      <p:sp>
        <p:nvSpPr>
          <p:cNvPr id="381" name="Google Shape;381;p43"/>
          <p:cNvSpPr txBox="1"/>
          <p:nvPr/>
        </p:nvSpPr>
        <p:spPr>
          <a:xfrm>
            <a:off x="2880000" y="2736360"/>
            <a:ext cx="3960000" cy="261000"/>
          </a:xfrm>
          <a:prstGeom prst="rect">
            <a:avLst/>
          </a:prstGeom>
          <a:noFill/>
          <a:ln>
            <a:noFill/>
          </a:ln>
        </p:spPr>
        <p:txBody>
          <a:bodyPr anchorCtr="1" anchor="t" bIns="45000" lIns="90000" spcFirstLastPara="1" rIns="90000" wrap="square" tIns="45000">
            <a:noAutofit/>
          </a:bodyPr>
          <a:lstStyle/>
          <a:p>
            <a:pPr indent="0" lvl="0" marL="0" marR="0" rtl="0" algn="ctr">
              <a:spcBef>
                <a:spcPts val="0"/>
              </a:spcBef>
              <a:spcAft>
                <a:spcPts val="0"/>
              </a:spcAft>
              <a:buNone/>
            </a:pPr>
            <a:r>
              <a:rPr b="1" lang="en-US" sz="1200" strike="noStrike">
                <a:solidFill>
                  <a:srgbClr val="F10D0C"/>
                </a:solidFill>
              </a:rPr>
              <a:t>CRITICAL POINTS</a:t>
            </a:r>
            <a:endParaRPr b="1" sz="1200" strike="noStrike"/>
          </a:p>
        </p:txBody>
      </p:sp>
      <p:cxnSp>
        <p:nvCxnSpPr>
          <p:cNvPr id="382" name="Google Shape;382;p43"/>
          <p:cNvCxnSpPr/>
          <p:nvPr/>
        </p:nvCxnSpPr>
        <p:spPr>
          <a:xfrm>
            <a:off x="1980000" y="2693600"/>
            <a:ext cx="5400000" cy="0"/>
          </a:xfrm>
          <a:prstGeom prst="straightConnector1">
            <a:avLst/>
          </a:prstGeom>
          <a:noFill/>
          <a:ln cap="flat" cmpd="sng" w="9525">
            <a:solidFill>
              <a:srgbClr val="468A1A"/>
            </a:solidFill>
            <a:prstDash val="solid"/>
            <a:round/>
            <a:headEnd len="sm" w="sm" type="none"/>
            <a:tailEnd len="sm" w="sm" type="non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cxnSp>
        <p:nvCxnSpPr>
          <p:cNvPr id="387" name="Google Shape;387;p44"/>
          <p:cNvCxnSpPr/>
          <p:nvPr/>
        </p:nvCxnSpPr>
        <p:spPr>
          <a:xfrm>
            <a:off x="180000" y="540000"/>
            <a:ext cx="7920000" cy="0"/>
          </a:xfrm>
          <a:prstGeom prst="straightConnector1">
            <a:avLst/>
          </a:prstGeom>
          <a:noFill/>
          <a:ln cap="flat" cmpd="sng" w="36000">
            <a:solidFill>
              <a:srgbClr val="468A1A"/>
            </a:solidFill>
            <a:prstDash val="solid"/>
            <a:round/>
            <a:headEnd len="sm" w="sm" type="none"/>
            <a:tailEnd len="sm" w="sm" type="none"/>
          </a:ln>
        </p:spPr>
      </p:cxnSp>
      <p:sp>
        <p:nvSpPr>
          <p:cNvPr id="388" name="Google Shape;388;p44"/>
          <p:cNvSpPr txBox="1"/>
          <p:nvPr/>
        </p:nvSpPr>
        <p:spPr>
          <a:xfrm>
            <a:off x="192960" y="72000"/>
            <a:ext cx="6107040" cy="468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2200" strike="noStrike">
                <a:solidFill>
                  <a:srgbClr val="468A1A"/>
                </a:solidFill>
                <a:latin typeface="Arial"/>
                <a:ea typeface="Arial"/>
                <a:cs typeface="Arial"/>
                <a:sym typeface="Arial"/>
              </a:rPr>
              <a:t>Part 3 — Biobank Basics</a:t>
            </a:r>
            <a:endParaRPr b="0" sz="2200" strike="noStrike">
              <a:latin typeface="Arial"/>
              <a:ea typeface="Arial"/>
              <a:cs typeface="Arial"/>
              <a:sym typeface="Arial"/>
            </a:endParaRPr>
          </a:p>
        </p:txBody>
      </p:sp>
      <p:sp>
        <p:nvSpPr>
          <p:cNvPr id="389" name="Google Shape;389;p44"/>
          <p:cNvSpPr txBox="1"/>
          <p:nvPr/>
        </p:nvSpPr>
        <p:spPr>
          <a:xfrm>
            <a:off x="171360" y="910300"/>
            <a:ext cx="9908700" cy="1519500"/>
          </a:xfrm>
          <a:prstGeom prst="rect">
            <a:avLst/>
          </a:prstGeom>
          <a:noFill/>
          <a:ln>
            <a:noFill/>
          </a:ln>
        </p:spPr>
        <p:txBody>
          <a:bodyPr anchorCtr="0" anchor="t" bIns="45000" lIns="90000" spcFirstLastPara="1" rIns="90000" wrap="square" tIns="45000">
            <a:noAutofit/>
          </a:bodyPr>
          <a:lstStyle/>
          <a:p>
            <a:pPr indent="0" lvl="0" marL="0" marR="0" rtl="0" algn="ctr">
              <a:spcBef>
                <a:spcPts val="0"/>
              </a:spcBef>
              <a:spcAft>
                <a:spcPts val="0"/>
              </a:spcAft>
              <a:buNone/>
            </a:pPr>
            <a:r>
              <a:rPr b="0" lang="en-US" sz="1200" strike="noStrike">
                <a:latin typeface="Arial"/>
                <a:ea typeface="Arial"/>
                <a:cs typeface="Arial"/>
                <a:sym typeface="Arial"/>
              </a:rPr>
              <a:t>A </a:t>
            </a:r>
            <a:r>
              <a:rPr b="1" lang="en-US" sz="1200" strike="noStrike">
                <a:latin typeface="Arial"/>
                <a:ea typeface="Arial"/>
                <a:cs typeface="Arial"/>
                <a:sym typeface="Arial"/>
              </a:rPr>
              <a:t>biobank</a:t>
            </a:r>
            <a:r>
              <a:rPr b="0" lang="en-US" sz="1200" strike="noStrike">
                <a:latin typeface="Arial"/>
                <a:ea typeface="Arial"/>
                <a:cs typeface="Arial"/>
                <a:sym typeface="Arial"/>
              </a:rPr>
              <a:t> is, at its core, a system for keeping three linked things in sync for every sample, indefinitely:</a:t>
            </a:r>
            <a:endParaRPr b="0" sz="1200" strike="noStrike">
              <a:latin typeface="Arial"/>
              <a:ea typeface="Arial"/>
              <a:cs typeface="Arial"/>
              <a:sym typeface="Arial"/>
            </a:endParaRPr>
          </a:p>
          <a:p>
            <a:pPr indent="-216000" lvl="0" marL="216000" marR="0" rtl="0" algn="l">
              <a:spcBef>
                <a:spcPts val="2183"/>
              </a:spcBef>
              <a:spcAft>
                <a:spcPts val="0"/>
              </a:spcAft>
              <a:buClr>
                <a:srgbClr val="000000"/>
              </a:buClr>
              <a:buSzPts val="540"/>
              <a:buFont typeface="Noto Sans Symbols"/>
              <a:buChar char="●"/>
            </a:pPr>
            <a:r>
              <a:rPr b="1" lang="en-US" sz="1200" strike="noStrike">
                <a:latin typeface="Arial"/>
                <a:ea typeface="Arial"/>
                <a:cs typeface="Arial"/>
                <a:sym typeface="Arial"/>
              </a:rPr>
              <a:t>The physical sample</a:t>
            </a:r>
            <a:r>
              <a:rPr b="0" lang="en-US" sz="1200" strike="noStrike">
                <a:latin typeface="Arial"/>
                <a:ea typeface="Arial"/>
                <a:cs typeface="Arial"/>
                <a:sym typeface="Arial"/>
              </a:rPr>
              <a:t> (tumor tissue, blood, DNA, RNA — stored, tracked, and eventually consumed by analyses like the one in this tutorial).</a:t>
            </a:r>
            <a:endParaRPr b="0" sz="1200" strike="noStrike">
              <a:latin typeface="Arial"/>
              <a:ea typeface="Arial"/>
              <a:cs typeface="Arial"/>
              <a:sym typeface="Arial"/>
            </a:endParaRPr>
          </a:p>
          <a:p>
            <a:pPr indent="-216000" lvl="0" marL="216000" marR="0" rtl="0" algn="l">
              <a:spcBef>
                <a:spcPts val="2183"/>
              </a:spcBef>
              <a:spcAft>
                <a:spcPts val="0"/>
              </a:spcAft>
              <a:buClr>
                <a:srgbClr val="000000"/>
              </a:buClr>
              <a:buSzPts val="540"/>
              <a:buFont typeface="Noto Sans Symbols"/>
              <a:buChar char="●"/>
            </a:pPr>
            <a:r>
              <a:rPr b="1" lang="en-US" sz="1200" strike="noStrike">
                <a:latin typeface="Arial"/>
                <a:ea typeface="Arial"/>
                <a:cs typeface="Arial"/>
                <a:sym typeface="Arial"/>
              </a:rPr>
              <a:t>The linked clinical/phenotypic data </a:t>
            </a:r>
            <a:r>
              <a:rPr b="0" lang="en-US" sz="1200" strike="noStrike">
                <a:latin typeface="Arial"/>
                <a:ea typeface="Arial"/>
                <a:cs typeface="Arial"/>
                <a:sym typeface="Arial"/>
              </a:rPr>
              <a:t>(diagnosis, treatment, outcome — everything that gives the sample scientific meaning).</a:t>
            </a:r>
            <a:endParaRPr b="0" sz="1200" strike="noStrike">
              <a:latin typeface="Arial"/>
              <a:ea typeface="Arial"/>
              <a:cs typeface="Arial"/>
              <a:sym typeface="Arial"/>
            </a:endParaRPr>
          </a:p>
          <a:p>
            <a:pPr indent="-216000" lvl="0" marL="216000" marR="0" rtl="0" algn="l">
              <a:spcBef>
                <a:spcPts val="2183"/>
              </a:spcBef>
              <a:spcAft>
                <a:spcPts val="0"/>
              </a:spcAft>
              <a:buClr>
                <a:srgbClr val="000000"/>
              </a:buClr>
              <a:buSzPts val="540"/>
              <a:buFont typeface="Noto Sans Symbols"/>
              <a:buChar char="●"/>
            </a:pPr>
            <a:r>
              <a:rPr b="1" lang="en-US" sz="1200" strike="noStrike">
                <a:latin typeface="Arial"/>
                <a:ea typeface="Arial"/>
                <a:cs typeface="Arial"/>
                <a:sym typeface="Arial"/>
              </a:rPr>
              <a:t>The consent record</a:t>
            </a:r>
            <a:r>
              <a:rPr b="0" lang="en-US" sz="1200" strike="noStrike">
                <a:latin typeface="Arial"/>
                <a:ea typeface="Arial"/>
                <a:cs typeface="Arial"/>
                <a:sym typeface="Arial"/>
              </a:rPr>
              <a:t> (what the donor agreed to, and for how long).</a:t>
            </a:r>
            <a:endParaRPr b="0" sz="1200" strike="noStrike">
              <a:latin typeface="Arial"/>
              <a:ea typeface="Arial"/>
              <a:cs typeface="Arial"/>
              <a:sym typeface="Arial"/>
            </a:endParaRPr>
          </a:p>
          <a:p>
            <a:pPr indent="0" lvl="0" marL="0" marR="0" rtl="0" algn="l">
              <a:spcBef>
                <a:spcPts val="992"/>
              </a:spcBef>
              <a:spcAft>
                <a:spcPts val="0"/>
              </a:spcAft>
              <a:buNone/>
            </a:pPr>
            <a:r>
              <a:t/>
            </a:r>
            <a:endParaRPr b="0" sz="1200" strike="noStrike">
              <a:latin typeface="Arial"/>
              <a:ea typeface="Arial"/>
              <a:cs typeface="Arial"/>
              <a:sym typeface="Arial"/>
            </a:endParaRPr>
          </a:p>
        </p:txBody>
      </p:sp>
      <p:sp>
        <p:nvSpPr>
          <p:cNvPr id="390" name="Google Shape;390;p44"/>
          <p:cNvSpPr txBox="1"/>
          <p:nvPr/>
        </p:nvSpPr>
        <p:spPr>
          <a:xfrm>
            <a:off x="2880000" y="2736360"/>
            <a:ext cx="3960000" cy="261000"/>
          </a:xfrm>
          <a:prstGeom prst="rect">
            <a:avLst/>
          </a:prstGeom>
          <a:noFill/>
          <a:ln>
            <a:noFill/>
          </a:ln>
        </p:spPr>
        <p:txBody>
          <a:bodyPr anchorCtr="1" anchor="t" bIns="45000" lIns="90000" spcFirstLastPara="1" rIns="90000" wrap="square" tIns="45000">
            <a:noAutofit/>
          </a:bodyPr>
          <a:lstStyle/>
          <a:p>
            <a:pPr indent="0" lvl="0" marL="0" marR="0" rtl="0" algn="ctr">
              <a:spcBef>
                <a:spcPts val="0"/>
              </a:spcBef>
              <a:spcAft>
                <a:spcPts val="0"/>
              </a:spcAft>
              <a:buNone/>
            </a:pPr>
            <a:r>
              <a:rPr b="1" lang="en-US" sz="1200" strike="noStrike">
                <a:solidFill>
                  <a:srgbClr val="F10D0C"/>
                </a:solidFill>
              </a:rPr>
              <a:t>CRITICAL POINTS</a:t>
            </a:r>
            <a:endParaRPr b="1" sz="1200" strike="noStrike"/>
          </a:p>
        </p:txBody>
      </p:sp>
      <p:sp>
        <p:nvSpPr>
          <p:cNvPr id="391" name="Google Shape;391;p44"/>
          <p:cNvSpPr txBox="1"/>
          <p:nvPr/>
        </p:nvSpPr>
        <p:spPr>
          <a:xfrm>
            <a:off x="540000" y="3060000"/>
            <a:ext cx="9000000" cy="540000"/>
          </a:xfrm>
          <a:prstGeom prst="rect">
            <a:avLst/>
          </a:prstGeom>
          <a:noFill/>
          <a:ln>
            <a:noFill/>
          </a:ln>
        </p:spPr>
        <p:txBody>
          <a:bodyPr anchorCtr="0" anchor="t" bIns="45000" lIns="90000" spcFirstLastPara="1" rIns="90000" wrap="square" tIns="45000">
            <a:noAutofit/>
          </a:bodyPr>
          <a:lstStyle/>
          <a:p>
            <a:pPr indent="-216000" lvl="0" marL="216000" marR="0" rtl="0" algn="l">
              <a:lnSpc>
                <a:spcPct val="115000"/>
              </a:lnSpc>
              <a:spcBef>
                <a:spcPts val="0"/>
              </a:spcBef>
              <a:spcAft>
                <a:spcPts val="0"/>
              </a:spcAft>
              <a:buClr>
                <a:srgbClr val="000000"/>
              </a:buClr>
              <a:buSzPts val="540"/>
              <a:buFont typeface="Noto Sans Symbols"/>
              <a:buChar char="●"/>
            </a:pPr>
            <a:r>
              <a:rPr b="1" lang="en-US" sz="1200"/>
              <a:t>Pseudonymization</a:t>
            </a:r>
            <a:r>
              <a:rPr b="0" lang="en-US" sz="1200" strike="noStrike">
                <a:latin typeface="Arial"/>
                <a:ea typeface="Arial"/>
                <a:cs typeface="Arial"/>
                <a:sym typeface="Arial"/>
              </a:rPr>
              <a:t>: any database dealing with sensitive data needs a </a:t>
            </a:r>
            <a:r>
              <a:rPr lang="en-US" sz="1200"/>
              <a:t>pseudonymization</a:t>
            </a:r>
            <a:r>
              <a:rPr b="0" lang="en-US" sz="1200" strike="noStrike">
                <a:latin typeface="Arial"/>
                <a:ea typeface="Arial"/>
                <a:cs typeface="Arial"/>
                <a:sym typeface="Arial"/>
              </a:rPr>
              <a:t> system to ensure patients privacy. It’s also crucial to establish a method that generates unique, reliable keys that can be traced back and do not mix up samples.</a:t>
            </a:r>
            <a:endParaRPr b="0" sz="1200" strike="noStrike">
              <a:latin typeface="Arial"/>
              <a:ea typeface="Arial"/>
              <a:cs typeface="Arial"/>
              <a:sym typeface="Arial"/>
            </a:endParaRPr>
          </a:p>
        </p:txBody>
      </p:sp>
      <p:cxnSp>
        <p:nvCxnSpPr>
          <p:cNvPr id="392" name="Google Shape;392;p44"/>
          <p:cNvCxnSpPr/>
          <p:nvPr/>
        </p:nvCxnSpPr>
        <p:spPr>
          <a:xfrm>
            <a:off x="1980000" y="2693600"/>
            <a:ext cx="5400000" cy="0"/>
          </a:xfrm>
          <a:prstGeom prst="straightConnector1">
            <a:avLst/>
          </a:prstGeom>
          <a:noFill/>
          <a:ln cap="flat" cmpd="sng" w="9525">
            <a:solidFill>
              <a:srgbClr val="468A1A"/>
            </a:solidFill>
            <a:prstDash val="solid"/>
            <a:round/>
            <a:headEnd len="sm" w="sm" type="none"/>
            <a:tailEnd len="sm" w="sm" type="none"/>
          </a:ln>
        </p:spPr>
      </p:cxnSp>
      <p:pic>
        <p:nvPicPr>
          <p:cNvPr id="393" name="Google Shape;393;p44"/>
          <p:cNvPicPr preferRelativeResize="0"/>
          <p:nvPr/>
        </p:nvPicPr>
        <p:blipFill rotWithShape="1">
          <a:blip r:embed="rId3">
            <a:alphaModFix/>
          </a:blip>
          <a:srcRect b="10639" l="6577" r="5850" t="12319"/>
          <a:stretch/>
        </p:blipFill>
        <p:spPr>
          <a:xfrm>
            <a:off x="180001" y="3122449"/>
            <a:ext cx="352927" cy="310502"/>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cxnSp>
        <p:nvCxnSpPr>
          <p:cNvPr id="398" name="Google Shape;398;p45"/>
          <p:cNvCxnSpPr/>
          <p:nvPr/>
        </p:nvCxnSpPr>
        <p:spPr>
          <a:xfrm>
            <a:off x="180000" y="540000"/>
            <a:ext cx="7920000" cy="0"/>
          </a:xfrm>
          <a:prstGeom prst="straightConnector1">
            <a:avLst/>
          </a:prstGeom>
          <a:noFill/>
          <a:ln cap="flat" cmpd="sng" w="36000">
            <a:solidFill>
              <a:srgbClr val="468A1A"/>
            </a:solidFill>
            <a:prstDash val="solid"/>
            <a:round/>
            <a:headEnd len="sm" w="sm" type="none"/>
            <a:tailEnd len="sm" w="sm" type="none"/>
          </a:ln>
        </p:spPr>
      </p:cxnSp>
      <p:sp>
        <p:nvSpPr>
          <p:cNvPr id="399" name="Google Shape;399;p45"/>
          <p:cNvSpPr txBox="1"/>
          <p:nvPr/>
        </p:nvSpPr>
        <p:spPr>
          <a:xfrm>
            <a:off x="192960" y="72000"/>
            <a:ext cx="6107040" cy="468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2200" strike="noStrike">
                <a:solidFill>
                  <a:srgbClr val="468A1A"/>
                </a:solidFill>
                <a:latin typeface="Arial"/>
                <a:ea typeface="Arial"/>
                <a:cs typeface="Arial"/>
                <a:sym typeface="Arial"/>
              </a:rPr>
              <a:t>Part 3 — Biobank Basics</a:t>
            </a:r>
            <a:endParaRPr b="0" sz="2200" strike="noStrike">
              <a:latin typeface="Arial"/>
              <a:ea typeface="Arial"/>
              <a:cs typeface="Arial"/>
              <a:sym typeface="Arial"/>
            </a:endParaRPr>
          </a:p>
        </p:txBody>
      </p:sp>
      <p:sp>
        <p:nvSpPr>
          <p:cNvPr id="400" name="Google Shape;400;p45"/>
          <p:cNvSpPr txBox="1"/>
          <p:nvPr/>
        </p:nvSpPr>
        <p:spPr>
          <a:xfrm>
            <a:off x="171360" y="910300"/>
            <a:ext cx="9908700" cy="1519500"/>
          </a:xfrm>
          <a:prstGeom prst="rect">
            <a:avLst/>
          </a:prstGeom>
          <a:noFill/>
          <a:ln>
            <a:noFill/>
          </a:ln>
        </p:spPr>
        <p:txBody>
          <a:bodyPr anchorCtr="0" anchor="t" bIns="45000" lIns="90000" spcFirstLastPara="1" rIns="90000" wrap="square" tIns="45000">
            <a:noAutofit/>
          </a:bodyPr>
          <a:lstStyle/>
          <a:p>
            <a:pPr indent="0" lvl="0" marL="0" marR="0" rtl="0" algn="ctr">
              <a:spcBef>
                <a:spcPts val="0"/>
              </a:spcBef>
              <a:spcAft>
                <a:spcPts val="0"/>
              </a:spcAft>
              <a:buNone/>
            </a:pPr>
            <a:r>
              <a:rPr b="0" lang="en-US" sz="1200" strike="noStrike">
                <a:latin typeface="Arial"/>
                <a:ea typeface="Arial"/>
                <a:cs typeface="Arial"/>
                <a:sym typeface="Arial"/>
              </a:rPr>
              <a:t>A </a:t>
            </a:r>
            <a:r>
              <a:rPr b="1" lang="en-US" sz="1200" strike="noStrike">
                <a:latin typeface="Arial"/>
                <a:ea typeface="Arial"/>
                <a:cs typeface="Arial"/>
                <a:sym typeface="Arial"/>
              </a:rPr>
              <a:t>biobank</a:t>
            </a:r>
            <a:r>
              <a:rPr b="0" lang="en-US" sz="1200" strike="noStrike">
                <a:latin typeface="Arial"/>
                <a:ea typeface="Arial"/>
                <a:cs typeface="Arial"/>
                <a:sym typeface="Arial"/>
              </a:rPr>
              <a:t> is, at its core, a system for keeping three linked things in sync for every sample, indefinitely:</a:t>
            </a:r>
            <a:endParaRPr b="0" sz="1200" strike="noStrike">
              <a:latin typeface="Arial"/>
              <a:ea typeface="Arial"/>
              <a:cs typeface="Arial"/>
              <a:sym typeface="Arial"/>
            </a:endParaRPr>
          </a:p>
          <a:p>
            <a:pPr indent="-216000" lvl="0" marL="216000" marR="0" rtl="0" algn="l">
              <a:spcBef>
                <a:spcPts val="2183"/>
              </a:spcBef>
              <a:spcAft>
                <a:spcPts val="0"/>
              </a:spcAft>
              <a:buClr>
                <a:srgbClr val="000000"/>
              </a:buClr>
              <a:buSzPts val="540"/>
              <a:buFont typeface="Noto Sans Symbols"/>
              <a:buChar char="●"/>
            </a:pPr>
            <a:r>
              <a:rPr b="1" lang="en-US" sz="1200" strike="noStrike">
                <a:latin typeface="Arial"/>
                <a:ea typeface="Arial"/>
                <a:cs typeface="Arial"/>
                <a:sym typeface="Arial"/>
              </a:rPr>
              <a:t>The physical sample</a:t>
            </a:r>
            <a:r>
              <a:rPr b="0" lang="en-US" sz="1200" strike="noStrike">
                <a:latin typeface="Arial"/>
                <a:ea typeface="Arial"/>
                <a:cs typeface="Arial"/>
                <a:sym typeface="Arial"/>
              </a:rPr>
              <a:t> (tumor tissue, blood, DNA, RNA — stored, tracked, and eventually consumed by analyses like the one in this tutorial).</a:t>
            </a:r>
            <a:endParaRPr b="0" sz="1200" strike="noStrike">
              <a:latin typeface="Arial"/>
              <a:ea typeface="Arial"/>
              <a:cs typeface="Arial"/>
              <a:sym typeface="Arial"/>
            </a:endParaRPr>
          </a:p>
          <a:p>
            <a:pPr indent="-216000" lvl="0" marL="216000" marR="0" rtl="0" algn="l">
              <a:spcBef>
                <a:spcPts val="2183"/>
              </a:spcBef>
              <a:spcAft>
                <a:spcPts val="0"/>
              </a:spcAft>
              <a:buClr>
                <a:srgbClr val="000000"/>
              </a:buClr>
              <a:buSzPts val="540"/>
              <a:buFont typeface="Noto Sans Symbols"/>
              <a:buChar char="●"/>
            </a:pPr>
            <a:r>
              <a:rPr b="1" lang="en-US" sz="1200" strike="noStrike">
                <a:latin typeface="Arial"/>
                <a:ea typeface="Arial"/>
                <a:cs typeface="Arial"/>
                <a:sym typeface="Arial"/>
              </a:rPr>
              <a:t>The linked clinical/phenotypic data </a:t>
            </a:r>
            <a:r>
              <a:rPr b="0" lang="en-US" sz="1200" strike="noStrike">
                <a:latin typeface="Arial"/>
                <a:ea typeface="Arial"/>
                <a:cs typeface="Arial"/>
                <a:sym typeface="Arial"/>
              </a:rPr>
              <a:t>(diagnosis, treatment, outcome — everything that gives the sample scientific meaning).</a:t>
            </a:r>
            <a:endParaRPr b="0" sz="1200" strike="noStrike">
              <a:latin typeface="Arial"/>
              <a:ea typeface="Arial"/>
              <a:cs typeface="Arial"/>
              <a:sym typeface="Arial"/>
            </a:endParaRPr>
          </a:p>
          <a:p>
            <a:pPr indent="-216000" lvl="0" marL="216000" marR="0" rtl="0" algn="l">
              <a:spcBef>
                <a:spcPts val="2183"/>
              </a:spcBef>
              <a:spcAft>
                <a:spcPts val="0"/>
              </a:spcAft>
              <a:buClr>
                <a:srgbClr val="000000"/>
              </a:buClr>
              <a:buSzPts val="540"/>
              <a:buFont typeface="Noto Sans Symbols"/>
              <a:buChar char="●"/>
            </a:pPr>
            <a:r>
              <a:rPr b="1" lang="en-US" sz="1200" strike="noStrike">
                <a:latin typeface="Arial"/>
                <a:ea typeface="Arial"/>
                <a:cs typeface="Arial"/>
                <a:sym typeface="Arial"/>
              </a:rPr>
              <a:t>The consent record</a:t>
            </a:r>
            <a:r>
              <a:rPr b="0" lang="en-US" sz="1200" strike="noStrike">
                <a:latin typeface="Arial"/>
                <a:ea typeface="Arial"/>
                <a:cs typeface="Arial"/>
                <a:sym typeface="Arial"/>
              </a:rPr>
              <a:t> (what the donor agreed to, and for how long).</a:t>
            </a:r>
            <a:endParaRPr b="0" sz="1200" strike="noStrike">
              <a:latin typeface="Arial"/>
              <a:ea typeface="Arial"/>
              <a:cs typeface="Arial"/>
              <a:sym typeface="Arial"/>
            </a:endParaRPr>
          </a:p>
          <a:p>
            <a:pPr indent="0" lvl="0" marL="0" marR="0" rtl="0" algn="l">
              <a:spcBef>
                <a:spcPts val="992"/>
              </a:spcBef>
              <a:spcAft>
                <a:spcPts val="0"/>
              </a:spcAft>
              <a:buNone/>
            </a:pPr>
            <a:r>
              <a:t/>
            </a:r>
            <a:endParaRPr b="0" sz="1200" strike="noStrike">
              <a:latin typeface="Arial"/>
              <a:ea typeface="Arial"/>
              <a:cs typeface="Arial"/>
              <a:sym typeface="Arial"/>
            </a:endParaRPr>
          </a:p>
        </p:txBody>
      </p:sp>
      <p:sp>
        <p:nvSpPr>
          <p:cNvPr id="401" name="Google Shape;401;p45"/>
          <p:cNvSpPr txBox="1"/>
          <p:nvPr/>
        </p:nvSpPr>
        <p:spPr>
          <a:xfrm>
            <a:off x="2880000" y="2736360"/>
            <a:ext cx="3960000" cy="261000"/>
          </a:xfrm>
          <a:prstGeom prst="rect">
            <a:avLst/>
          </a:prstGeom>
          <a:noFill/>
          <a:ln>
            <a:noFill/>
          </a:ln>
        </p:spPr>
        <p:txBody>
          <a:bodyPr anchorCtr="1" anchor="t" bIns="45000" lIns="90000" spcFirstLastPara="1" rIns="90000" wrap="square" tIns="45000">
            <a:noAutofit/>
          </a:bodyPr>
          <a:lstStyle/>
          <a:p>
            <a:pPr indent="0" lvl="0" marL="0" marR="0" rtl="0" algn="ctr">
              <a:spcBef>
                <a:spcPts val="0"/>
              </a:spcBef>
              <a:spcAft>
                <a:spcPts val="0"/>
              </a:spcAft>
              <a:buNone/>
            </a:pPr>
            <a:r>
              <a:rPr b="1" lang="en-US" sz="1200" strike="noStrike">
                <a:solidFill>
                  <a:srgbClr val="F10D0C"/>
                </a:solidFill>
              </a:rPr>
              <a:t>CRITICAL POINTS</a:t>
            </a:r>
            <a:endParaRPr b="1" sz="1200" strike="noStrike"/>
          </a:p>
        </p:txBody>
      </p:sp>
      <p:sp>
        <p:nvSpPr>
          <p:cNvPr id="402" name="Google Shape;402;p45"/>
          <p:cNvSpPr txBox="1"/>
          <p:nvPr/>
        </p:nvSpPr>
        <p:spPr>
          <a:xfrm>
            <a:off x="540000" y="3060000"/>
            <a:ext cx="9000000" cy="540000"/>
          </a:xfrm>
          <a:prstGeom prst="rect">
            <a:avLst/>
          </a:prstGeom>
          <a:noFill/>
          <a:ln>
            <a:noFill/>
          </a:ln>
        </p:spPr>
        <p:txBody>
          <a:bodyPr anchorCtr="0" anchor="t" bIns="45000" lIns="90000" spcFirstLastPara="1" rIns="90000" wrap="square" tIns="45000">
            <a:noAutofit/>
          </a:bodyPr>
          <a:lstStyle/>
          <a:p>
            <a:pPr indent="-216000" lvl="0" marL="216000" marR="0" rtl="0" algn="l">
              <a:lnSpc>
                <a:spcPct val="115000"/>
              </a:lnSpc>
              <a:spcBef>
                <a:spcPts val="0"/>
              </a:spcBef>
              <a:spcAft>
                <a:spcPts val="0"/>
              </a:spcAft>
              <a:buClr>
                <a:srgbClr val="000000"/>
              </a:buClr>
              <a:buSzPts val="540"/>
              <a:buFont typeface="Noto Sans Symbols"/>
              <a:buChar char="●"/>
            </a:pPr>
            <a:r>
              <a:rPr b="1" lang="en-US" sz="1200"/>
              <a:t>Pseudonymization</a:t>
            </a:r>
            <a:r>
              <a:rPr b="0" lang="en-US" sz="1200" strike="noStrike">
                <a:latin typeface="Arial"/>
                <a:ea typeface="Arial"/>
                <a:cs typeface="Arial"/>
                <a:sym typeface="Arial"/>
              </a:rPr>
              <a:t>: any database dealing with sensitive data needs a </a:t>
            </a:r>
            <a:r>
              <a:rPr lang="en-US" sz="1200"/>
              <a:t>pseudonymization</a:t>
            </a:r>
            <a:r>
              <a:rPr b="0" lang="en-US" sz="1200" strike="noStrike">
                <a:latin typeface="Arial"/>
                <a:ea typeface="Arial"/>
                <a:cs typeface="Arial"/>
                <a:sym typeface="Arial"/>
              </a:rPr>
              <a:t> system to ensure patients privacy. It’s also crucial to establish a method that generates unique, reliable keys that can be traced back and do not mix up samples.</a:t>
            </a:r>
            <a:endParaRPr b="0" sz="1200" strike="noStrike">
              <a:latin typeface="Arial"/>
              <a:ea typeface="Arial"/>
              <a:cs typeface="Arial"/>
              <a:sym typeface="Arial"/>
            </a:endParaRPr>
          </a:p>
        </p:txBody>
      </p:sp>
      <p:sp>
        <p:nvSpPr>
          <p:cNvPr id="403" name="Google Shape;403;p45"/>
          <p:cNvSpPr txBox="1"/>
          <p:nvPr/>
        </p:nvSpPr>
        <p:spPr>
          <a:xfrm>
            <a:off x="540000" y="3672000"/>
            <a:ext cx="9000000" cy="678960"/>
          </a:xfrm>
          <a:prstGeom prst="rect">
            <a:avLst/>
          </a:prstGeom>
          <a:noFill/>
          <a:ln>
            <a:noFill/>
          </a:ln>
        </p:spPr>
        <p:txBody>
          <a:bodyPr anchorCtr="0" anchor="t" bIns="45000" lIns="90000" spcFirstLastPara="1" rIns="90000" wrap="square" tIns="45000">
            <a:noAutofit/>
          </a:bodyPr>
          <a:lstStyle/>
          <a:p>
            <a:pPr indent="-216000" lvl="0" marL="216000" marR="0" rtl="0" algn="l">
              <a:lnSpc>
                <a:spcPct val="115000"/>
              </a:lnSpc>
              <a:spcBef>
                <a:spcPts val="0"/>
              </a:spcBef>
              <a:spcAft>
                <a:spcPts val="0"/>
              </a:spcAft>
              <a:buClr>
                <a:srgbClr val="000000"/>
              </a:buClr>
              <a:buSzPts val="540"/>
              <a:buFont typeface="Noto Sans Symbols"/>
              <a:buChar char="●"/>
            </a:pPr>
            <a:r>
              <a:rPr b="1" lang="en-US" sz="1200" strike="noStrike">
                <a:latin typeface="Arial"/>
                <a:ea typeface="Arial"/>
                <a:cs typeface="Arial"/>
                <a:sym typeface="Arial"/>
              </a:rPr>
              <a:t>Consent forms</a:t>
            </a:r>
            <a:r>
              <a:rPr b="0" lang="en-US" sz="1200" strike="noStrike">
                <a:latin typeface="Arial"/>
                <a:ea typeface="Arial"/>
                <a:cs typeface="Arial"/>
                <a:sym typeface="Arial"/>
              </a:rPr>
              <a:t>: should always be </a:t>
            </a:r>
            <a:r>
              <a:rPr lang="en-US" sz="1200"/>
              <a:t>informed</a:t>
            </a:r>
            <a:r>
              <a:rPr b="0" lang="en-US" sz="1200" strike="noStrike">
                <a:latin typeface="Arial"/>
                <a:ea typeface="Arial"/>
                <a:cs typeface="Arial"/>
                <a:sym typeface="Arial"/>
              </a:rPr>
              <a:t>, voluntary and revocable. In pediatrics, this matter is more complex and layered. Along with a legal guardian consent, patients can express an age appropriate form of agreement. Many institutions also require re-consent as the child ages and reaches majority, when they can express legally valid consent. </a:t>
            </a:r>
            <a:endParaRPr b="0" sz="1200" strike="noStrike">
              <a:latin typeface="Arial"/>
              <a:ea typeface="Arial"/>
              <a:cs typeface="Arial"/>
              <a:sym typeface="Arial"/>
            </a:endParaRPr>
          </a:p>
        </p:txBody>
      </p:sp>
      <p:cxnSp>
        <p:nvCxnSpPr>
          <p:cNvPr id="404" name="Google Shape;404;p45"/>
          <p:cNvCxnSpPr/>
          <p:nvPr/>
        </p:nvCxnSpPr>
        <p:spPr>
          <a:xfrm>
            <a:off x="1980000" y="2693600"/>
            <a:ext cx="5400000" cy="0"/>
          </a:xfrm>
          <a:prstGeom prst="straightConnector1">
            <a:avLst/>
          </a:prstGeom>
          <a:noFill/>
          <a:ln cap="flat" cmpd="sng" w="9525">
            <a:solidFill>
              <a:srgbClr val="468A1A"/>
            </a:solidFill>
            <a:prstDash val="solid"/>
            <a:round/>
            <a:headEnd len="sm" w="sm" type="none"/>
            <a:tailEnd len="sm" w="sm" type="none"/>
          </a:ln>
        </p:spPr>
      </p:cxnSp>
      <p:pic>
        <p:nvPicPr>
          <p:cNvPr id="405" name="Google Shape;405;p45"/>
          <p:cNvPicPr preferRelativeResize="0"/>
          <p:nvPr/>
        </p:nvPicPr>
        <p:blipFill rotWithShape="1">
          <a:blip r:embed="rId3">
            <a:alphaModFix/>
          </a:blip>
          <a:srcRect b="10639" l="6577" r="5850" t="12319"/>
          <a:stretch/>
        </p:blipFill>
        <p:spPr>
          <a:xfrm>
            <a:off x="180001" y="3122449"/>
            <a:ext cx="352927" cy="310502"/>
          </a:xfrm>
          <a:prstGeom prst="rect">
            <a:avLst/>
          </a:prstGeom>
          <a:noFill/>
          <a:ln>
            <a:noFill/>
          </a:ln>
        </p:spPr>
      </p:pic>
      <p:pic>
        <p:nvPicPr>
          <p:cNvPr id="406" name="Google Shape;406;p45"/>
          <p:cNvPicPr preferRelativeResize="0"/>
          <p:nvPr/>
        </p:nvPicPr>
        <p:blipFill rotWithShape="1">
          <a:blip r:embed="rId3">
            <a:alphaModFix/>
          </a:blip>
          <a:srcRect b="10639" l="6577" r="5850" t="12319"/>
          <a:stretch/>
        </p:blipFill>
        <p:spPr>
          <a:xfrm>
            <a:off x="180001" y="3824399"/>
            <a:ext cx="352927" cy="310502"/>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cxnSp>
        <p:nvCxnSpPr>
          <p:cNvPr id="411" name="Google Shape;411;p46"/>
          <p:cNvCxnSpPr/>
          <p:nvPr/>
        </p:nvCxnSpPr>
        <p:spPr>
          <a:xfrm>
            <a:off x="180000" y="540000"/>
            <a:ext cx="7920000" cy="0"/>
          </a:xfrm>
          <a:prstGeom prst="straightConnector1">
            <a:avLst/>
          </a:prstGeom>
          <a:noFill/>
          <a:ln cap="flat" cmpd="sng" w="36000">
            <a:solidFill>
              <a:srgbClr val="468A1A"/>
            </a:solidFill>
            <a:prstDash val="solid"/>
            <a:round/>
            <a:headEnd len="sm" w="sm" type="none"/>
            <a:tailEnd len="sm" w="sm" type="none"/>
          </a:ln>
        </p:spPr>
      </p:cxnSp>
      <p:sp>
        <p:nvSpPr>
          <p:cNvPr id="412" name="Google Shape;412;p46"/>
          <p:cNvSpPr txBox="1"/>
          <p:nvPr/>
        </p:nvSpPr>
        <p:spPr>
          <a:xfrm>
            <a:off x="192960" y="72000"/>
            <a:ext cx="6107040" cy="468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2200" strike="noStrike">
                <a:solidFill>
                  <a:srgbClr val="468A1A"/>
                </a:solidFill>
                <a:latin typeface="Arial"/>
                <a:ea typeface="Arial"/>
                <a:cs typeface="Arial"/>
                <a:sym typeface="Arial"/>
              </a:rPr>
              <a:t>Part 3 — Biobank Basics</a:t>
            </a:r>
            <a:endParaRPr b="0" sz="2200" strike="noStrike">
              <a:latin typeface="Arial"/>
              <a:ea typeface="Arial"/>
              <a:cs typeface="Arial"/>
              <a:sym typeface="Arial"/>
            </a:endParaRPr>
          </a:p>
        </p:txBody>
      </p:sp>
      <p:sp>
        <p:nvSpPr>
          <p:cNvPr id="413" name="Google Shape;413;p46"/>
          <p:cNvSpPr txBox="1"/>
          <p:nvPr/>
        </p:nvSpPr>
        <p:spPr>
          <a:xfrm>
            <a:off x="171360" y="910300"/>
            <a:ext cx="9908700" cy="1519500"/>
          </a:xfrm>
          <a:prstGeom prst="rect">
            <a:avLst/>
          </a:prstGeom>
          <a:noFill/>
          <a:ln>
            <a:noFill/>
          </a:ln>
        </p:spPr>
        <p:txBody>
          <a:bodyPr anchorCtr="0" anchor="t" bIns="45000" lIns="90000" spcFirstLastPara="1" rIns="90000" wrap="square" tIns="45000">
            <a:noAutofit/>
          </a:bodyPr>
          <a:lstStyle/>
          <a:p>
            <a:pPr indent="0" lvl="0" marL="0" marR="0" rtl="0" algn="ctr">
              <a:spcBef>
                <a:spcPts val="0"/>
              </a:spcBef>
              <a:spcAft>
                <a:spcPts val="0"/>
              </a:spcAft>
              <a:buNone/>
            </a:pPr>
            <a:r>
              <a:rPr b="0" lang="en-US" sz="1200" strike="noStrike">
                <a:latin typeface="Arial"/>
                <a:ea typeface="Arial"/>
                <a:cs typeface="Arial"/>
                <a:sym typeface="Arial"/>
              </a:rPr>
              <a:t>A </a:t>
            </a:r>
            <a:r>
              <a:rPr b="1" lang="en-US" sz="1200" strike="noStrike">
                <a:latin typeface="Arial"/>
                <a:ea typeface="Arial"/>
                <a:cs typeface="Arial"/>
                <a:sym typeface="Arial"/>
              </a:rPr>
              <a:t>biobank</a:t>
            </a:r>
            <a:r>
              <a:rPr b="0" lang="en-US" sz="1200" strike="noStrike">
                <a:latin typeface="Arial"/>
                <a:ea typeface="Arial"/>
                <a:cs typeface="Arial"/>
                <a:sym typeface="Arial"/>
              </a:rPr>
              <a:t> is, at its core, a system for keeping three linked things in sync for every sample, indefinitely:</a:t>
            </a:r>
            <a:endParaRPr b="0" sz="1200" strike="noStrike">
              <a:latin typeface="Arial"/>
              <a:ea typeface="Arial"/>
              <a:cs typeface="Arial"/>
              <a:sym typeface="Arial"/>
            </a:endParaRPr>
          </a:p>
          <a:p>
            <a:pPr indent="-216000" lvl="0" marL="216000" marR="0" rtl="0" algn="l">
              <a:spcBef>
                <a:spcPts val="2183"/>
              </a:spcBef>
              <a:spcAft>
                <a:spcPts val="0"/>
              </a:spcAft>
              <a:buClr>
                <a:srgbClr val="000000"/>
              </a:buClr>
              <a:buSzPts val="540"/>
              <a:buFont typeface="Noto Sans Symbols"/>
              <a:buChar char="●"/>
            </a:pPr>
            <a:r>
              <a:rPr b="1" lang="en-US" sz="1200" strike="noStrike">
                <a:latin typeface="Arial"/>
                <a:ea typeface="Arial"/>
                <a:cs typeface="Arial"/>
                <a:sym typeface="Arial"/>
              </a:rPr>
              <a:t>The physical sample</a:t>
            </a:r>
            <a:r>
              <a:rPr b="0" lang="en-US" sz="1200" strike="noStrike">
                <a:latin typeface="Arial"/>
                <a:ea typeface="Arial"/>
                <a:cs typeface="Arial"/>
                <a:sym typeface="Arial"/>
              </a:rPr>
              <a:t> (tumor tissue, blood, DNA, RNA — stored, tracked, and eventually consumed by analyses like the one in this tutorial).</a:t>
            </a:r>
            <a:endParaRPr b="0" sz="1200" strike="noStrike">
              <a:latin typeface="Arial"/>
              <a:ea typeface="Arial"/>
              <a:cs typeface="Arial"/>
              <a:sym typeface="Arial"/>
            </a:endParaRPr>
          </a:p>
          <a:p>
            <a:pPr indent="-216000" lvl="0" marL="216000" marR="0" rtl="0" algn="l">
              <a:spcBef>
                <a:spcPts val="2183"/>
              </a:spcBef>
              <a:spcAft>
                <a:spcPts val="0"/>
              </a:spcAft>
              <a:buClr>
                <a:srgbClr val="000000"/>
              </a:buClr>
              <a:buSzPts val="540"/>
              <a:buFont typeface="Noto Sans Symbols"/>
              <a:buChar char="●"/>
            </a:pPr>
            <a:r>
              <a:rPr b="1" lang="en-US" sz="1200" strike="noStrike">
                <a:latin typeface="Arial"/>
                <a:ea typeface="Arial"/>
                <a:cs typeface="Arial"/>
                <a:sym typeface="Arial"/>
              </a:rPr>
              <a:t>The linked clinical/phenotypic data </a:t>
            </a:r>
            <a:r>
              <a:rPr b="0" lang="en-US" sz="1200" strike="noStrike">
                <a:latin typeface="Arial"/>
                <a:ea typeface="Arial"/>
                <a:cs typeface="Arial"/>
                <a:sym typeface="Arial"/>
              </a:rPr>
              <a:t>(diagnosis, treatment, outcome — everything that gives the sample scientific meaning).</a:t>
            </a:r>
            <a:endParaRPr b="0" sz="1200" strike="noStrike">
              <a:latin typeface="Arial"/>
              <a:ea typeface="Arial"/>
              <a:cs typeface="Arial"/>
              <a:sym typeface="Arial"/>
            </a:endParaRPr>
          </a:p>
          <a:p>
            <a:pPr indent="-216000" lvl="0" marL="216000" marR="0" rtl="0" algn="l">
              <a:spcBef>
                <a:spcPts val="2183"/>
              </a:spcBef>
              <a:spcAft>
                <a:spcPts val="0"/>
              </a:spcAft>
              <a:buClr>
                <a:srgbClr val="000000"/>
              </a:buClr>
              <a:buSzPts val="540"/>
              <a:buFont typeface="Noto Sans Symbols"/>
              <a:buChar char="●"/>
            </a:pPr>
            <a:r>
              <a:rPr b="1" lang="en-US" sz="1200" strike="noStrike">
                <a:latin typeface="Arial"/>
                <a:ea typeface="Arial"/>
                <a:cs typeface="Arial"/>
                <a:sym typeface="Arial"/>
              </a:rPr>
              <a:t>The consent record</a:t>
            </a:r>
            <a:r>
              <a:rPr b="0" lang="en-US" sz="1200" strike="noStrike">
                <a:latin typeface="Arial"/>
                <a:ea typeface="Arial"/>
                <a:cs typeface="Arial"/>
                <a:sym typeface="Arial"/>
              </a:rPr>
              <a:t> (what the donor agreed to, and for how long).</a:t>
            </a:r>
            <a:endParaRPr b="0" sz="1200" strike="noStrike">
              <a:latin typeface="Arial"/>
              <a:ea typeface="Arial"/>
              <a:cs typeface="Arial"/>
              <a:sym typeface="Arial"/>
            </a:endParaRPr>
          </a:p>
          <a:p>
            <a:pPr indent="0" lvl="0" marL="0" marR="0" rtl="0" algn="l">
              <a:spcBef>
                <a:spcPts val="992"/>
              </a:spcBef>
              <a:spcAft>
                <a:spcPts val="0"/>
              </a:spcAft>
              <a:buNone/>
            </a:pPr>
            <a:r>
              <a:t/>
            </a:r>
            <a:endParaRPr b="0" sz="1200" strike="noStrike">
              <a:latin typeface="Arial"/>
              <a:ea typeface="Arial"/>
              <a:cs typeface="Arial"/>
              <a:sym typeface="Arial"/>
            </a:endParaRPr>
          </a:p>
        </p:txBody>
      </p:sp>
      <p:sp>
        <p:nvSpPr>
          <p:cNvPr id="414" name="Google Shape;414;p46"/>
          <p:cNvSpPr txBox="1"/>
          <p:nvPr/>
        </p:nvSpPr>
        <p:spPr>
          <a:xfrm>
            <a:off x="2880000" y="2736360"/>
            <a:ext cx="3960000" cy="261000"/>
          </a:xfrm>
          <a:prstGeom prst="rect">
            <a:avLst/>
          </a:prstGeom>
          <a:noFill/>
          <a:ln>
            <a:noFill/>
          </a:ln>
        </p:spPr>
        <p:txBody>
          <a:bodyPr anchorCtr="1" anchor="t" bIns="45000" lIns="90000" spcFirstLastPara="1" rIns="90000" wrap="square" tIns="45000">
            <a:noAutofit/>
          </a:bodyPr>
          <a:lstStyle/>
          <a:p>
            <a:pPr indent="0" lvl="0" marL="0" marR="0" rtl="0" algn="ctr">
              <a:spcBef>
                <a:spcPts val="0"/>
              </a:spcBef>
              <a:spcAft>
                <a:spcPts val="0"/>
              </a:spcAft>
              <a:buNone/>
            </a:pPr>
            <a:r>
              <a:rPr b="1" lang="en-US" sz="1200" strike="noStrike">
                <a:solidFill>
                  <a:srgbClr val="F10D0C"/>
                </a:solidFill>
              </a:rPr>
              <a:t>CRITICAL POINTS</a:t>
            </a:r>
            <a:endParaRPr b="1" sz="1200" strike="noStrike"/>
          </a:p>
        </p:txBody>
      </p:sp>
      <p:sp>
        <p:nvSpPr>
          <p:cNvPr id="415" name="Google Shape;415;p46"/>
          <p:cNvSpPr txBox="1"/>
          <p:nvPr/>
        </p:nvSpPr>
        <p:spPr>
          <a:xfrm>
            <a:off x="540000" y="3060000"/>
            <a:ext cx="9000000" cy="540000"/>
          </a:xfrm>
          <a:prstGeom prst="rect">
            <a:avLst/>
          </a:prstGeom>
          <a:noFill/>
          <a:ln>
            <a:noFill/>
          </a:ln>
        </p:spPr>
        <p:txBody>
          <a:bodyPr anchorCtr="0" anchor="t" bIns="45000" lIns="90000" spcFirstLastPara="1" rIns="90000" wrap="square" tIns="45000">
            <a:noAutofit/>
          </a:bodyPr>
          <a:lstStyle/>
          <a:p>
            <a:pPr indent="-216000" lvl="0" marL="216000" marR="0" rtl="0" algn="l">
              <a:lnSpc>
                <a:spcPct val="115000"/>
              </a:lnSpc>
              <a:spcBef>
                <a:spcPts val="0"/>
              </a:spcBef>
              <a:spcAft>
                <a:spcPts val="0"/>
              </a:spcAft>
              <a:buClr>
                <a:srgbClr val="000000"/>
              </a:buClr>
              <a:buSzPts val="540"/>
              <a:buFont typeface="Noto Sans Symbols"/>
              <a:buChar char="●"/>
            </a:pPr>
            <a:r>
              <a:rPr b="1" lang="en-US" sz="1200"/>
              <a:t>Pseudonymization</a:t>
            </a:r>
            <a:r>
              <a:rPr b="0" lang="en-US" sz="1200" strike="noStrike">
                <a:latin typeface="Arial"/>
                <a:ea typeface="Arial"/>
                <a:cs typeface="Arial"/>
                <a:sym typeface="Arial"/>
              </a:rPr>
              <a:t>: any database dealing with sensitive data needs a </a:t>
            </a:r>
            <a:r>
              <a:rPr lang="en-US" sz="1200"/>
              <a:t>pseudonymization</a:t>
            </a:r>
            <a:r>
              <a:rPr b="0" lang="en-US" sz="1200" strike="noStrike">
                <a:latin typeface="Arial"/>
                <a:ea typeface="Arial"/>
                <a:cs typeface="Arial"/>
                <a:sym typeface="Arial"/>
              </a:rPr>
              <a:t> system to ensure patients privacy. It’s also crucial to establish a method that generates unique, reliable keys that can be traced back and do not mix up samples.</a:t>
            </a:r>
            <a:endParaRPr b="0" sz="1200" strike="noStrike">
              <a:latin typeface="Arial"/>
              <a:ea typeface="Arial"/>
              <a:cs typeface="Arial"/>
              <a:sym typeface="Arial"/>
            </a:endParaRPr>
          </a:p>
        </p:txBody>
      </p:sp>
      <p:sp>
        <p:nvSpPr>
          <p:cNvPr id="416" name="Google Shape;416;p46"/>
          <p:cNvSpPr txBox="1"/>
          <p:nvPr/>
        </p:nvSpPr>
        <p:spPr>
          <a:xfrm>
            <a:off x="540000" y="3672000"/>
            <a:ext cx="9000000" cy="678960"/>
          </a:xfrm>
          <a:prstGeom prst="rect">
            <a:avLst/>
          </a:prstGeom>
          <a:noFill/>
          <a:ln>
            <a:noFill/>
          </a:ln>
        </p:spPr>
        <p:txBody>
          <a:bodyPr anchorCtr="0" anchor="t" bIns="45000" lIns="90000" spcFirstLastPara="1" rIns="90000" wrap="square" tIns="45000">
            <a:noAutofit/>
          </a:bodyPr>
          <a:lstStyle/>
          <a:p>
            <a:pPr indent="-216000" lvl="0" marL="216000" marR="0" rtl="0" algn="l">
              <a:lnSpc>
                <a:spcPct val="115000"/>
              </a:lnSpc>
              <a:spcBef>
                <a:spcPts val="0"/>
              </a:spcBef>
              <a:spcAft>
                <a:spcPts val="0"/>
              </a:spcAft>
              <a:buClr>
                <a:srgbClr val="000000"/>
              </a:buClr>
              <a:buSzPts val="540"/>
              <a:buFont typeface="Noto Sans Symbols"/>
              <a:buChar char="●"/>
            </a:pPr>
            <a:r>
              <a:rPr b="1" lang="en-US" sz="1200" strike="noStrike">
                <a:latin typeface="Arial"/>
                <a:ea typeface="Arial"/>
                <a:cs typeface="Arial"/>
                <a:sym typeface="Arial"/>
              </a:rPr>
              <a:t>Consent forms</a:t>
            </a:r>
            <a:r>
              <a:rPr b="0" lang="en-US" sz="1200" strike="noStrike">
                <a:latin typeface="Arial"/>
                <a:ea typeface="Arial"/>
                <a:cs typeface="Arial"/>
                <a:sym typeface="Arial"/>
              </a:rPr>
              <a:t>: should always be </a:t>
            </a:r>
            <a:r>
              <a:rPr lang="en-US" sz="1200"/>
              <a:t>informed</a:t>
            </a:r>
            <a:r>
              <a:rPr b="0" lang="en-US" sz="1200" strike="noStrike">
                <a:latin typeface="Arial"/>
                <a:ea typeface="Arial"/>
                <a:cs typeface="Arial"/>
                <a:sym typeface="Arial"/>
              </a:rPr>
              <a:t>, voluntary and revocable. In pediatrics, this matter is more complex and layered. Along with a legal guardian consent, patients can express an age appropriate form of agreement. Many institutions also require re-consent as the child ages and reaches majority, when they can express legally valid consent. </a:t>
            </a:r>
            <a:endParaRPr b="0" sz="1200" strike="noStrike">
              <a:latin typeface="Arial"/>
              <a:ea typeface="Arial"/>
              <a:cs typeface="Arial"/>
              <a:sym typeface="Arial"/>
            </a:endParaRPr>
          </a:p>
        </p:txBody>
      </p:sp>
      <p:sp>
        <p:nvSpPr>
          <p:cNvPr id="417" name="Google Shape;417;p46"/>
          <p:cNvSpPr txBox="1"/>
          <p:nvPr/>
        </p:nvSpPr>
        <p:spPr>
          <a:xfrm>
            <a:off x="540000" y="4464000"/>
            <a:ext cx="9000000" cy="875160"/>
          </a:xfrm>
          <a:prstGeom prst="rect">
            <a:avLst/>
          </a:prstGeom>
          <a:noFill/>
          <a:ln>
            <a:noFill/>
          </a:ln>
        </p:spPr>
        <p:txBody>
          <a:bodyPr anchorCtr="0" anchor="t" bIns="45000" lIns="90000" spcFirstLastPara="1" rIns="90000" wrap="square" tIns="45000">
            <a:noAutofit/>
          </a:bodyPr>
          <a:lstStyle/>
          <a:p>
            <a:pPr indent="-216000" lvl="0" marL="216000" marR="0" rtl="0" algn="l">
              <a:lnSpc>
                <a:spcPct val="115000"/>
              </a:lnSpc>
              <a:spcBef>
                <a:spcPts val="0"/>
              </a:spcBef>
              <a:spcAft>
                <a:spcPts val="0"/>
              </a:spcAft>
              <a:buClr>
                <a:srgbClr val="000000"/>
              </a:buClr>
              <a:buSzPts val="540"/>
              <a:buFont typeface="Noto Sans Symbols"/>
              <a:buChar char="●"/>
            </a:pPr>
            <a:r>
              <a:rPr b="1" lang="en-US" sz="1200" strike="noStrike">
                <a:latin typeface="Arial"/>
                <a:ea typeface="Arial"/>
                <a:cs typeface="Arial"/>
                <a:sym typeface="Arial"/>
              </a:rPr>
              <a:t>Sample </a:t>
            </a:r>
            <a:r>
              <a:rPr b="1" lang="en-US" sz="1200"/>
              <a:t>eligibility</a:t>
            </a:r>
            <a:r>
              <a:rPr b="0" lang="en-US" sz="1200" strike="noStrike">
                <a:latin typeface="Arial"/>
                <a:ea typeface="Arial"/>
                <a:cs typeface="Arial"/>
                <a:sym typeface="Arial"/>
              </a:rPr>
              <a:t>: samples that lacks crucial information are no longer useful. In pediatrics, this could mean hindering years of research. In oncology or rare diseases, patients are few, samples even less, and gaining a small but usable cohort often takes years or the combined effort of multiple facilities. When age so </a:t>
            </a:r>
            <a:r>
              <a:rPr lang="en-US" sz="1200"/>
              <a:t>dramatically</a:t>
            </a:r>
            <a:r>
              <a:rPr b="0" lang="en-US" sz="1200" strike="noStrike">
                <a:latin typeface="Arial"/>
                <a:ea typeface="Arial"/>
                <a:cs typeface="Arial"/>
                <a:sym typeface="Arial"/>
              </a:rPr>
              <a:t> impacts </a:t>
            </a:r>
            <a:r>
              <a:rPr lang="en-US" sz="1200"/>
              <a:t>variability</a:t>
            </a:r>
            <a:r>
              <a:rPr b="0" lang="en-US" sz="1200" strike="noStrike">
                <a:latin typeface="Arial"/>
                <a:ea typeface="Arial"/>
                <a:cs typeface="Arial"/>
                <a:sym typeface="Arial"/>
              </a:rPr>
              <a:t> this process gets more difficult.</a:t>
            </a:r>
            <a:endParaRPr b="0" sz="1200" strike="noStrike">
              <a:latin typeface="Arial"/>
              <a:ea typeface="Arial"/>
              <a:cs typeface="Arial"/>
              <a:sym typeface="Arial"/>
            </a:endParaRPr>
          </a:p>
        </p:txBody>
      </p:sp>
      <p:cxnSp>
        <p:nvCxnSpPr>
          <p:cNvPr id="418" name="Google Shape;418;p46"/>
          <p:cNvCxnSpPr/>
          <p:nvPr/>
        </p:nvCxnSpPr>
        <p:spPr>
          <a:xfrm>
            <a:off x="1980000" y="2693600"/>
            <a:ext cx="5400000" cy="0"/>
          </a:xfrm>
          <a:prstGeom prst="straightConnector1">
            <a:avLst/>
          </a:prstGeom>
          <a:noFill/>
          <a:ln cap="flat" cmpd="sng" w="9525">
            <a:solidFill>
              <a:srgbClr val="468A1A"/>
            </a:solidFill>
            <a:prstDash val="solid"/>
            <a:round/>
            <a:headEnd len="sm" w="sm" type="none"/>
            <a:tailEnd len="sm" w="sm" type="none"/>
          </a:ln>
        </p:spPr>
      </p:cxnSp>
      <p:pic>
        <p:nvPicPr>
          <p:cNvPr id="419" name="Google Shape;419;p46"/>
          <p:cNvPicPr preferRelativeResize="0"/>
          <p:nvPr/>
        </p:nvPicPr>
        <p:blipFill rotWithShape="1">
          <a:blip r:embed="rId3">
            <a:alphaModFix/>
          </a:blip>
          <a:srcRect b="10639" l="6577" r="5850" t="12319"/>
          <a:stretch/>
        </p:blipFill>
        <p:spPr>
          <a:xfrm>
            <a:off x="180001" y="3122449"/>
            <a:ext cx="352927" cy="310502"/>
          </a:xfrm>
          <a:prstGeom prst="rect">
            <a:avLst/>
          </a:prstGeom>
          <a:noFill/>
          <a:ln>
            <a:noFill/>
          </a:ln>
        </p:spPr>
      </p:pic>
      <p:pic>
        <p:nvPicPr>
          <p:cNvPr id="420" name="Google Shape;420;p46"/>
          <p:cNvPicPr preferRelativeResize="0"/>
          <p:nvPr/>
        </p:nvPicPr>
        <p:blipFill rotWithShape="1">
          <a:blip r:embed="rId3">
            <a:alphaModFix/>
          </a:blip>
          <a:srcRect b="10639" l="6577" r="5850" t="12319"/>
          <a:stretch/>
        </p:blipFill>
        <p:spPr>
          <a:xfrm>
            <a:off x="180001" y="3824399"/>
            <a:ext cx="352927" cy="310502"/>
          </a:xfrm>
          <a:prstGeom prst="rect">
            <a:avLst/>
          </a:prstGeom>
          <a:noFill/>
          <a:ln>
            <a:noFill/>
          </a:ln>
        </p:spPr>
      </p:pic>
      <p:pic>
        <p:nvPicPr>
          <p:cNvPr id="421" name="Google Shape;421;p46"/>
          <p:cNvPicPr preferRelativeResize="0"/>
          <p:nvPr/>
        </p:nvPicPr>
        <p:blipFill rotWithShape="1">
          <a:blip r:embed="rId3">
            <a:alphaModFix/>
          </a:blip>
          <a:srcRect b="10639" l="6577" r="5850" t="12319"/>
          <a:stretch/>
        </p:blipFill>
        <p:spPr>
          <a:xfrm>
            <a:off x="180001" y="4526349"/>
            <a:ext cx="352927" cy="310502"/>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cxnSp>
        <p:nvCxnSpPr>
          <p:cNvPr id="426" name="Google Shape;426;p47"/>
          <p:cNvCxnSpPr/>
          <p:nvPr/>
        </p:nvCxnSpPr>
        <p:spPr>
          <a:xfrm>
            <a:off x="180000" y="540000"/>
            <a:ext cx="7920000" cy="0"/>
          </a:xfrm>
          <a:prstGeom prst="straightConnector1">
            <a:avLst/>
          </a:prstGeom>
          <a:noFill/>
          <a:ln cap="flat" cmpd="sng" w="36000">
            <a:solidFill>
              <a:srgbClr val="468A1A"/>
            </a:solidFill>
            <a:prstDash val="solid"/>
            <a:round/>
            <a:headEnd len="sm" w="sm" type="none"/>
            <a:tailEnd len="sm" w="sm" type="none"/>
          </a:ln>
        </p:spPr>
      </p:cxnSp>
      <p:sp>
        <p:nvSpPr>
          <p:cNvPr id="427" name="Google Shape;427;p47"/>
          <p:cNvSpPr txBox="1"/>
          <p:nvPr/>
        </p:nvSpPr>
        <p:spPr>
          <a:xfrm>
            <a:off x="192960" y="72000"/>
            <a:ext cx="8087040" cy="40284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2200" strike="noStrike">
                <a:solidFill>
                  <a:srgbClr val="468A1A"/>
                </a:solidFill>
                <a:latin typeface="Arial"/>
                <a:ea typeface="Arial"/>
                <a:cs typeface="Arial"/>
                <a:sym typeface="Arial"/>
              </a:rPr>
              <a:t>Part 4 — Hands-On: Build &amp; Debug a Mini Biobank Record</a:t>
            </a:r>
            <a:endParaRPr b="0" sz="2200" strike="noStrike">
              <a:latin typeface="Arial"/>
              <a:ea typeface="Arial"/>
              <a:cs typeface="Arial"/>
              <a:sym typeface="Arial"/>
            </a:endParaRPr>
          </a:p>
        </p:txBody>
      </p:sp>
      <p:graphicFrame>
        <p:nvGraphicFramePr>
          <p:cNvPr id="428" name="Google Shape;428;p47"/>
          <p:cNvGraphicFramePr/>
          <p:nvPr/>
        </p:nvGraphicFramePr>
        <p:xfrm>
          <a:off x="450360" y="1116000"/>
          <a:ext cx="3000000" cy="3000000"/>
        </p:xfrm>
        <a:graphic>
          <a:graphicData uri="http://schemas.openxmlformats.org/drawingml/2006/table">
            <a:tbl>
              <a:tblPr>
                <a:noFill/>
                <a:tableStyleId>{FBF6C270-3839-495F-BF6B-5D2B0D70D4C5}</a:tableStyleId>
              </a:tblPr>
              <a:tblGrid>
                <a:gridCol w="982075"/>
                <a:gridCol w="1276925"/>
                <a:gridCol w="884150"/>
                <a:gridCol w="435950"/>
                <a:gridCol w="1455125"/>
                <a:gridCol w="1319400"/>
                <a:gridCol w="1449725"/>
                <a:gridCol w="1376650"/>
              </a:tblGrid>
              <a:tr h="532450">
                <a:tc>
                  <a:txBody>
                    <a:bodyPr/>
                    <a:lstStyle/>
                    <a:p>
                      <a:pPr indent="0" lvl="0" marL="0" marR="0" rtl="0" algn="l">
                        <a:spcBef>
                          <a:spcPts val="0"/>
                        </a:spcBef>
                        <a:spcAft>
                          <a:spcPts val="0"/>
                        </a:spcAft>
                        <a:buNone/>
                      </a:pPr>
                      <a:r>
                        <a:rPr b="1" lang="en-US" sz="1500" strike="noStrike">
                          <a:latin typeface="Calibri"/>
                          <a:ea typeface="Calibri"/>
                          <a:cs typeface="Calibri"/>
                          <a:sym typeface="Calibri"/>
                        </a:rPr>
                        <a:t>patient_id</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1" lang="en-US" sz="1500" strike="noStrike">
                          <a:latin typeface="Calibri"/>
                          <a:ea typeface="Calibri"/>
                          <a:cs typeface="Calibri"/>
                          <a:sym typeface="Calibri"/>
                        </a:rPr>
                        <a:t>date_of_birth</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1" lang="en-US" sz="1500" strike="noStrike">
                          <a:latin typeface="Calibri"/>
                          <a:ea typeface="Calibri"/>
                          <a:cs typeface="Calibri"/>
                          <a:sym typeface="Calibri"/>
                        </a:rPr>
                        <a:t>age_years</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1" lang="en-US" sz="1500" strike="noStrike">
                          <a:latin typeface="Calibri"/>
                          <a:ea typeface="Calibri"/>
                          <a:cs typeface="Calibri"/>
                          <a:sym typeface="Calibri"/>
                        </a:rPr>
                        <a:t>sex</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1" lang="en-US" sz="1500" strike="noStrike">
                          <a:latin typeface="Calibri"/>
                          <a:ea typeface="Calibri"/>
                          <a:cs typeface="Calibri"/>
                          <a:sym typeface="Calibri"/>
                        </a:rPr>
                        <a:t>diagnosis</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1" lang="en-US" sz="1500" strike="noStrike">
                          <a:latin typeface="Calibri"/>
                          <a:ea typeface="Calibri"/>
                          <a:cs typeface="Calibri"/>
                          <a:sym typeface="Calibri"/>
                        </a:rPr>
                        <a:t>collection_date</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1" lang="en-US" sz="1500" strike="noStrike">
                          <a:latin typeface="Calibri"/>
                          <a:ea typeface="Calibri"/>
                          <a:cs typeface="Calibri"/>
                          <a:sym typeface="Calibri"/>
                        </a:rPr>
                        <a:t>sample_type</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c>
                  <a:txBody>
                    <a:bodyPr/>
                    <a:lstStyle/>
                    <a:p>
                      <a:pPr indent="0" lvl="0" marL="0" marR="0" rtl="0" algn="l">
                        <a:spcBef>
                          <a:spcPts val="0"/>
                        </a:spcBef>
                        <a:spcAft>
                          <a:spcPts val="0"/>
                        </a:spcAft>
                        <a:buNone/>
                      </a:pPr>
                      <a:r>
                        <a:rPr b="1" lang="en-US" sz="1500" strike="noStrike">
                          <a:latin typeface="Calibri"/>
                          <a:ea typeface="Calibri"/>
                          <a:cs typeface="Calibri"/>
                          <a:sym typeface="Calibri"/>
                        </a:rPr>
                        <a:t>consent_status</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FD095"/>
                    </a:solidFill>
                  </a:tcPr>
                </a:tc>
              </a:tr>
              <a:tr h="262800">
                <a:tc>
                  <a:txBody>
                    <a:bodyPr/>
                    <a:lstStyle/>
                    <a:p>
                      <a:pPr indent="0" lvl="0" marL="0" marR="0" rtl="0" algn="l">
                        <a:spcBef>
                          <a:spcPts val="0"/>
                        </a:spcBef>
                        <a:spcAft>
                          <a:spcPts val="0"/>
                        </a:spcAft>
                        <a:buNone/>
                      </a:pPr>
                      <a:r>
                        <a:rPr b="0" lang="en-US" sz="1500" strike="noStrike">
                          <a:latin typeface="Calibri"/>
                          <a:ea typeface="Calibri"/>
                          <a:cs typeface="Calibri"/>
                          <a:sym typeface="Calibri"/>
                        </a:rPr>
                        <a:t>PT-2031</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500" strike="noStrike">
                          <a:latin typeface="Calibri"/>
                          <a:ea typeface="Calibri"/>
                          <a:cs typeface="Calibri"/>
                          <a:sym typeface="Calibri"/>
                        </a:rPr>
                        <a:t>03/01/2024</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62800">
                <a:tc>
                  <a:txBody>
                    <a:bodyPr/>
                    <a:lstStyle/>
                    <a:p>
                      <a:pPr indent="0" lvl="0" marL="0" marR="0" rtl="0" algn="l">
                        <a:spcBef>
                          <a:spcPts val="0"/>
                        </a:spcBef>
                        <a:spcAft>
                          <a:spcPts val="0"/>
                        </a:spcAft>
                        <a:buNone/>
                      </a:pPr>
                      <a:r>
                        <a:rPr b="0" lang="en-US" sz="1500" strike="noStrike">
                          <a:latin typeface="Calibri"/>
                          <a:ea typeface="Calibri"/>
                          <a:cs typeface="Calibri"/>
                          <a:sym typeface="Calibri"/>
                        </a:rPr>
                        <a:t>PT-2032</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500" strike="noStrike">
                          <a:latin typeface="Calibri"/>
                          <a:ea typeface="Calibri"/>
                          <a:cs typeface="Calibri"/>
                          <a:sym typeface="Calibri"/>
                        </a:rPr>
                        <a:t>22/11/2019</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9750">
                <a:tc>
                  <a:txBody>
                    <a:bodyPr/>
                    <a:lstStyle/>
                    <a:p>
                      <a:pPr indent="0" lvl="0" marL="0" marR="0" rtl="0" algn="l">
                        <a:spcBef>
                          <a:spcPts val="0"/>
                        </a:spcBef>
                        <a:spcAft>
                          <a:spcPts val="0"/>
                        </a:spcAft>
                        <a:buNone/>
                      </a:pPr>
                      <a:r>
                        <a:rPr b="0" lang="en-US" sz="1500" strike="noStrike">
                          <a:latin typeface="Calibri"/>
                          <a:ea typeface="Calibri"/>
                          <a:cs typeface="Calibri"/>
                          <a:sym typeface="Calibri"/>
                        </a:rPr>
                        <a:t>PT-2032</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500" strike="noStrike">
                          <a:latin typeface="Calibri"/>
                          <a:ea typeface="Calibri"/>
                          <a:cs typeface="Calibri"/>
                          <a:sym typeface="Calibri"/>
                        </a:rPr>
                        <a:t>30/06/2016</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500" strike="noStrike">
                          <a:latin typeface="Calibri"/>
                          <a:ea typeface="Calibri"/>
                          <a:cs typeface="Calibri"/>
                          <a:sym typeface="Calibri"/>
                        </a:rPr>
                        <a:t>8</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500" strike="noStrike">
                          <a:latin typeface="Calibri"/>
                          <a:ea typeface="Calibri"/>
                          <a:cs typeface="Calibri"/>
                          <a:sym typeface="Calibri"/>
                        </a:rPr>
                        <a:t>M</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500" strike="noStrike">
                          <a:latin typeface="Calibri"/>
                          <a:ea typeface="Calibri"/>
                          <a:cs typeface="Calibri"/>
                          <a:sym typeface="Calibri"/>
                        </a:rPr>
                        <a:t>Ewing sarcoma</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500" strike="noStrike">
                          <a:latin typeface="Calibri"/>
                          <a:ea typeface="Calibri"/>
                          <a:cs typeface="Calibri"/>
                          <a:sym typeface="Calibri"/>
                        </a:rPr>
                        <a:t>10/09/2024</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500" strike="noStrike">
                          <a:latin typeface="Calibri"/>
                          <a:ea typeface="Calibri"/>
                          <a:cs typeface="Calibri"/>
                          <a:sym typeface="Calibri"/>
                        </a:rPr>
                        <a:t>Tumor tissue</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500" strike="noStrike">
                          <a:latin typeface="Calibri"/>
                          <a:ea typeface="Calibri"/>
                          <a:cs typeface="Calibri"/>
                          <a:sym typeface="Calibri"/>
                        </a:rPr>
                        <a:t>Consented</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9750">
                <a:tc>
                  <a:txBody>
                    <a:bodyPr/>
                    <a:lstStyle/>
                    <a:p>
                      <a:pPr indent="0" lvl="0" marL="0" marR="0" rtl="0" algn="l">
                        <a:spcBef>
                          <a:spcPts val="0"/>
                        </a:spcBef>
                        <a:spcAft>
                          <a:spcPts val="0"/>
                        </a:spcAft>
                        <a:buNone/>
                      </a:pPr>
                      <a:r>
                        <a:rPr b="0" lang="en-US" sz="1500" strike="noStrike">
                          <a:latin typeface="Calibri"/>
                          <a:ea typeface="Calibri"/>
                          <a:cs typeface="Calibri"/>
                          <a:sym typeface="Calibri"/>
                        </a:rPr>
                        <a:t>PT-2033</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500" strike="noStrike">
                          <a:latin typeface="Calibri"/>
                          <a:ea typeface="Calibri"/>
                          <a:cs typeface="Calibri"/>
                          <a:sym typeface="Calibri"/>
                        </a:rPr>
                        <a:t>14/05/2023</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500" strike="noStrike">
                          <a:latin typeface="Calibri"/>
                          <a:ea typeface="Calibri"/>
                          <a:cs typeface="Calibri"/>
                          <a:sym typeface="Calibri"/>
                        </a:rPr>
                        <a:t>18</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500" strike="noStrike">
                          <a:latin typeface="Calibri"/>
                          <a:ea typeface="Calibri"/>
                          <a:cs typeface="Calibri"/>
                          <a:sym typeface="Calibri"/>
                        </a:rPr>
                        <a:t>F</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500" strike="noStrike">
                          <a:latin typeface="Calibri"/>
                          <a:ea typeface="Calibri"/>
                          <a:cs typeface="Calibri"/>
                          <a:sym typeface="Calibri"/>
                        </a:rPr>
                        <a:t>Retinoblastoma</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500" strike="noStrike">
                          <a:latin typeface="Calibri"/>
                          <a:ea typeface="Calibri"/>
                          <a:cs typeface="Calibri"/>
                          <a:sym typeface="Calibri"/>
                        </a:rPr>
                        <a:t>02/11/2024</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500" strike="noStrike">
                          <a:latin typeface="Calibri"/>
                          <a:ea typeface="Calibri"/>
                          <a:cs typeface="Calibri"/>
                          <a:sym typeface="Calibri"/>
                        </a:rPr>
                        <a:t>Tumor tissue</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500" strike="noStrike">
                          <a:latin typeface="Calibri"/>
                          <a:ea typeface="Calibri"/>
                          <a:cs typeface="Calibri"/>
                          <a:sym typeface="Calibri"/>
                        </a:rPr>
                        <a:t>Consented</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9750">
                <a:tc>
                  <a:txBody>
                    <a:bodyPr/>
                    <a:lstStyle/>
                    <a:p>
                      <a:pPr indent="0" lvl="0" marL="0" marR="0" rtl="0" algn="l">
                        <a:spcBef>
                          <a:spcPts val="0"/>
                        </a:spcBef>
                        <a:spcAft>
                          <a:spcPts val="0"/>
                        </a:spcAft>
                        <a:buNone/>
                      </a:pPr>
                      <a:r>
                        <a:rPr b="0" lang="en-US" sz="1500" strike="noStrike">
                          <a:latin typeface="Calibri"/>
                          <a:ea typeface="Calibri"/>
                          <a:cs typeface="Calibri"/>
                          <a:sym typeface="Calibri"/>
                        </a:rPr>
                        <a:t>PT-2034</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500" strike="noStrike">
                          <a:latin typeface="Calibri"/>
                          <a:ea typeface="Calibri"/>
                          <a:cs typeface="Calibri"/>
                          <a:sym typeface="Calibri"/>
                        </a:rPr>
                        <a:t>08/02/2020</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500" strike="noStrike">
                          <a:latin typeface="Calibri"/>
                          <a:ea typeface="Calibri"/>
                          <a:cs typeface="Calibri"/>
                          <a:sym typeface="Calibri"/>
                        </a:rPr>
                        <a:t>5</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500" strike="noStrike">
                          <a:latin typeface="Calibri"/>
                          <a:ea typeface="Calibri"/>
                          <a:cs typeface="Calibri"/>
                          <a:sym typeface="Calibri"/>
                        </a:rPr>
                        <a:t>Wilms tumor</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500" strike="noStrike">
                          <a:latin typeface="Calibri"/>
                          <a:ea typeface="Calibri"/>
                          <a:cs typeface="Calibri"/>
                          <a:sym typeface="Calibri"/>
                        </a:rPr>
                        <a:t>01/03/2025</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500" strike="noStrike">
                          <a:latin typeface="Calibri"/>
                          <a:ea typeface="Calibri"/>
                          <a:cs typeface="Calibri"/>
                          <a:sym typeface="Calibri"/>
                        </a:rPr>
                        <a:t>Tumor tissue</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500" strike="noStrike">
                          <a:latin typeface="Calibri"/>
                          <a:ea typeface="Calibri"/>
                          <a:cs typeface="Calibri"/>
                          <a:sym typeface="Calibri"/>
                        </a:rPr>
                        <a:t>Consented</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9750">
                <a:tc>
                  <a:txBody>
                    <a:bodyPr/>
                    <a:lstStyle/>
                    <a:p>
                      <a:pPr indent="0" lvl="0" marL="0" marR="0" rtl="0" algn="l">
                        <a:spcBef>
                          <a:spcPts val="0"/>
                        </a:spcBef>
                        <a:spcAft>
                          <a:spcPts val="0"/>
                        </a:spcAft>
                        <a:buNone/>
                      </a:pPr>
                      <a:r>
                        <a:rPr b="0" lang="en-US" sz="1500" strike="noStrike">
                          <a:latin typeface="Calibri"/>
                          <a:ea typeface="Calibri"/>
                          <a:cs typeface="Calibri"/>
                          <a:sym typeface="Calibri"/>
                        </a:rPr>
                        <a:t>PT-2035</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500" strike="noStrike">
                          <a:latin typeface="Calibri"/>
                          <a:ea typeface="Calibri"/>
                          <a:cs typeface="Calibri"/>
                          <a:sym typeface="Calibri"/>
                        </a:rPr>
                        <a:t>19/07/2022</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500" strike="noStrike">
                          <a:latin typeface="Calibri"/>
                          <a:ea typeface="Calibri"/>
                          <a:cs typeface="Calibri"/>
                          <a:sym typeface="Calibri"/>
                        </a:rPr>
                        <a:t>2</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500" strike="noStrike">
                          <a:latin typeface="Calibri"/>
                          <a:ea typeface="Calibri"/>
                          <a:cs typeface="Calibri"/>
                          <a:sym typeface="Calibri"/>
                        </a:rPr>
                        <a:t>M</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500" strike="noStrike">
                          <a:latin typeface="Calibri"/>
                          <a:ea typeface="Calibri"/>
                          <a:cs typeface="Calibri"/>
                          <a:sym typeface="Calibri"/>
                        </a:rPr>
                        <a:t>Neuroblastoma</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500" strike="noStrike">
                          <a:latin typeface="Calibri"/>
                          <a:ea typeface="Calibri"/>
                          <a:cs typeface="Calibri"/>
                          <a:sym typeface="Calibri"/>
                        </a:rPr>
                        <a:t>05/12/2021</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500" strike="noStrike">
                          <a:latin typeface="Calibri"/>
                          <a:ea typeface="Calibri"/>
                          <a:cs typeface="Calibri"/>
                          <a:sym typeface="Calibri"/>
                        </a:rPr>
                        <a:t>Tumor tissue</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500" strike="noStrike">
                          <a:latin typeface="Calibri"/>
                          <a:ea typeface="Calibri"/>
                          <a:cs typeface="Calibri"/>
                          <a:sym typeface="Calibri"/>
                        </a:rPr>
                        <a:t>Consented</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9750">
                <a:tc>
                  <a:txBody>
                    <a:bodyPr/>
                    <a:lstStyle/>
                    <a:p>
                      <a:pPr indent="0" lvl="0" marL="0" marR="0" rtl="0" algn="l">
                        <a:spcBef>
                          <a:spcPts val="0"/>
                        </a:spcBef>
                        <a:spcAft>
                          <a:spcPts val="0"/>
                        </a:spcAft>
                        <a:buNone/>
                      </a:pPr>
                      <a:r>
                        <a:rPr b="0" lang="en-US" sz="1500" strike="noStrike">
                          <a:latin typeface="Calibri"/>
                          <a:ea typeface="Calibri"/>
                          <a:cs typeface="Calibri"/>
                          <a:sym typeface="Calibri"/>
                        </a:rPr>
                        <a:t>PT-2036</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500" strike="noStrike">
                          <a:latin typeface="Calibri"/>
                          <a:ea typeface="Calibri"/>
                          <a:cs typeface="Calibri"/>
                          <a:sym typeface="Calibri"/>
                        </a:rPr>
                        <a:t>27/09/2015</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500" strike="noStrike">
                          <a:latin typeface="Calibri"/>
                          <a:ea typeface="Calibri"/>
                          <a:cs typeface="Calibri"/>
                          <a:sym typeface="Calibri"/>
                        </a:rPr>
                        <a:t>9</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500" strike="noStrike">
                          <a:latin typeface="Calibri"/>
                          <a:ea typeface="Calibri"/>
                          <a:cs typeface="Calibri"/>
                          <a:sym typeface="Calibri"/>
                        </a:rPr>
                        <a:t>F</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500" strike="noStrike">
                          <a:latin typeface="Calibri"/>
                          <a:ea typeface="Calibri"/>
                          <a:cs typeface="Calibri"/>
                          <a:sym typeface="Calibri"/>
                        </a:rPr>
                        <a:t>kid kidney tumor</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500" strike="noStrike">
                          <a:latin typeface="Calibri"/>
                          <a:ea typeface="Calibri"/>
                          <a:cs typeface="Calibri"/>
                          <a:sym typeface="Calibri"/>
                        </a:rPr>
                        <a:t>14/10/2024</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500" strike="noStrike">
                          <a:latin typeface="Calibri"/>
                          <a:ea typeface="Calibri"/>
                          <a:cs typeface="Calibri"/>
                          <a:sym typeface="Calibri"/>
                        </a:rPr>
                        <a:t>Tumor tissue</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500" strike="noStrike">
                          <a:latin typeface="Calibri"/>
                          <a:ea typeface="Calibri"/>
                          <a:cs typeface="Calibri"/>
                          <a:sym typeface="Calibri"/>
                        </a:rPr>
                        <a:t>Consented</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8325">
                <a:tc>
                  <a:txBody>
                    <a:bodyPr/>
                    <a:lstStyle/>
                    <a:p>
                      <a:pPr indent="0" lvl="0" marL="0" marR="0" rtl="0" algn="l">
                        <a:spcBef>
                          <a:spcPts val="0"/>
                        </a:spcBef>
                        <a:spcAft>
                          <a:spcPts val="0"/>
                        </a:spcAft>
                        <a:buNone/>
                      </a:pPr>
                      <a:r>
                        <a:rPr b="0" lang="en-US" sz="1500" strike="noStrike">
                          <a:latin typeface="Calibri"/>
                          <a:ea typeface="Calibri"/>
                          <a:cs typeface="Calibri"/>
                          <a:sym typeface="Calibri"/>
                        </a:rPr>
                        <a:t>PT-2037</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500" strike="noStrike">
                          <a:latin typeface="Calibri"/>
                          <a:ea typeface="Calibri"/>
                          <a:cs typeface="Calibri"/>
                          <a:sym typeface="Calibri"/>
                        </a:rPr>
                        <a:t>01/12/2018</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500" strike="noStrike">
                          <a:latin typeface="Calibri"/>
                          <a:ea typeface="Calibri"/>
                          <a:cs typeface="Calibri"/>
                          <a:sym typeface="Calibri"/>
                        </a:rPr>
                        <a:t>6</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500" strike="noStrike">
                          <a:latin typeface="Calibri"/>
                          <a:ea typeface="Calibri"/>
                          <a:cs typeface="Calibri"/>
                          <a:sym typeface="Calibri"/>
                        </a:rPr>
                        <a:t>M</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500" strike="noStrike">
                          <a:latin typeface="Calibri"/>
                          <a:ea typeface="Calibri"/>
                          <a:cs typeface="Calibri"/>
                          <a:sym typeface="Calibri"/>
                        </a:rPr>
                        <a:t>Osteosarcoma</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500" strike="noStrike">
                          <a:latin typeface="Calibri"/>
                          <a:ea typeface="Calibri"/>
                          <a:cs typeface="Calibri"/>
                          <a:sym typeface="Calibri"/>
                        </a:rPr>
                        <a:t>20/01/2025</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500" strike="noStrike">
                          <a:latin typeface="Calibri"/>
                          <a:ea typeface="Calibri"/>
                          <a:cs typeface="Calibri"/>
                          <a:sym typeface="Calibri"/>
                        </a:rPr>
                        <a:t>Tumor tissue</a:t>
                      </a:r>
                      <a:endParaRPr b="0" sz="1500" strike="noStrike">
                        <a:latin typeface="Arial"/>
                        <a:ea typeface="Arial"/>
                        <a:cs typeface="Arial"/>
                        <a:sym typeface="Arial"/>
                      </a:endParaRPr>
                    </a:p>
                  </a:txBody>
                  <a:tcPr marT="45725" marB="45725"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429" name="Google Shape;429;p47"/>
          <p:cNvSpPr txBox="1"/>
          <p:nvPr/>
        </p:nvSpPr>
        <p:spPr>
          <a:xfrm>
            <a:off x="1710000" y="684000"/>
            <a:ext cx="6660000" cy="43164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n-US" sz="1200" strike="noStrike">
                <a:latin typeface="Arial"/>
                <a:ea typeface="Arial"/>
                <a:cs typeface="Arial"/>
                <a:sym typeface="Arial"/>
              </a:rPr>
              <a:t>The mini biobank exercise table — </a:t>
            </a:r>
            <a:r>
              <a:rPr b="1" lang="en-US" sz="1200" strike="noStrike">
                <a:latin typeface="Arial"/>
                <a:ea typeface="Arial"/>
                <a:cs typeface="Arial"/>
                <a:sym typeface="Arial"/>
              </a:rPr>
              <a:t>2 records to complete, 6 records each hiding one error</a:t>
            </a:r>
            <a:r>
              <a:rPr b="0" lang="en-US" sz="1200" strike="noStrike">
                <a:latin typeface="Arial"/>
                <a:ea typeface="Arial"/>
                <a:cs typeface="Arial"/>
                <a:sym typeface="Arial"/>
              </a:rPr>
              <a:t>. </a:t>
            </a:r>
            <a:endParaRPr b="0" sz="1200" strike="noStrike">
              <a:latin typeface="Arial"/>
              <a:ea typeface="Arial"/>
              <a:cs typeface="Arial"/>
              <a:sym typeface="Arial"/>
            </a:endParaRPr>
          </a:p>
        </p:txBody>
      </p:sp>
      <p:sp>
        <p:nvSpPr>
          <p:cNvPr id="430" name="Google Shape;430;p47"/>
          <p:cNvSpPr txBox="1"/>
          <p:nvPr/>
        </p:nvSpPr>
        <p:spPr>
          <a:xfrm>
            <a:off x="90000" y="4496060"/>
            <a:ext cx="9900000" cy="4317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i="1" lang="en-US" sz="1200" strike="noStrike">
                <a:latin typeface="Arial"/>
                <a:ea typeface="Arial"/>
                <a:cs typeface="Arial"/>
                <a:sym typeface="Arial"/>
              </a:rPr>
              <a:t>Referral note —</a:t>
            </a:r>
            <a:r>
              <a:rPr b="1" i="1" lang="en-US" sz="1200" strike="noStrike">
                <a:latin typeface="Arial"/>
                <a:ea typeface="Arial"/>
                <a:cs typeface="Arial"/>
                <a:sym typeface="Arial"/>
              </a:rPr>
              <a:t> record 1</a:t>
            </a:r>
            <a:r>
              <a:rPr b="0" i="1" lang="en-US" sz="1200" strike="noStrike">
                <a:latin typeface="Arial"/>
                <a:ea typeface="Arial"/>
                <a:cs typeface="Arial"/>
                <a:sym typeface="Arial"/>
              </a:rPr>
              <a:t> (date of birth 3 January 2024). Female infant. Presented with a palpable abdominal mass; imaging and biopsy were consistent with neuroblastoma. A tumor tissue sample was biobanked on 20 March 2025, after the parents signed the institutional consent form. </a:t>
            </a:r>
            <a:endParaRPr b="0" sz="1200" strike="noStrike">
              <a:latin typeface="Arial"/>
              <a:ea typeface="Arial"/>
              <a:cs typeface="Arial"/>
              <a:sym typeface="Arial"/>
            </a:endParaRPr>
          </a:p>
        </p:txBody>
      </p:sp>
      <p:sp>
        <p:nvSpPr>
          <p:cNvPr id="431" name="Google Shape;431;p47"/>
          <p:cNvSpPr txBox="1"/>
          <p:nvPr/>
        </p:nvSpPr>
        <p:spPr>
          <a:xfrm>
            <a:off x="108000" y="4968360"/>
            <a:ext cx="9720000" cy="43164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i="1" lang="en-US" sz="1200" strike="noStrike">
                <a:latin typeface="Arial"/>
                <a:ea typeface="Arial"/>
                <a:cs typeface="Arial"/>
                <a:sym typeface="Arial"/>
              </a:rPr>
              <a:t>Referral note — </a:t>
            </a:r>
            <a:r>
              <a:rPr b="1" i="1" lang="en-US" sz="1200" strike="noStrike">
                <a:latin typeface="Arial"/>
                <a:ea typeface="Arial"/>
                <a:cs typeface="Arial"/>
                <a:sym typeface="Arial"/>
              </a:rPr>
              <a:t>record 2</a:t>
            </a:r>
            <a:r>
              <a:rPr b="0" i="1" lang="en-US" sz="1200" strike="noStrike">
                <a:latin typeface="Arial"/>
                <a:ea typeface="Arial"/>
                <a:cs typeface="Arial"/>
                <a:sym typeface="Arial"/>
              </a:rPr>
              <a:t> (date of birth 22 November 2019). Male child. Diagnosed with osteosarcoma of the left femur; a tumor biopsy sample was biobanked on 5 June 2024, following parental consent.</a:t>
            </a:r>
            <a:r>
              <a:rPr b="0" lang="en-US" sz="1000" strike="noStrike">
                <a:latin typeface="Arial"/>
                <a:ea typeface="Arial"/>
                <a:cs typeface="Arial"/>
                <a:sym typeface="Arial"/>
              </a:rPr>
              <a:t> </a:t>
            </a:r>
            <a:endParaRPr b="0" sz="1000" strike="noStrike">
              <a:latin typeface="Arial"/>
              <a:ea typeface="Arial"/>
              <a:cs typeface="Arial"/>
              <a:sym typeface="Arial"/>
            </a:endParaRPr>
          </a:p>
        </p:txBody>
      </p:sp>
      <p:sp>
        <p:nvSpPr>
          <p:cNvPr id="432" name="Google Shape;432;p47"/>
          <p:cNvSpPr txBox="1"/>
          <p:nvPr/>
        </p:nvSpPr>
        <p:spPr>
          <a:xfrm>
            <a:off x="9180000" y="255600"/>
            <a:ext cx="720000" cy="3021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n-US" sz="1500" strike="noStrike">
                <a:solidFill>
                  <a:srgbClr val="468A1A"/>
                </a:solidFill>
                <a:latin typeface="Arial"/>
                <a:ea typeface="Arial"/>
                <a:cs typeface="Arial"/>
                <a:sym typeface="Arial"/>
              </a:rPr>
              <a:t>EX. </a:t>
            </a:r>
            <a:r>
              <a:rPr lang="en-US" sz="1500">
                <a:solidFill>
                  <a:srgbClr val="468A1A"/>
                </a:solidFill>
              </a:rPr>
              <a:t>2</a:t>
            </a:r>
            <a:endParaRPr b="0" sz="1500" strike="noStrike">
              <a:latin typeface="Arial"/>
              <a:ea typeface="Arial"/>
              <a:cs typeface="Arial"/>
              <a:sym typeface="Arial"/>
            </a:endParaRPr>
          </a:p>
        </p:txBody>
      </p:sp>
      <p:pic>
        <p:nvPicPr>
          <p:cNvPr id="433" name="Google Shape;433;p47"/>
          <p:cNvPicPr preferRelativeResize="0"/>
          <p:nvPr/>
        </p:nvPicPr>
        <p:blipFill rotWithShape="1">
          <a:blip r:embed="rId3">
            <a:alphaModFix/>
          </a:blip>
          <a:srcRect b="2353" l="10058" r="2560" t="9526"/>
          <a:stretch/>
        </p:blipFill>
        <p:spPr>
          <a:xfrm>
            <a:off x="8805875" y="190800"/>
            <a:ext cx="374126" cy="4317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cxnSp>
        <p:nvCxnSpPr>
          <p:cNvPr id="438" name="Google Shape;438;p48"/>
          <p:cNvCxnSpPr/>
          <p:nvPr/>
        </p:nvCxnSpPr>
        <p:spPr>
          <a:xfrm>
            <a:off x="180000" y="540000"/>
            <a:ext cx="7920000" cy="0"/>
          </a:xfrm>
          <a:prstGeom prst="straightConnector1">
            <a:avLst/>
          </a:prstGeom>
          <a:noFill/>
          <a:ln cap="flat" cmpd="sng" w="36000">
            <a:solidFill>
              <a:srgbClr val="468A1A"/>
            </a:solidFill>
            <a:prstDash val="solid"/>
            <a:round/>
            <a:headEnd len="sm" w="sm" type="none"/>
            <a:tailEnd len="sm" w="sm" type="none"/>
          </a:ln>
        </p:spPr>
      </p:cxnSp>
      <p:sp>
        <p:nvSpPr>
          <p:cNvPr id="439" name="Google Shape;439;p48"/>
          <p:cNvSpPr txBox="1"/>
          <p:nvPr/>
        </p:nvSpPr>
        <p:spPr>
          <a:xfrm>
            <a:off x="192960" y="72000"/>
            <a:ext cx="8087040" cy="40284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2200" strike="noStrike">
                <a:solidFill>
                  <a:srgbClr val="468A1A"/>
                </a:solidFill>
                <a:latin typeface="Arial"/>
                <a:ea typeface="Arial"/>
                <a:cs typeface="Arial"/>
                <a:sym typeface="Arial"/>
              </a:rPr>
              <a:t>Part 4 — Hands-On: Build &amp; Debug a Mini Biobank Record</a:t>
            </a:r>
            <a:endParaRPr b="0" sz="2200" strike="noStrike">
              <a:latin typeface="Arial"/>
              <a:ea typeface="Arial"/>
              <a:cs typeface="Arial"/>
              <a:sym typeface="Arial"/>
            </a:endParaRPr>
          </a:p>
        </p:txBody>
      </p:sp>
      <p:sp>
        <p:nvSpPr>
          <p:cNvPr id="440" name="Google Shape;440;p48"/>
          <p:cNvSpPr txBox="1"/>
          <p:nvPr/>
        </p:nvSpPr>
        <p:spPr>
          <a:xfrm>
            <a:off x="1440000" y="1937500"/>
            <a:ext cx="6992700" cy="6063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1500" strike="noStrike">
                <a:latin typeface="Arial"/>
                <a:ea typeface="Arial"/>
                <a:cs typeface="Arial"/>
                <a:sym typeface="Arial"/>
              </a:rPr>
              <a:t>Design 1:</a:t>
            </a:r>
            <a:r>
              <a:rPr b="0" lang="en-US" sz="1500" strike="noStrike">
                <a:latin typeface="Arial"/>
                <a:ea typeface="Arial"/>
                <a:cs typeface="Arial"/>
                <a:sym typeface="Arial"/>
              </a:rPr>
              <a:t> comparing treatment vs control using a certain drug, testing on three different cell lines and harvesting after 24, 36, 48 hours. </a:t>
            </a:r>
            <a:r>
              <a:rPr b="0" lang="en-US" sz="1200" strike="noStrike">
                <a:latin typeface="Arial"/>
                <a:ea typeface="Arial"/>
                <a:cs typeface="Arial"/>
                <a:sym typeface="Arial"/>
              </a:rPr>
              <a:t> </a:t>
            </a:r>
            <a:endParaRPr b="0" sz="1200" strike="noStrike">
              <a:latin typeface="Arial"/>
              <a:ea typeface="Arial"/>
              <a:cs typeface="Arial"/>
              <a:sym typeface="Arial"/>
            </a:endParaRPr>
          </a:p>
        </p:txBody>
      </p:sp>
      <p:sp>
        <p:nvSpPr>
          <p:cNvPr id="441" name="Google Shape;441;p48"/>
          <p:cNvSpPr txBox="1"/>
          <p:nvPr/>
        </p:nvSpPr>
        <p:spPr>
          <a:xfrm>
            <a:off x="1440000" y="2732575"/>
            <a:ext cx="7068900" cy="6063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1500" strike="noStrike">
                <a:solidFill>
                  <a:srgbClr val="000000"/>
                </a:solidFill>
                <a:latin typeface="Arial"/>
                <a:ea typeface="Arial"/>
                <a:cs typeface="Arial"/>
                <a:sym typeface="Arial"/>
              </a:rPr>
              <a:t>Design 2:</a:t>
            </a:r>
            <a:r>
              <a:rPr b="0" lang="en-US" sz="1500" strike="noStrike">
                <a:solidFill>
                  <a:srgbClr val="000000"/>
                </a:solidFill>
                <a:latin typeface="Arial"/>
                <a:ea typeface="Arial"/>
                <a:cs typeface="Arial"/>
                <a:sym typeface="Arial"/>
              </a:rPr>
              <a:t> comparing </a:t>
            </a:r>
            <a:r>
              <a:rPr lang="en-US" sz="1500"/>
              <a:t>uninjured</a:t>
            </a:r>
            <a:r>
              <a:rPr b="0" lang="en-US" sz="1500" strike="noStrike">
                <a:solidFill>
                  <a:srgbClr val="000000"/>
                </a:solidFill>
                <a:latin typeface="Arial"/>
                <a:ea typeface="Arial"/>
                <a:cs typeface="Arial"/>
                <a:sym typeface="Arial"/>
              </a:rPr>
              <a:t> skin samples vs burn skin sample in </a:t>
            </a:r>
            <a:r>
              <a:rPr lang="en-US" sz="1500"/>
              <a:t>pediatric</a:t>
            </a:r>
            <a:r>
              <a:rPr b="0" lang="en-US" sz="1500" strike="noStrike">
                <a:solidFill>
                  <a:srgbClr val="000000"/>
                </a:solidFill>
                <a:latin typeface="Arial"/>
                <a:ea typeface="Arial"/>
                <a:cs typeface="Arial"/>
                <a:sym typeface="Arial"/>
              </a:rPr>
              <a:t> patients to </a:t>
            </a:r>
            <a:r>
              <a:rPr lang="en-US" sz="1500"/>
              <a:t>identify</a:t>
            </a:r>
            <a:r>
              <a:rPr b="0" lang="en-US" sz="1500" strike="noStrike">
                <a:solidFill>
                  <a:srgbClr val="000000"/>
                </a:solidFill>
                <a:latin typeface="Arial"/>
                <a:ea typeface="Arial"/>
                <a:cs typeface="Arial"/>
                <a:sym typeface="Arial"/>
              </a:rPr>
              <a:t> biomarkers and their impact in disease progression. </a:t>
            </a:r>
            <a:r>
              <a:rPr b="0" lang="en-US" sz="1500" strike="noStrike">
                <a:solidFill>
                  <a:srgbClr val="DDDDDD"/>
                </a:solidFill>
                <a:latin typeface="Arial"/>
                <a:ea typeface="Arial"/>
                <a:cs typeface="Arial"/>
                <a:sym typeface="Arial"/>
              </a:rPr>
              <a:t> </a:t>
            </a:r>
            <a:endParaRPr b="0" sz="1500" strike="noStrike">
              <a:latin typeface="Arial"/>
              <a:ea typeface="Arial"/>
              <a:cs typeface="Arial"/>
              <a:sym typeface="Arial"/>
            </a:endParaRPr>
          </a:p>
        </p:txBody>
      </p:sp>
      <p:sp>
        <p:nvSpPr>
          <p:cNvPr id="442" name="Google Shape;442;p48"/>
          <p:cNvSpPr txBox="1"/>
          <p:nvPr/>
        </p:nvSpPr>
        <p:spPr>
          <a:xfrm>
            <a:off x="1440000" y="3527650"/>
            <a:ext cx="7284900" cy="8283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n-US" sz="1500" strike="noStrike">
                <a:solidFill>
                  <a:srgbClr val="000000"/>
                </a:solidFill>
                <a:latin typeface="Arial"/>
                <a:ea typeface="Arial"/>
                <a:cs typeface="Arial"/>
                <a:sym typeface="Arial"/>
              </a:rPr>
              <a:t>Design 3:</a:t>
            </a:r>
            <a:r>
              <a:rPr b="0" lang="en-US" sz="1500" strike="noStrike">
                <a:solidFill>
                  <a:srgbClr val="000000"/>
                </a:solidFill>
                <a:latin typeface="Arial"/>
                <a:ea typeface="Arial"/>
                <a:cs typeface="Arial"/>
                <a:sym typeface="Arial"/>
              </a:rPr>
              <a:t> a multicentric study recruits 200 subjects (100 controls, 100 patients). The goal is to study the association of a specific biomarker with a specific tumor.</a:t>
            </a:r>
            <a:endParaRPr b="0" sz="1500" strike="noStrike">
              <a:latin typeface="Arial"/>
              <a:ea typeface="Arial"/>
              <a:cs typeface="Arial"/>
              <a:sym typeface="Arial"/>
            </a:endParaRPr>
          </a:p>
          <a:p>
            <a:pPr indent="0" lvl="0" marL="0" marR="0" rtl="0" algn="l">
              <a:lnSpc>
                <a:spcPct val="100000"/>
              </a:lnSpc>
              <a:spcBef>
                <a:spcPts val="57"/>
              </a:spcBef>
              <a:spcAft>
                <a:spcPts val="0"/>
              </a:spcAft>
              <a:buNone/>
            </a:pPr>
            <a:r>
              <a:rPr b="0" lang="en-US" sz="1500" strike="noStrike">
                <a:solidFill>
                  <a:srgbClr val="000000"/>
                </a:solidFill>
                <a:latin typeface="Arial"/>
                <a:ea typeface="Arial"/>
                <a:cs typeface="Arial"/>
                <a:sym typeface="Arial"/>
              </a:rPr>
              <a:t>A biological sample is collected from each subject. </a:t>
            </a:r>
            <a:endParaRPr b="0" sz="1500" strike="noStrike">
              <a:latin typeface="Arial"/>
              <a:ea typeface="Arial"/>
              <a:cs typeface="Arial"/>
              <a:sym typeface="Arial"/>
            </a:endParaRPr>
          </a:p>
        </p:txBody>
      </p:sp>
      <p:sp>
        <p:nvSpPr>
          <p:cNvPr id="443" name="Google Shape;443;p48"/>
          <p:cNvSpPr txBox="1"/>
          <p:nvPr/>
        </p:nvSpPr>
        <p:spPr>
          <a:xfrm>
            <a:off x="540000" y="1002960"/>
            <a:ext cx="9000000" cy="725400"/>
          </a:xfrm>
          <a:prstGeom prst="rect">
            <a:avLst/>
          </a:prstGeom>
          <a:noFill/>
          <a:ln>
            <a:noFill/>
          </a:ln>
        </p:spPr>
        <p:txBody>
          <a:bodyPr anchorCtr="1" anchor="t" bIns="45000" lIns="90000" spcFirstLastPara="1" rIns="90000" wrap="square" tIns="45000">
            <a:noAutofit/>
          </a:bodyPr>
          <a:lstStyle/>
          <a:p>
            <a:pPr indent="0" lvl="0" marL="0" marR="0" rtl="0" algn="ctr">
              <a:spcBef>
                <a:spcPts val="0"/>
              </a:spcBef>
              <a:spcAft>
                <a:spcPts val="0"/>
              </a:spcAft>
              <a:buNone/>
            </a:pPr>
            <a:r>
              <a:rPr b="1" lang="en-US" sz="1500" strike="noStrike">
                <a:solidFill>
                  <a:srgbClr val="468A1A"/>
                </a:solidFill>
                <a:latin typeface="Arial"/>
                <a:ea typeface="Arial"/>
                <a:cs typeface="Arial"/>
                <a:sym typeface="Arial"/>
              </a:rPr>
              <a:t>Here are three experimental designs. Chose at least one and write down, based on what you consider relevant, which </a:t>
            </a:r>
            <a:r>
              <a:rPr b="1" lang="en-US" sz="1500">
                <a:solidFill>
                  <a:srgbClr val="468A1A"/>
                </a:solidFill>
              </a:rPr>
              <a:t>metadata</a:t>
            </a:r>
            <a:r>
              <a:rPr b="1" lang="en-US" sz="1500" strike="noStrike">
                <a:solidFill>
                  <a:srgbClr val="468A1A"/>
                </a:solidFill>
                <a:latin typeface="Arial"/>
                <a:ea typeface="Arial"/>
                <a:cs typeface="Arial"/>
                <a:sym typeface="Arial"/>
              </a:rPr>
              <a:t> fields </a:t>
            </a:r>
            <a:r>
              <a:rPr b="1" lang="en-US" sz="1500">
                <a:solidFill>
                  <a:srgbClr val="468A1A"/>
                </a:solidFill>
              </a:rPr>
              <a:t>would you include</a:t>
            </a:r>
            <a:r>
              <a:rPr b="1" lang="en-US" sz="1500" strike="noStrike">
                <a:solidFill>
                  <a:srgbClr val="468A1A"/>
                </a:solidFill>
                <a:latin typeface="Arial"/>
                <a:ea typeface="Arial"/>
                <a:cs typeface="Arial"/>
                <a:sym typeface="Arial"/>
              </a:rPr>
              <a:t> and how would you structure them.</a:t>
            </a:r>
            <a:endParaRPr b="0" sz="1500" strike="noStrike">
              <a:latin typeface="Arial"/>
              <a:ea typeface="Arial"/>
              <a:cs typeface="Arial"/>
              <a:sym typeface="Arial"/>
            </a:endParaRPr>
          </a:p>
        </p:txBody>
      </p:sp>
      <p:sp>
        <p:nvSpPr>
          <p:cNvPr id="444" name="Google Shape;444;p48"/>
          <p:cNvSpPr txBox="1"/>
          <p:nvPr/>
        </p:nvSpPr>
        <p:spPr>
          <a:xfrm>
            <a:off x="9180000" y="255600"/>
            <a:ext cx="720000" cy="3021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n-US" sz="1500" strike="noStrike">
                <a:solidFill>
                  <a:srgbClr val="468A1A"/>
                </a:solidFill>
                <a:latin typeface="Arial"/>
                <a:ea typeface="Arial"/>
                <a:cs typeface="Arial"/>
                <a:sym typeface="Arial"/>
              </a:rPr>
              <a:t>EX. </a:t>
            </a:r>
            <a:r>
              <a:rPr lang="en-US" sz="1500">
                <a:solidFill>
                  <a:srgbClr val="468A1A"/>
                </a:solidFill>
              </a:rPr>
              <a:t>3</a:t>
            </a:r>
            <a:endParaRPr b="0" sz="1500" strike="noStrike">
              <a:latin typeface="Arial"/>
              <a:ea typeface="Arial"/>
              <a:cs typeface="Arial"/>
              <a:sym typeface="Arial"/>
            </a:endParaRPr>
          </a:p>
        </p:txBody>
      </p:sp>
      <p:pic>
        <p:nvPicPr>
          <p:cNvPr id="445" name="Google Shape;445;p48"/>
          <p:cNvPicPr preferRelativeResize="0"/>
          <p:nvPr/>
        </p:nvPicPr>
        <p:blipFill rotWithShape="1">
          <a:blip r:embed="rId3">
            <a:alphaModFix/>
          </a:blip>
          <a:srcRect b="2353" l="10058" r="2560" t="9526"/>
          <a:stretch/>
        </p:blipFill>
        <p:spPr>
          <a:xfrm>
            <a:off x="8805875" y="190800"/>
            <a:ext cx="374126" cy="4317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cxnSp>
        <p:nvCxnSpPr>
          <p:cNvPr id="450" name="Google Shape;450;p49"/>
          <p:cNvCxnSpPr/>
          <p:nvPr/>
        </p:nvCxnSpPr>
        <p:spPr>
          <a:xfrm>
            <a:off x="180000" y="540000"/>
            <a:ext cx="7920000" cy="0"/>
          </a:xfrm>
          <a:prstGeom prst="straightConnector1">
            <a:avLst/>
          </a:prstGeom>
          <a:noFill/>
          <a:ln cap="flat" cmpd="sng" w="36000">
            <a:solidFill>
              <a:srgbClr val="468A1A"/>
            </a:solidFill>
            <a:prstDash val="solid"/>
            <a:round/>
            <a:headEnd len="sm" w="sm" type="none"/>
            <a:tailEnd len="sm" w="sm" type="none"/>
          </a:ln>
        </p:spPr>
      </p:cxnSp>
      <p:sp>
        <p:nvSpPr>
          <p:cNvPr id="451" name="Google Shape;451;p49"/>
          <p:cNvSpPr txBox="1"/>
          <p:nvPr/>
        </p:nvSpPr>
        <p:spPr>
          <a:xfrm>
            <a:off x="192960" y="72000"/>
            <a:ext cx="8087100" cy="4029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2200" strike="noStrike">
                <a:solidFill>
                  <a:srgbClr val="468A1A"/>
                </a:solidFill>
                <a:latin typeface="Arial"/>
                <a:ea typeface="Arial"/>
                <a:cs typeface="Arial"/>
                <a:sym typeface="Arial"/>
              </a:rPr>
              <a:t>Part 4 — Hands-On: Build &amp; Debug a Mini Biobank Record</a:t>
            </a:r>
            <a:endParaRPr b="0" sz="2200" strike="noStrike">
              <a:latin typeface="Arial"/>
              <a:ea typeface="Arial"/>
              <a:cs typeface="Arial"/>
              <a:sym typeface="Arial"/>
            </a:endParaRPr>
          </a:p>
        </p:txBody>
      </p:sp>
      <p:sp>
        <p:nvSpPr>
          <p:cNvPr id="452" name="Google Shape;452;p49"/>
          <p:cNvSpPr txBox="1"/>
          <p:nvPr/>
        </p:nvSpPr>
        <p:spPr>
          <a:xfrm>
            <a:off x="1467775" y="939988"/>
            <a:ext cx="6992700" cy="6063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1500" strike="noStrike">
                <a:latin typeface="Arial"/>
                <a:ea typeface="Arial"/>
                <a:cs typeface="Arial"/>
                <a:sym typeface="Arial"/>
              </a:rPr>
              <a:t>Design 1:</a:t>
            </a:r>
            <a:r>
              <a:rPr b="0" lang="en-US" sz="1500" strike="noStrike">
                <a:latin typeface="Arial"/>
                <a:ea typeface="Arial"/>
                <a:cs typeface="Arial"/>
                <a:sym typeface="Arial"/>
              </a:rPr>
              <a:t> comparing treatment vs control using a certain drug, testing on three different cell lines and harvesting after 24, 36, 48 hours. </a:t>
            </a:r>
            <a:r>
              <a:rPr b="0" lang="en-US" sz="1200" strike="noStrike">
                <a:latin typeface="Arial"/>
                <a:ea typeface="Arial"/>
                <a:cs typeface="Arial"/>
                <a:sym typeface="Arial"/>
              </a:rPr>
              <a:t> </a:t>
            </a:r>
            <a:endParaRPr b="0" sz="1200" strike="noStrike">
              <a:latin typeface="Arial"/>
              <a:ea typeface="Arial"/>
              <a:cs typeface="Arial"/>
              <a:sym typeface="Arial"/>
            </a:endParaRPr>
          </a:p>
        </p:txBody>
      </p:sp>
      <p:sp>
        <p:nvSpPr>
          <p:cNvPr id="453" name="Google Shape;453;p49"/>
          <p:cNvSpPr txBox="1"/>
          <p:nvPr/>
        </p:nvSpPr>
        <p:spPr>
          <a:xfrm>
            <a:off x="9180000" y="255600"/>
            <a:ext cx="720000" cy="3021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n-US" sz="1500" strike="noStrike">
                <a:solidFill>
                  <a:srgbClr val="468A1A"/>
                </a:solidFill>
                <a:latin typeface="Arial"/>
                <a:ea typeface="Arial"/>
                <a:cs typeface="Arial"/>
                <a:sym typeface="Arial"/>
              </a:rPr>
              <a:t>EX. </a:t>
            </a:r>
            <a:r>
              <a:rPr lang="en-US" sz="1500">
                <a:solidFill>
                  <a:srgbClr val="468A1A"/>
                </a:solidFill>
              </a:rPr>
              <a:t>3</a:t>
            </a:r>
            <a:endParaRPr b="0" sz="1500" strike="noStrike">
              <a:latin typeface="Arial"/>
              <a:ea typeface="Arial"/>
              <a:cs typeface="Arial"/>
              <a:sym typeface="Arial"/>
            </a:endParaRPr>
          </a:p>
        </p:txBody>
      </p:sp>
      <p:pic>
        <p:nvPicPr>
          <p:cNvPr id="454" name="Google Shape;454;p49"/>
          <p:cNvPicPr preferRelativeResize="0"/>
          <p:nvPr/>
        </p:nvPicPr>
        <p:blipFill rotWithShape="1">
          <a:blip r:embed="rId3">
            <a:alphaModFix/>
          </a:blip>
          <a:srcRect b="2353" l="10058" r="2560" t="9526"/>
          <a:stretch/>
        </p:blipFill>
        <p:spPr>
          <a:xfrm>
            <a:off x="8805875" y="190800"/>
            <a:ext cx="374126" cy="431700"/>
          </a:xfrm>
          <a:prstGeom prst="rect">
            <a:avLst/>
          </a:prstGeom>
          <a:noFill/>
          <a:ln>
            <a:noFill/>
          </a:ln>
        </p:spPr>
      </p:pic>
      <p:graphicFrame>
        <p:nvGraphicFramePr>
          <p:cNvPr id="455" name="Google Shape;455;p49"/>
          <p:cNvGraphicFramePr/>
          <p:nvPr/>
        </p:nvGraphicFramePr>
        <p:xfrm>
          <a:off x="736613" y="1946275"/>
          <a:ext cx="3000000" cy="3000000"/>
        </p:xfrm>
        <a:graphic>
          <a:graphicData uri="http://schemas.openxmlformats.org/drawingml/2006/table">
            <a:tbl>
              <a:tblPr>
                <a:noFill/>
                <a:tableStyleId>{11CA0152-1B78-458A-96ED-18BF4F51B05B}</a:tableStyleId>
              </a:tblPr>
              <a:tblGrid>
                <a:gridCol w="1075925"/>
                <a:gridCol w="1075925"/>
                <a:gridCol w="1075925"/>
                <a:gridCol w="1075925"/>
                <a:gridCol w="1075925"/>
                <a:gridCol w="1075925"/>
                <a:gridCol w="1075925"/>
                <a:gridCol w="1075925"/>
              </a:tblGrid>
              <a:tr h="419050">
                <a:tc>
                  <a:txBody>
                    <a:bodyPr/>
                    <a:lstStyle/>
                    <a:p>
                      <a:pPr indent="0" lvl="0" marL="0" rtl="0" algn="ctr">
                        <a:spcBef>
                          <a:spcPts val="0"/>
                        </a:spcBef>
                        <a:spcAft>
                          <a:spcPts val="0"/>
                        </a:spcAft>
                        <a:buNone/>
                      </a:pPr>
                      <a:r>
                        <a:rPr lang="en-US">
                          <a:solidFill>
                            <a:schemeClr val="dk1"/>
                          </a:solidFill>
                        </a:rPr>
                        <a:t>Sample_id </a:t>
                      </a:r>
                      <a:endParaRPr/>
                    </a:p>
                  </a:txBody>
                  <a:tcPr marT="91425" marB="91425" marR="91425" marL="91425">
                    <a:solidFill>
                      <a:srgbClr val="AFD095"/>
                    </a:solidFill>
                  </a:tcPr>
                </a:tc>
                <a:tc>
                  <a:txBody>
                    <a:bodyPr/>
                    <a:lstStyle/>
                    <a:p>
                      <a:pPr indent="0" lvl="0" marL="0" rtl="0" algn="ctr">
                        <a:spcBef>
                          <a:spcPts val="340"/>
                        </a:spcBef>
                        <a:spcAft>
                          <a:spcPts val="0"/>
                        </a:spcAft>
                        <a:buNone/>
                      </a:pPr>
                      <a:r>
                        <a:rPr lang="en-US">
                          <a:solidFill>
                            <a:schemeClr val="dk1"/>
                          </a:solidFill>
                        </a:rPr>
                        <a:t>Cell_line</a:t>
                      </a:r>
                      <a:endParaRPr/>
                    </a:p>
                  </a:txBody>
                  <a:tcPr marT="91425" marB="91425" marR="91425" marL="91425">
                    <a:solidFill>
                      <a:srgbClr val="AFD095"/>
                    </a:solidFill>
                  </a:tcPr>
                </a:tc>
                <a:tc>
                  <a:txBody>
                    <a:bodyPr/>
                    <a:lstStyle/>
                    <a:p>
                      <a:pPr indent="0" lvl="0" marL="0" rtl="0" algn="ctr">
                        <a:spcBef>
                          <a:spcPts val="482"/>
                        </a:spcBef>
                        <a:spcAft>
                          <a:spcPts val="0"/>
                        </a:spcAft>
                        <a:buNone/>
                      </a:pPr>
                      <a:r>
                        <a:rPr lang="en-US">
                          <a:solidFill>
                            <a:schemeClr val="dk1"/>
                          </a:solidFill>
                        </a:rPr>
                        <a:t>Group</a:t>
                      </a:r>
                      <a:endParaRPr/>
                    </a:p>
                  </a:txBody>
                  <a:tcPr marT="91425" marB="91425" marR="91425" marL="91425">
                    <a:solidFill>
                      <a:srgbClr val="AFD095"/>
                    </a:solidFill>
                  </a:tcPr>
                </a:tc>
                <a:tc>
                  <a:txBody>
                    <a:bodyPr/>
                    <a:lstStyle/>
                    <a:p>
                      <a:pPr indent="0" lvl="0" marL="0" rtl="0" algn="ctr">
                        <a:spcBef>
                          <a:spcPts val="482"/>
                        </a:spcBef>
                        <a:spcAft>
                          <a:spcPts val="0"/>
                        </a:spcAft>
                        <a:buNone/>
                      </a:pPr>
                      <a:r>
                        <a:rPr lang="en-US">
                          <a:solidFill>
                            <a:schemeClr val="dk1"/>
                          </a:solidFill>
                        </a:rPr>
                        <a:t>Treatment</a:t>
                      </a:r>
                      <a:endParaRPr/>
                    </a:p>
                  </a:txBody>
                  <a:tcPr marT="91425" marB="91425" marR="91425" marL="91425">
                    <a:solidFill>
                      <a:srgbClr val="AFD095"/>
                    </a:solidFill>
                  </a:tcPr>
                </a:tc>
                <a:tc>
                  <a:txBody>
                    <a:bodyPr/>
                    <a:lstStyle/>
                    <a:p>
                      <a:pPr indent="0" lvl="0" marL="0" rtl="0" algn="ctr">
                        <a:spcBef>
                          <a:spcPts val="482"/>
                        </a:spcBef>
                        <a:spcAft>
                          <a:spcPts val="0"/>
                        </a:spcAft>
                        <a:buNone/>
                      </a:pPr>
                      <a:r>
                        <a:rPr lang="en-US">
                          <a:solidFill>
                            <a:schemeClr val="dk1"/>
                          </a:solidFill>
                        </a:rPr>
                        <a:t>Dose</a:t>
                      </a:r>
                      <a:endParaRPr/>
                    </a:p>
                  </a:txBody>
                  <a:tcPr marT="91425" marB="91425" marR="91425" marL="91425">
                    <a:solidFill>
                      <a:srgbClr val="AFD095"/>
                    </a:solidFill>
                  </a:tcPr>
                </a:tc>
                <a:tc>
                  <a:txBody>
                    <a:bodyPr/>
                    <a:lstStyle/>
                    <a:p>
                      <a:pPr indent="0" lvl="0" marL="0" rtl="0" algn="ctr">
                        <a:spcBef>
                          <a:spcPts val="482"/>
                        </a:spcBef>
                        <a:spcAft>
                          <a:spcPts val="0"/>
                        </a:spcAft>
                        <a:buNone/>
                      </a:pPr>
                      <a:r>
                        <a:rPr lang="en-US">
                          <a:solidFill>
                            <a:schemeClr val="dk1"/>
                          </a:solidFill>
                        </a:rPr>
                        <a:t>Timepoint</a:t>
                      </a:r>
                      <a:endParaRPr/>
                    </a:p>
                  </a:txBody>
                  <a:tcPr marT="91425" marB="91425" marR="91425" marL="91425">
                    <a:solidFill>
                      <a:srgbClr val="AFD095"/>
                    </a:solidFill>
                  </a:tcPr>
                </a:tc>
                <a:tc>
                  <a:txBody>
                    <a:bodyPr/>
                    <a:lstStyle/>
                    <a:p>
                      <a:pPr indent="0" lvl="0" marL="0" rtl="0" algn="ctr">
                        <a:spcBef>
                          <a:spcPts val="482"/>
                        </a:spcBef>
                        <a:spcAft>
                          <a:spcPts val="0"/>
                        </a:spcAft>
                        <a:buNone/>
                      </a:pPr>
                      <a:r>
                        <a:rPr lang="en-US">
                          <a:solidFill>
                            <a:schemeClr val="dk1"/>
                          </a:solidFill>
                        </a:rPr>
                        <a:t>Replicate</a:t>
                      </a:r>
                      <a:endParaRPr/>
                    </a:p>
                  </a:txBody>
                  <a:tcPr marT="91425" marB="91425" marR="91425" marL="91425">
                    <a:solidFill>
                      <a:srgbClr val="AFD095"/>
                    </a:solidFill>
                  </a:tcPr>
                </a:tc>
                <a:tc>
                  <a:txBody>
                    <a:bodyPr/>
                    <a:lstStyle/>
                    <a:p>
                      <a:pPr indent="0" lvl="0" marL="0" rtl="0" algn="ctr">
                        <a:spcBef>
                          <a:spcPts val="482"/>
                        </a:spcBef>
                        <a:spcAft>
                          <a:spcPts val="0"/>
                        </a:spcAft>
                        <a:buNone/>
                      </a:pPr>
                      <a:r>
                        <a:rPr lang="en-US">
                          <a:solidFill>
                            <a:schemeClr val="dk1"/>
                          </a:solidFill>
                        </a:rPr>
                        <a:t>Batch </a:t>
                      </a:r>
                      <a:endParaRPr/>
                    </a:p>
                  </a:txBody>
                  <a:tcPr marT="91425" marB="91425" marR="91425" marL="91425">
                    <a:solidFill>
                      <a:srgbClr val="AFD095"/>
                    </a:solidFill>
                  </a:tcPr>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cxnSp>
        <p:nvCxnSpPr>
          <p:cNvPr id="460" name="Google Shape;460;p50"/>
          <p:cNvCxnSpPr/>
          <p:nvPr/>
        </p:nvCxnSpPr>
        <p:spPr>
          <a:xfrm>
            <a:off x="180000" y="540000"/>
            <a:ext cx="7920000" cy="0"/>
          </a:xfrm>
          <a:prstGeom prst="straightConnector1">
            <a:avLst/>
          </a:prstGeom>
          <a:noFill/>
          <a:ln cap="flat" cmpd="sng" w="36000">
            <a:solidFill>
              <a:srgbClr val="468A1A"/>
            </a:solidFill>
            <a:prstDash val="solid"/>
            <a:round/>
            <a:headEnd len="sm" w="sm" type="none"/>
            <a:tailEnd len="sm" w="sm" type="none"/>
          </a:ln>
        </p:spPr>
      </p:cxnSp>
      <p:sp>
        <p:nvSpPr>
          <p:cNvPr id="461" name="Google Shape;461;p50"/>
          <p:cNvSpPr txBox="1"/>
          <p:nvPr/>
        </p:nvSpPr>
        <p:spPr>
          <a:xfrm>
            <a:off x="192960" y="72000"/>
            <a:ext cx="8087100" cy="4029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2200" strike="noStrike">
                <a:solidFill>
                  <a:srgbClr val="468A1A"/>
                </a:solidFill>
                <a:latin typeface="Arial"/>
                <a:ea typeface="Arial"/>
                <a:cs typeface="Arial"/>
                <a:sym typeface="Arial"/>
              </a:rPr>
              <a:t>Part 4 — Hands-On: Build &amp; Debug a Mini Biobank Record</a:t>
            </a:r>
            <a:endParaRPr b="0" sz="2200" strike="noStrike">
              <a:latin typeface="Arial"/>
              <a:ea typeface="Arial"/>
              <a:cs typeface="Arial"/>
              <a:sym typeface="Arial"/>
            </a:endParaRPr>
          </a:p>
        </p:txBody>
      </p:sp>
      <p:sp>
        <p:nvSpPr>
          <p:cNvPr id="462" name="Google Shape;462;p50"/>
          <p:cNvSpPr txBox="1"/>
          <p:nvPr/>
        </p:nvSpPr>
        <p:spPr>
          <a:xfrm>
            <a:off x="9180000" y="255600"/>
            <a:ext cx="720000" cy="3021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n-US" sz="1500" strike="noStrike">
                <a:solidFill>
                  <a:srgbClr val="468A1A"/>
                </a:solidFill>
                <a:latin typeface="Arial"/>
                <a:ea typeface="Arial"/>
                <a:cs typeface="Arial"/>
                <a:sym typeface="Arial"/>
              </a:rPr>
              <a:t>EX. </a:t>
            </a:r>
            <a:r>
              <a:rPr lang="en-US" sz="1500">
                <a:solidFill>
                  <a:srgbClr val="468A1A"/>
                </a:solidFill>
              </a:rPr>
              <a:t>3</a:t>
            </a:r>
            <a:endParaRPr b="0" sz="1500" strike="noStrike">
              <a:latin typeface="Arial"/>
              <a:ea typeface="Arial"/>
              <a:cs typeface="Arial"/>
              <a:sym typeface="Arial"/>
            </a:endParaRPr>
          </a:p>
        </p:txBody>
      </p:sp>
      <p:pic>
        <p:nvPicPr>
          <p:cNvPr id="463" name="Google Shape;463;p50"/>
          <p:cNvPicPr preferRelativeResize="0"/>
          <p:nvPr/>
        </p:nvPicPr>
        <p:blipFill rotWithShape="1">
          <a:blip r:embed="rId3">
            <a:alphaModFix/>
          </a:blip>
          <a:srcRect b="2353" l="10058" r="2560" t="9526"/>
          <a:stretch/>
        </p:blipFill>
        <p:spPr>
          <a:xfrm>
            <a:off x="8805875" y="190800"/>
            <a:ext cx="374126" cy="431700"/>
          </a:xfrm>
          <a:prstGeom prst="rect">
            <a:avLst/>
          </a:prstGeom>
          <a:noFill/>
          <a:ln>
            <a:noFill/>
          </a:ln>
        </p:spPr>
      </p:pic>
      <p:graphicFrame>
        <p:nvGraphicFramePr>
          <p:cNvPr id="464" name="Google Shape;464;p50"/>
          <p:cNvGraphicFramePr/>
          <p:nvPr/>
        </p:nvGraphicFramePr>
        <p:xfrm>
          <a:off x="91313" y="1946275"/>
          <a:ext cx="3000000" cy="3000000"/>
        </p:xfrm>
        <a:graphic>
          <a:graphicData uri="http://schemas.openxmlformats.org/drawingml/2006/table">
            <a:tbl>
              <a:tblPr>
                <a:noFill/>
                <a:tableStyleId>{11CA0152-1B78-458A-96ED-18BF4F51B05B}</a:tableStyleId>
              </a:tblPr>
              <a:tblGrid>
                <a:gridCol w="1110400"/>
                <a:gridCol w="1078600"/>
                <a:gridCol w="532600"/>
                <a:gridCol w="602400"/>
                <a:gridCol w="704000"/>
                <a:gridCol w="1161000"/>
                <a:gridCol w="1491600"/>
                <a:gridCol w="858175"/>
                <a:gridCol w="843075"/>
                <a:gridCol w="1505850"/>
              </a:tblGrid>
              <a:tr h="419050">
                <a:tc>
                  <a:txBody>
                    <a:bodyPr/>
                    <a:lstStyle/>
                    <a:p>
                      <a:pPr indent="0" lvl="0" marL="0" rtl="0" algn="ctr">
                        <a:spcBef>
                          <a:spcPts val="0"/>
                        </a:spcBef>
                        <a:spcAft>
                          <a:spcPts val="0"/>
                        </a:spcAft>
                        <a:buClr>
                          <a:schemeClr val="dk1"/>
                        </a:buClr>
                        <a:buSzPts val="1100"/>
                        <a:buFont typeface="Arial"/>
                        <a:buNone/>
                      </a:pPr>
                      <a:r>
                        <a:rPr lang="en-US">
                          <a:solidFill>
                            <a:schemeClr val="dk1"/>
                          </a:solidFill>
                        </a:rPr>
                        <a:t>Sample_id </a:t>
                      </a:r>
                      <a:endParaRPr/>
                    </a:p>
                  </a:txBody>
                  <a:tcPr marT="91425" marB="91425" marR="91425" marL="91425">
                    <a:solidFill>
                      <a:srgbClr val="AFD095"/>
                    </a:solidFill>
                  </a:tcPr>
                </a:tc>
                <a:tc>
                  <a:txBody>
                    <a:bodyPr/>
                    <a:lstStyle/>
                    <a:p>
                      <a:pPr indent="0" lvl="0" marL="0" rtl="0" algn="ctr">
                        <a:spcBef>
                          <a:spcPts val="340"/>
                        </a:spcBef>
                        <a:spcAft>
                          <a:spcPts val="0"/>
                        </a:spcAft>
                        <a:buClr>
                          <a:schemeClr val="dk1"/>
                        </a:buClr>
                        <a:buSzPts val="1100"/>
                        <a:buFont typeface="Arial"/>
                        <a:buNone/>
                      </a:pPr>
                      <a:r>
                        <a:rPr lang="en-US">
                          <a:solidFill>
                            <a:schemeClr val="dk1"/>
                          </a:solidFill>
                        </a:rPr>
                        <a:t>Subject_id</a:t>
                      </a:r>
                      <a:endParaRPr sz="1600">
                        <a:solidFill>
                          <a:schemeClr val="dk1"/>
                        </a:solidFill>
                      </a:endParaRPr>
                    </a:p>
                  </a:txBody>
                  <a:tcPr marT="91425" marB="91425" marR="91425" marL="91425">
                    <a:solidFill>
                      <a:srgbClr val="AFD095"/>
                    </a:solidFill>
                  </a:tcPr>
                </a:tc>
                <a:tc>
                  <a:txBody>
                    <a:bodyPr/>
                    <a:lstStyle/>
                    <a:p>
                      <a:pPr indent="0" lvl="0" marL="0" rtl="0" algn="ctr">
                        <a:spcBef>
                          <a:spcPts val="623"/>
                        </a:spcBef>
                        <a:spcAft>
                          <a:spcPts val="0"/>
                        </a:spcAft>
                        <a:buClr>
                          <a:schemeClr val="dk1"/>
                        </a:buClr>
                        <a:buSzPts val="1100"/>
                        <a:buFont typeface="Arial"/>
                        <a:buNone/>
                      </a:pPr>
                      <a:r>
                        <a:rPr lang="en-US">
                          <a:solidFill>
                            <a:schemeClr val="dk1"/>
                          </a:solidFill>
                        </a:rPr>
                        <a:t>Age</a:t>
                      </a:r>
                      <a:endParaRPr/>
                    </a:p>
                  </a:txBody>
                  <a:tcPr marT="91425" marB="91425" marR="91425" marL="91425">
                    <a:solidFill>
                      <a:srgbClr val="AFD095"/>
                    </a:solidFill>
                  </a:tcPr>
                </a:tc>
                <a:tc>
                  <a:txBody>
                    <a:bodyPr/>
                    <a:lstStyle/>
                    <a:p>
                      <a:pPr indent="0" lvl="0" marL="0" rtl="0" algn="ctr">
                        <a:spcBef>
                          <a:spcPts val="623"/>
                        </a:spcBef>
                        <a:spcAft>
                          <a:spcPts val="0"/>
                        </a:spcAft>
                        <a:buClr>
                          <a:schemeClr val="dk1"/>
                        </a:buClr>
                        <a:buSzPts val="1100"/>
                        <a:buFont typeface="Arial"/>
                        <a:buNone/>
                      </a:pPr>
                      <a:r>
                        <a:rPr lang="en-US">
                          <a:solidFill>
                            <a:schemeClr val="dk1"/>
                          </a:solidFill>
                        </a:rPr>
                        <a:t>Sex</a:t>
                      </a:r>
                      <a:endParaRPr/>
                    </a:p>
                  </a:txBody>
                  <a:tcPr marT="91425" marB="91425" marR="91425" marL="91425">
                    <a:solidFill>
                      <a:srgbClr val="AFD095"/>
                    </a:solidFill>
                  </a:tcPr>
                </a:tc>
                <a:tc>
                  <a:txBody>
                    <a:bodyPr/>
                    <a:lstStyle/>
                    <a:p>
                      <a:pPr indent="0" lvl="0" marL="0" rtl="0" algn="ctr">
                        <a:spcBef>
                          <a:spcPts val="623"/>
                        </a:spcBef>
                        <a:spcAft>
                          <a:spcPts val="0"/>
                        </a:spcAft>
                        <a:buClr>
                          <a:schemeClr val="dk1"/>
                        </a:buClr>
                        <a:buSzPts val="1100"/>
                        <a:buFont typeface="Arial"/>
                        <a:buNone/>
                      </a:pPr>
                      <a:r>
                        <a:rPr lang="en-US">
                          <a:solidFill>
                            <a:schemeClr val="dk1"/>
                          </a:solidFill>
                        </a:rPr>
                        <a:t>Group </a:t>
                      </a:r>
                      <a:endParaRPr/>
                    </a:p>
                  </a:txBody>
                  <a:tcPr marT="91425" marB="91425" marR="91425" marL="91425">
                    <a:solidFill>
                      <a:srgbClr val="AFD095"/>
                    </a:solidFill>
                  </a:tcPr>
                </a:tc>
                <a:tc>
                  <a:txBody>
                    <a:bodyPr/>
                    <a:lstStyle/>
                    <a:p>
                      <a:pPr indent="0" lvl="0" marL="0" rtl="0" algn="ctr">
                        <a:spcBef>
                          <a:spcPts val="623"/>
                        </a:spcBef>
                        <a:spcAft>
                          <a:spcPts val="0"/>
                        </a:spcAft>
                        <a:buClr>
                          <a:schemeClr val="dk1"/>
                        </a:buClr>
                        <a:buSzPts val="1100"/>
                        <a:buFont typeface="Arial"/>
                        <a:buNone/>
                      </a:pPr>
                      <a:r>
                        <a:rPr lang="en-US">
                          <a:solidFill>
                            <a:schemeClr val="dk1"/>
                          </a:solidFill>
                        </a:rPr>
                        <a:t>Burn_cause</a:t>
                      </a:r>
                      <a:endParaRPr/>
                    </a:p>
                  </a:txBody>
                  <a:tcPr marT="91425" marB="91425" marR="91425" marL="91425">
                    <a:solidFill>
                      <a:srgbClr val="AFD095"/>
                    </a:solidFill>
                  </a:tcPr>
                </a:tc>
                <a:tc>
                  <a:txBody>
                    <a:bodyPr/>
                    <a:lstStyle/>
                    <a:p>
                      <a:pPr indent="0" lvl="0" marL="0" rtl="0" algn="ctr">
                        <a:spcBef>
                          <a:spcPts val="623"/>
                        </a:spcBef>
                        <a:spcAft>
                          <a:spcPts val="0"/>
                        </a:spcAft>
                        <a:buClr>
                          <a:schemeClr val="dk1"/>
                        </a:buClr>
                        <a:buSzPts val="1100"/>
                        <a:buFont typeface="Arial"/>
                        <a:buNone/>
                      </a:pPr>
                      <a:r>
                        <a:rPr lang="en-US">
                          <a:solidFill>
                            <a:schemeClr val="dk1"/>
                          </a:solidFill>
                        </a:rPr>
                        <a:t>Days_post_burn</a:t>
                      </a:r>
                      <a:endParaRPr/>
                    </a:p>
                  </a:txBody>
                  <a:tcPr marT="91425" marB="91425" marR="91425" marL="91425">
                    <a:solidFill>
                      <a:srgbClr val="AFD095"/>
                    </a:solidFill>
                  </a:tcPr>
                </a:tc>
                <a:tc>
                  <a:txBody>
                    <a:bodyPr/>
                    <a:lstStyle/>
                    <a:p>
                      <a:pPr indent="0" lvl="0" marL="0" rtl="0" algn="ctr">
                        <a:spcBef>
                          <a:spcPts val="623"/>
                        </a:spcBef>
                        <a:spcAft>
                          <a:spcPts val="0"/>
                        </a:spcAft>
                        <a:buClr>
                          <a:schemeClr val="dk1"/>
                        </a:buClr>
                        <a:buSzPts val="1100"/>
                        <a:buFont typeface="Arial"/>
                        <a:buNone/>
                      </a:pPr>
                      <a:r>
                        <a:rPr lang="en-US">
                          <a:solidFill>
                            <a:schemeClr val="dk1"/>
                          </a:solidFill>
                        </a:rPr>
                        <a:t>Severity</a:t>
                      </a:r>
                      <a:endParaRPr/>
                    </a:p>
                  </a:txBody>
                  <a:tcPr marT="91425" marB="91425" marR="91425" marL="91425">
                    <a:solidFill>
                      <a:srgbClr val="AFD095"/>
                    </a:solidFill>
                  </a:tcPr>
                </a:tc>
                <a:tc>
                  <a:txBody>
                    <a:bodyPr/>
                    <a:lstStyle/>
                    <a:p>
                      <a:pPr indent="0" lvl="0" marL="0" rtl="0" algn="ctr">
                        <a:spcBef>
                          <a:spcPts val="623"/>
                        </a:spcBef>
                        <a:spcAft>
                          <a:spcPts val="0"/>
                        </a:spcAft>
                        <a:buClr>
                          <a:schemeClr val="dk1"/>
                        </a:buClr>
                        <a:buSzPts val="1100"/>
                        <a:buFont typeface="Arial"/>
                        <a:buNone/>
                      </a:pPr>
                      <a:r>
                        <a:rPr lang="en-US">
                          <a:solidFill>
                            <a:schemeClr val="dk1"/>
                          </a:solidFill>
                        </a:rPr>
                        <a:t>TBSA%</a:t>
                      </a:r>
                      <a:endParaRPr>
                        <a:solidFill>
                          <a:schemeClr val="dk1"/>
                        </a:solidFill>
                      </a:endParaRPr>
                    </a:p>
                  </a:txBody>
                  <a:tcPr marT="91425" marB="91425" marR="91425" marL="91425">
                    <a:solidFill>
                      <a:srgbClr val="AFD095"/>
                    </a:solidFill>
                  </a:tcPr>
                </a:tc>
                <a:tc>
                  <a:txBody>
                    <a:bodyPr/>
                    <a:lstStyle/>
                    <a:p>
                      <a:pPr indent="0" lvl="0" marL="0" rtl="0" algn="ctr">
                        <a:spcBef>
                          <a:spcPts val="623"/>
                        </a:spcBef>
                        <a:spcAft>
                          <a:spcPts val="0"/>
                        </a:spcAft>
                        <a:buClr>
                          <a:schemeClr val="dk1"/>
                        </a:buClr>
                        <a:buSzPts val="1100"/>
                        <a:buFont typeface="Arial"/>
                        <a:buNone/>
                      </a:pPr>
                      <a:r>
                        <a:rPr lang="en-US">
                          <a:solidFill>
                            <a:schemeClr val="dk1"/>
                          </a:solidFill>
                        </a:rPr>
                        <a:t>Wound_location</a:t>
                      </a:r>
                      <a:endParaRPr>
                        <a:solidFill>
                          <a:schemeClr val="dk1"/>
                        </a:solidFill>
                      </a:endParaRPr>
                    </a:p>
                  </a:txBody>
                  <a:tcPr marT="91425" marB="91425" marR="91425" marL="91425">
                    <a:solidFill>
                      <a:srgbClr val="AFD095"/>
                    </a:solidFill>
                  </a:tcPr>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465" name="Google Shape;465;p50"/>
          <p:cNvSpPr txBox="1"/>
          <p:nvPr/>
        </p:nvSpPr>
        <p:spPr>
          <a:xfrm>
            <a:off x="1505863" y="939988"/>
            <a:ext cx="7068900" cy="6063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1500" strike="noStrike">
                <a:solidFill>
                  <a:srgbClr val="000000"/>
                </a:solidFill>
                <a:latin typeface="Arial"/>
                <a:ea typeface="Arial"/>
                <a:cs typeface="Arial"/>
                <a:sym typeface="Arial"/>
              </a:rPr>
              <a:t>Design 2:</a:t>
            </a:r>
            <a:r>
              <a:rPr b="0" lang="en-US" sz="1500" strike="noStrike">
                <a:solidFill>
                  <a:srgbClr val="000000"/>
                </a:solidFill>
                <a:latin typeface="Arial"/>
                <a:ea typeface="Arial"/>
                <a:cs typeface="Arial"/>
                <a:sym typeface="Arial"/>
              </a:rPr>
              <a:t> comparing </a:t>
            </a:r>
            <a:r>
              <a:rPr lang="en-US" sz="1500"/>
              <a:t>uninjured</a:t>
            </a:r>
            <a:r>
              <a:rPr b="0" lang="en-US" sz="1500" strike="noStrike">
                <a:solidFill>
                  <a:srgbClr val="000000"/>
                </a:solidFill>
                <a:latin typeface="Arial"/>
                <a:ea typeface="Arial"/>
                <a:cs typeface="Arial"/>
                <a:sym typeface="Arial"/>
              </a:rPr>
              <a:t> skin samples vs burn skin sample in </a:t>
            </a:r>
            <a:r>
              <a:rPr lang="en-US" sz="1500"/>
              <a:t>pediatric</a:t>
            </a:r>
            <a:r>
              <a:rPr b="0" lang="en-US" sz="1500" strike="noStrike">
                <a:solidFill>
                  <a:srgbClr val="000000"/>
                </a:solidFill>
                <a:latin typeface="Arial"/>
                <a:ea typeface="Arial"/>
                <a:cs typeface="Arial"/>
                <a:sym typeface="Arial"/>
              </a:rPr>
              <a:t> patients to </a:t>
            </a:r>
            <a:r>
              <a:rPr lang="en-US" sz="1500"/>
              <a:t>identify</a:t>
            </a:r>
            <a:r>
              <a:rPr b="0" lang="en-US" sz="1500" strike="noStrike">
                <a:solidFill>
                  <a:srgbClr val="000000"/>
                </a:solidFill>
                <a:latin typeface="Arial"/>
                <a:ea typeface="Arial"/>
                <a:cs typeface="Arial"/>
                <a:sym typeface="Arial"/>
              </a:rPr>
              <a:t> biomarkers and their impact in disease progression. </a:t>
            </a:r>
            <a:r>
              <a:rPr b="0" lang="en-US" sz="1500" strike="noStrike">
                <a:solidFill>
                  <a:srgbClr val="DDDDDD"/>
                </a:solidFill>
                <a:latin typeface="Arial"/>
                <a:ea typeface="Arial"/>
                <a:cs typeface="Arial"/>
                <a:sym typeface="Arial"/>
              </a:rPr>
              <a:t> </a:t>
            </a:r>
            <a:endParaRPr b="0" sz="1500" strike="noStrike">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cxnSp>
        <p:nvCxnSpPr>
          <p:cNvPr id="470" name="Google Shape;470;p51"/>
          <p:cNvCxnSpPr/>
          <p:nvPr/>
        </p:nvCxnSpPr>
        <p:spPr>
          <a:xfrm>
            <a:off x="180000" y="540000"/>
            <a:ext cx="7920000" cy="0"/>
          </a:xfrm>
          <a:prstGeom prst="straightConnector1">
            <a:avLst/>
          </a:prstGeom>
          <a:noFill/>
          <a:ln cap="flat" cmpd="sng" w="36000">
            <a:solidFill>
              <a:srgbClr val="468A1A"/>
            </a:solidFill>
            <a:prstDash val="solid"/>
            <a:round/>
            <a:headEnd len="sm" w="sm" type="none"/>
            <a:tailEnd len="sm" w="sm" type="none"/>
          </a:ln>
        </p:spPr>
      </p:cxnSp>
      <p:sp>
        <p:nvSpPr>
          <p:cNvPr id="471" name="Google Shape;471;p51"/>
          <p:cNvSpPr txBox="1"/>
          <p:nvPr/>
        </p:nvSpPr>
        <p:spPr>
          <a:xfrm>
            <a:off x="192960" y="72000"/>
            <a:ext cx="8087100" cy="4029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2200" strike="noStrike">
                <a:solidFill>
                  <a:srgbClr val="468A1A"/>
                </a:solidFill>
                <a:latin typeface="Arial"/>
                <a:ea typeface="Arial"/>
                <a:cs typeface="Arial"/>
                <a:sym typeface="Arial"/>
              </a:rPr>
              <a:t>Part 4 — Hands-On: Build &amp; Debug a Mini Biobank Record</a:t>
            </a:r>
            <a:endParaRPr b="0" sz="2200" strike="noStrike">
              <a:latin typeface="Arial"/>
              <a:ea typeface="Arial"/>
              <a:cs typeface="Arial"/>
              <a:sym typeface="Arial"/>
            </a:endParaRPr>
          </a:p>
        </p:txBody>
      </p:sp>
      <p:sp>
        <p:nvSpPr>
          <p:cNvPr id="472" name="Google Shape;472;p51"/>
          <p:cNvSpPr txBox="1"/>
          <p:nvPr/>
        </p:nvSpPr>
        <p:spPr>
          <a:xfrm>
            <a:off x="9180000" y="255600"/>
            <a:ext cx="720000" cy="3021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n-US" sz="1500" strike="noStrike">
                <a:solidFill>
                  <a:srgbClr val="468A1A"/>
                </a:solidFill>
                <a:latin typeface="Arial"/>
                <a:ea typeface="Arial"/>
                <a:cs typeface="Arial"/>
                <a:sym typeface="Arial"/>
              </a:rPr>
              <a:t>EX. </a:t>
            </a:r>
            <a:r>
              <a:rPr lang="en-US" sz="1500">
                <a:solidFill>
                  <a:srgbClr val="468A1A"/>
                </a:solidFill>
              </a:rPr>
              <a:t>3</a:t>
            </a:r>
            <a:endParaRPr b="0" sz="1500" strike="noStrike">
              <a:latin typeface="Arial"/>
              <a:ea typeface="Arial"/>
              <a:cs typeface="Arial"/>
              <a:sym typeface="Arial"/>
            </a:endParaRPr>
          </a:p>
        </p:txBody>
      </p:sp>
      <p:pic>
        <p:nvPicPr>
          <p:cNvPr id="473" name="Google Shape;473;p51"/>
          <p:cNvPicPr preferRelativeResize="0"/>
          <p:nvPr/>
        </p:nvPicPr>
        <p:blipFill rotWithShape="1">
          <a:blip r:embed="rId3">
            <a:alphaModFix/>
          </a:blip>
          <a:srcRect b="2353" l="10058" r="2560" t="9526"/>
          <a:stretch/>
        </p:blipFill>
        <p:spPr>
          <a:xfrm>
            <a:off x="8805875" y="190800"/>
            <a:ext cx="374126" cy="431700"/>
          </a:xfrm>
          <a:prstGeom prst="rect">
            <a:avLst/>
          </a:prstGeom>
          <a:noFill/>
          <a:ln>
            <a:noFill/>
          </a:ln>
        </p:spPr>
      </p:pic>
      <p:graphicFrame>
        <p:nvGraphicFramePr>
          <p:cNvPr id="474" name="Google Shape;474;p51"/>
          <p:cNvGraphicFramePr/>
          <p:nvPr/>
        </p:nvGraphicFramePr>
        <p:xfrm>
          <a:off x="766550" y="2060575"/>
          <a:ext cx="3000000" cy="3000000"/>
        </p:xfrm>
        <a:graphic>
          <a:graphicData uri="http://schemas.openxmlformats.org/drawingml/2006/table">
            <a:tbl>
              <a:tblPr>
                <a:noFill/>
                <a:tableStyleId>{11CA0152-1B78-458A-96ED-18BF4F51B05B}</a:tableStyleId>
              </a:tblPr>
              <a:tblGrid>
                <a:gridCol w="1291975"/>
                <a:gridCol w="609800"/>
                <a:gridCol w="563400"/>
                <a:gridCol w="744475"/>
                <a:gridCol w="963925"/>
                <a:gridCol w="735325"/>
                <a:gridCol w="1562975"/>
                <a:gridCol w="997300"/>
                <a:gridCol w="1167225"/>
              </a:tblGrid>
              <a:tr h="431750">
                <a:tc gridSpan="9">
                  <a:txBody>
                    <a:bodyPr/>
                    <a:lstStyle/>
                    <a:p>
                      <a:pPr indent="0" lvl="0" marL="0" rtl="0" algn="ctr">
                        <a:spcBef>
                          <a:spcPts val="340"/>
                        </a:spcBef>
                        <a:spcAft>
                          <a:spcPts val="0"/>
                        </a:spcAft>
                        <a:buNone/>
                      </a:pPr>
                      <a:r>
                        <a:rPr b="1" lang="en-US">
                          <a:solidFill>
                            <a:schemeClr val="dk1"/>
                          </a:solidFill>
                        </a:rPr>
                        <a:t>PATIENT</a:t>
                      </a:r>
                      <a:endParaRPr b="1">
                        <a:solidFill>
                          <a:schemeClr val="dk1"/>
                        </a:solidFill>
                      </a:endParaRPr>
                    </a:p>
                  </a:txBody>
                  <a:tcPr marT="91425" marB="91425" marR="91425" marL="91425">
                    <a:solidFill>
                      <a:srgbClr val="AFD095"/>
                    </a:solidFill>
                  </a:tcPr>
                </a:tc>
                <a:tc hMerge="1"/>
                <a:tc hMerge="1"/>
                <a:tc hMerge="1"/>
                <a:tc hMerge="1"/>
                <a:tc hMerge="1"/>
                <a:tc hMerge="1"/>
                <a:tc hMerge="1"/>
                <a:tc hMerge="1"/>
              </a:tr>
              <a:tr h="431750">
                <a:tc>
                  <a:txBody>
                    <a:bodyPr/>
                    <a:lstStyle/>
                    <a:p>
                      <a:pPr indent="0" lvl="0" marL="0" rtl="0" algn="ctr">
                        <a:spcBef>
                          <a:spcPts val="340"/>
                        </a:spcBef>
                        <a:spcAft>
                          <a:spcPts val="0"/>
                        </a:spcAft>
                        <a:buNone/>
                      </a:pPr>
                      <a:r>
                        <a:rPr lang="en-US">
                          <a:solidFill>
                            <a:schemeClr val="dk1"/>
                          </a:solidFill>
                        </a:rPr>
                        <a:t>Subject_id</a:t>
                      </a:r>
                      <a:endParaRPr sz="1600">
                        <a:solidFill>
                          <a:schemeClr val="dk1"/>
                        </a:solidFill>
                      </a:endParaRPr>
                    </a:p>
                  </a:txBody>
                  <a:tcPr marT="91425" marB="91425" marR="91425" marL="91425">
                    <a:solidFill>
                      <a:srgbClr val="AFD095"/>
                    </a:solidFill>
                  </a:tcPr>
                </a:tc>
                <a:tc>
                  <a:txBody>
                    <a:bodyPr/>
                    <a:lstStyle/>
                    <a:p>
                      <a:pPr indent="0" lvl="0" marL="0" rtl="0" algn="ctr">
                        <a:spcBef>
                          <a:spcPts val="623"/>
                        </a:spcBef>
                        <a:spcAft>
                          <a:spcPts val="0"/>
                        </a:spcAft>
                        <a:buNone/>
                      </a:pPr>
                      <a:r>
                        <a:rPr lang="en-US">
                          <a:solidFill>
                            <a:schemeClr val="dk1"/>
                          </a:solidFill>
                        </a:rPr>
                        <a:t>Age</a:t>
                      </a:r>
                      <a:endParaRPr/>
                    </a:p>
                  </a:txBody>
                  <a:tcPr marT="91425" marB="91425" marR="91425" marL="91425">
                    <a:solidFill>
                      <a:srgbClr val="AFD095"/>
                    </a:solidFill>
                  </a:tcPr>
                </a:tc>
                <a:tc>
                  <a:txBody>
                    <a:bodyPr/>
                    <a:lstStyle/>
                    <a:p>
                      <a:pPr indent="0" lvl="0" marL="0" rtl="0" algn="ctr">
                        <a:spcBef>
                          <a:spcPts val="623"/>
                        </a:spcBef>
                        <a:spcAft>
                          <a:spcPts val="0"/>
                        </a:spcAft>
                        <a:buNone/>
                      </a:pPr>
                      <a:r>
                        <a:rPr lang="en-US">
                          <a:solidFill>
                            <a:schemeClr val="dk1"/>
                          </a:solidFill>
                        </a:rPr>
                        <a:t>Sex</a:t>
                      </a:r>
                      <a:endParaRPr/>
                    </a:p>
                  </a:txBody>
                  <a:tcPr marT="91425" marB="91425" marR="91425" marL="91425">
                    <a:solidFill>
                      <a:srgbClr val="AFD095"/>
                    </a:solidFill>
                  </a:tcPr>
                </a:tc>
                <a:tc>
                  <a:txBody>
                    <a:bodyPr/>
                    <a:lstStyle/>
                    <a:p>
                      <a:pPr indent="0" lvl="0" marL="0" rtl="0" algn="ctr">
                        <a:spcBef>
                          <a:spcPts val="623"/>
                        </a:spcBef>
                        <a:spcAft>
                          <a:spcPts val="0"/>
                        </a:spcAft>
                        <a:buNone/>
                      </a:pPr>
                      <a:r>
                        <a:rPr lang="en-US">
                          <a:solidFill>
                            <a:schemeClr val="dk1"/>
                          </a:solidFill>
                        </a:rPr>
                        <a:t>Group </a:t>
                      </a:r>
                      <a:endParaRPr/>
                    </a:p>
                  </a:txBody>
                  <a:tcPr marT="91425" marB="91425" marR="91425" marL="91425">
                    <a:solidFill>
                      <a:srgbClr val="AFD095"/>
                    </a:solidFill>
                  </a:tcPr>
                </a:tc>
                <a:tc>
                  <a:txBody>
                    <a:bodyPr/>
                    <a:lstStyle/>
                    <a:p>
                      <a:pPr indent="0" lvl="0" marL="0" rtl="0" algn="ctr">
                        <a:spcBef>
                          <a:spcPts val="623"/>
                        </a:spcBef>
                        <a:spcAft>
                          <a:spcPts val="0"/>
                        </a:spcAft>
                        <a:buNone/>
                      </a:pPr>
                      <a:r>
                        <a:rPr lang="en-US">
                          <a:solidFill>
                            <a:schemeClr val="dk1"/>
                          </a:solidFill>
                        </a:rPr>
                        <a:t>Diagnosis</a:t>
                      </a:r>
                      <a:endParaRPr/>
                    </a:p>
                  </a:txBody>
                  <a:tcPr marT="91425" marB="91425" marR="91425" marL="91425">
                    <a:solidFill>
                      <a:srgbClr val="AFD095"/>
                    </a:solidFill>
                  </a:tcPr>
                </a:tc>
                <a:tc>
                  <a:txBody>
                    <a:bodyPr/>
                    <a:lstStyle/>
                    <a:p>
                      <a:pPr indent="0" lvl="0" marL="0" rtl="0" algn="ctr">
                        <a:spcBef>
                          <a:spcPts val="623"/>
                        </a:spcBef>
                        <a:spcAft>
                          <a:spcPts val="0"/>
                        </a:spcAft>
                        <a:buNone/>
                      </a:pPr>
                      <a:r>
                        <a:rPr lang="en-US">
                          <a:solidFill>
                            <a:schemeClr val="dk1"/>
                          </a:solidFill>
                        </a:rPr>
                        <a:t>Stage</a:t>
                      </a:r>
                      <a:endParaRPr>
                        <a:solidFill>
                          <a:schemeClr val="dk1"/>
                        </a:solidFill>
                      </a:endParaRPr>
                    </a:p>
                  </a:txBody>
                  <a:tcPr marT="91425" marB="91425" marR="91425" marL="91425">
                    <a:solidFill>
                      <a:srgbClr val="AFD095"/>
                    </a:solidFill>
                  </a:tcPr>
                </a:tc>
                <a:tc>
                  <a:txBody>
                    <a:bodyPr/>
                    <a:lstStyle/>
                    <a:p>
                      <a:pPr indent="0" lvl="0" marL="0" rtl="0" algn="ctr">
                        <a:spcBef>
                          <a:spcPts val="623"/>
                        </a:spcBef>
                        <a:spcAft>
                          <a:spcPts val="0"/>
                        </a:spcAft>
                        <a:buNone/>
                      </a:pPr>
                      <a:r>
                        <a:rPr lang="en-US">
                          <a:solidFill>
                            <a:schemeClr val="dk1"/>
                          </a:solidFill>
                        </a:rPr>
                        <a:t>Recruitment_site</a:t>
                      </a:r>
                      <a:endParaRPr/>
                    </a:p>
                  </a:txBody>
                  <a:tcPr marT="91425" marB="91425" marR="91425" marL="91425">
                    <a:solidFill>
                      <a:srgbClr val="AFD095"/>
                    </a:solidFill>
                  </a:tcPr>
                </a:tc>
                <a:tc>
                  <a:txBody>
                    <a:bodyPr/>
                    <a:lstStyle/>
                    <a:p>
                      <a:pPr indent="0" lvl="0" marL="0" rtl="0" algn="ctr">
                        <a:spcBef>
                          <a:spcPts val="623"/>
                        </a:spcBef>
                        <a:spcAft>
                          <a:spcPts val="0"/>
                        </a:spcAft>
                        <a:buNone/>
                      </a:pPr>
                      <a:r>
                        <a:rPr lang="en-US">
                          <a:solidFill>
                            <a:schemeClr val="dk1"/>
                          </a:solidFill>
                        </a:rPr>
                        <a:t>Treatment</a:t>
                      </a:r>
                      <a:endParaRPr/>
                    </a:p>
                  </a:txBody>
                  <a:tcPr marT="91425" marB="91425" marR="91425" marL="91425">
                    <a:solidFill>
                      <a:srgbClr val="AFD095"/>
                    </a:solidFill>
                  </a:tcPr>
                </a:tc>
                <a:tc>
                  <a:txBody>
                    <a:bodyPr/>
                    <a:lstStyle/>
                    <a:p>
                      <a:pPr indent="0" lvl="0" marL="0" rtl="0" algn="ctr">
                        <a:spcBef>
                          <a:spcPts val="623"/>
                        </a:spcBef>
                        <a:spcAft>
                          <a:spcPts val="0"/>
                        </a:spcAft>
                        <a:buNone/>
                      </a:pPr>
                      <a:r>
                        <a:rPr lang="en-US">
                          <a:solidFill>
                            <a:schemeClr val="dk1"/>
                          </a:solidFill>
                        </a:rPr>
                        <a:t>Survival</a:t>
                      </a:r>
                      <a:endParaRPr>
                        <a:solidFill>
                          <a:schemeClr val="dk1"/>
                        </a:solidFill>
                      </a:endParaRPr>
                    </a:p>
                  </a:txBody>
                  <a:tcPr marT="91425" marB="91425" marR="91425" marL="91425">
                    <a:solidFill>
                      <a:srgbClr val="AFD095"/>
                    </a:solidFill>
                  </a:tcPr>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475" name="Google Shape;475;p51"/>
          <p:cNvSpPr txBox="1"/>
          <p:nvPr/>
        </p:nvSpPr>
        <p:spPr>
          <a:xfrm>
            <a:off x="1505875" y="927303"/>
            <a:ext cx="7068900" cy="800100"/>
          </a:xfrm>
          <a:prstGeom prst="rect">
            <a:avLst/>
          </a:prstGeom>
          <a:noFill/>
          <a:ln>
            <a:noFill/>
          </a:ln>
        </p:spPr>
        <p:txBody>
          <a:bodyPr anchorCtr="0" anchor="t" bIns="45000" lIns="90000" spcFirstLastPara="1" rIns="90000" wrap="square" tIns="45000">
            <a:noAutofit/>
          </a:bodyPr>
          <a:lstStyle/>
          <a:p>
            <a:pPr indent="0" lvl="0" marL="0" rtl="0" algn="l">
              <a:spcBef>
                <a:spcPts val="0"/>
              </a:spcBef>
              <a:spcAft>
                <a:spcPts val="0"/>
              </a:spcAft>
              <a:buClr>
                <a:schemeClr val="dk1"/>
              </a:buClr>
              <a:buFont typeface="Arial"/>
              <a:buNone/>
            </a:pPr>
            <a:r>
              <a:rPr b="1" lang="en-US" sz="1500">
                <a:solidFill>
                  <a:schemeClr val="dk1"/>
                </a:solidFill>
              </a:rPr>
              <a:t>Design 3:</a:t>
            </a:r>
            <a:r>
              <a:rPr lang="en-US" sz="1500">
                <a:solidFill>
                  <a:schemeClr val="dk1"/>
                </a:solidFill>
              </a:rPr>
              <a:t> a multicentric study recruits 200 subjects (100 controls, 100 patients). The goal is to study the association of a specific biomarker with a specific tumor. A biological sample is collected from each subject. </a:t>
            </a:r>
            <a:endParaRPr b="0" sz="1800" strike="noStrike">
              <a:latin typeface="Arial"/>
              <a:ea typeface="Arial"/>
              <a:cs typeface="Arial"/>
              <a:sym typeface="Arial"/>
            </a:endParaRPr>
          </a:p>
        </p:txBody>
      </p:sp>
      <p:graphicFrame>
        <p:nvGraphicFramePr>
          <p:cNvPr id="476" name="Google Shape;476;p51"/>
          <p:cNvGraphicFramePr/>
          <p:nvPr/>
        </p:nvGraphicFramePr>
        <p:xfrm>
          <a:off x="766588" y="3749675"/>
          <a:ext cx="3000000" cy="3000000"/>
        </p:xfrm>
        <a:graphic>
          <a:graphicData uri="http://schemas.openxmlformats.org/drawingml/2006/table">
            <a:tbl>
              <a:tblPr>
                <a:noFill/>
                <a:tableStyleId>{11CA0152-1B78-458A-96ED-18BF4F51B05B}</a:tableStyleId>
              </a:tblPr>
              <a:tblGrid>
                <a:gridCol w="1018625"/>
                <a:gridCol w="1062875"/>
                <a:gridCol w="1420850"/>
                <a:gridCol w="1546200"/>
                <a:gridCol w="1423275"/>
                <a:gridCol w="1155925"/>
                <a:gridCol w="1008650"/>
              </a:tblGrid>
              <a:tr h="431750">
                <a:tc gridSpan="7">
                  <a:txBody>
                    <a:bodyPr/>
                    <a:lstStyle/>
                    <a:p>
                      <a:pPr indent="0" lvl="0" marL="0" rtl="0" algn="ctr">
                        <a:spcBef>
                          <a:spcPts val="340"/>
                        </a:spcBef>
                        <a:spcAft>
                          <a:spcPts val="0"/>
                        </a:spcAft>
                        <a:buNone/>
                      </a:pPr>
                      <a:r>
                        <a:rPr b="1" lang="en-US">
                          <a:solidFill>
                            <a:schemeClr val="dk1"/>
                          </a:solidFill>
                        </a:rPr>
                        <a:t>SAMPLE</a:t>
                      </a:r>
                      <a:endParaRPr b="1">
                        <a:solidFill>
                          <a:schemeClr val="dk1"/>
                        </a:solidFill>
                      </a:endParaRPr>
                    </a:p>
                  </a:txBody>
                  <a:tcPr marT="91425" marB="91425" marR="91425" marL="91425">
                    <a:solidFill>
                      <a:srgbClr val="AFD095"/>
                    </a:solidFill>
                  </a:tcPr>
                </a:tc>
                <a:tc hMerge="1"/>
                <a:tc hMerge="1"/>
                <a:tc hMerge="1"/>
                <a:tc hMerge="1"/>
                <a:tc hMerge="1"/>
                <a:tc hMerge="1"/>
              </a:tr>
              <a:tr h="431750">
                <a:tc>
                  <a:txBody>
                    <a:bodyPr/>
                    <a:lstStyle/>
                    <a:p>
                      <a:pPr indent="0" lvl="0" marL="0" rtl="0" algn="ctr">
                        <a:spcBef>
                          <a:spcPts val="340"/>
                        </a:spcBef>
                        <a:spcAft>
                          <a:spcPts val="0"/>
                        </a:spcAft>
                        <a:buNone/>
                      </a:pPr>
                      <a:r>
                        <a:rPr lang="en-US">
                          <a:solidFill>
                            <a:schemeClr val="dk1"/>
                          </a:solidFill>
                        </a:rPr>
                        <a:t>Subject_id</a:t>
                      </a:r>
                      <a:endParaRPr>
                        <a:solidFill>
                          <a:schemeClr val="dk1"/>
                        </a:solidFill>
                      </a:endParaRPr>
                    </a:p>
                  </a:txBody>
                  <a:tcPr marT="91425" marB="91425" marR="91425" marL="91425">
                    <a:solidFill>
                      <a:srgbClr val="AFD095"/>
                    </a:solidFill>
                  </a:tcPr>
                </a:tc>
                <a:tc>
                  <a:txBody>
                    <a:bodyPr/>
                    <a:lstStyle/>
                    <a:p>
                      <a:pPr indent="0" lvl="0" marL="0" rtl="0" algn="l">
                        <a:spcBef>
                          <a:spcPts val="566"/>
                        </a:spcBef>
                        <a:spcAft>
                          <a:spcPts val="0"/>
                        </a:spcAft>
                        <a:buClr>
                          <a:schemeClr val="dk1"/>
                        </a:buClr>
                        <a:buSzPts val="1100"/>
                        <a:buFont typeface="Arial"/>
                        <a:buNone/>
                      </a:pPr>
                      <a:r>
                        <a:rPr lang="en-US">
                          <a:solidFill>
                            <a:schemeClr val="dk1"/>
                          </a:solidFill>
                        </a:rPr>
                        <a:t>Sample_id</a:t>
                      </a:r>
                      <a:endParaRPr/>
                    </a:p>
                  </a:txBody>
                  <a:tcPr marT="91425" marB="91425" marR="91425" marL="91425">
                    <a:solidFill>
                      <a:srgbClr val="AFD095"/>
                    </a:solidFill>
                  </a:tcPr>
                </a:tc>
                <a:tc>
                  <a:txBody>
                    <a:bodyPr/>
                    <a:lstStyle/>
                    <a:p>
                      <a:pPr indent="0" lvl="0" marL="0" rtl="0" algn="l">
                        <a:spcBef>
                          <a:spcPts val="566"/>
                        </a:spcBef>
                        <a:spcAft>
                          <a:spcPts val="0"/>
                        </a:spcAft>
                        <a:buClr>
                          <a:schemeClr val="dk1"/>
                        </a:buClr>
                        <a:buSzPts val="1100"/>
                        <a:buFont typeface="Arial"/>
                        <a:buNone/>
                      </a:pPr>
                      <a:r>
                        <a:rPr lang="en-US">
                          <a:solidFill>
                            <a:schemeClr val="dk1"/>
                          </a:solidFill>
                        </a:rPr>
                        <a:t>Specimen_type</a:t>
                      </a:r>
                      <a:endParaRPr/>
                    </a:p>
                  </a:txBody>
                  <a:tcPr marT="91425" marB="91425" marR="91425" marL="91425">
                    <a:solidFill>
                      <a:srgbClr val="AFD095"/>
                    </a:solidFill>
                  </a:tcPr>
                </a:tc>
                <a:tc>
                  <a:txBody>
                    <a:bodyPr/>
                    <a:lstStyle/>
                    <a:p>
                      <a:pPr indent="0" lvl="0" marL="0" rtl="0" algn="l">
                        <a:spcBef>
                          <a:spcPts val="566"/>
                        </a:spcBef>
                        <a:spcAft>
                          <a:spcPts val="0"/>
                        </a:spcAft>
                        <a:buClr>
                          <a:schemeClr val="dk1"/>
                        </a:buClr>
                        <a:buSzPts val="1100"/>
                        <a:buFont typeface="Arial"/>
                        <a:buNone/>
                      </a:pPr>
                      <a:r>
                        <a:rPr lang="en-US"/>
                        <a:t>Collection_status</a:t>
                      </a:r>
                      <a:endParaRPr/>
                    </a:p>
                  </a:txBody>
                  <a:tcPr marT="91425" marB="91425" marR="91425" marL="91425">
                    <a:solidFill>
                      <a:srgbClr val="AFD095"/>
                    </a:solidFill>
                  </a:tcPr>
                </a:tc>
                <a:tc>
                  <a:txBody>
                    <a:bodyPr/>
                    <a:lstStyle/>
                    <a:p>
                      <a:pPr indent="0" lvl="0" marL="0" rtl="0" algn="l">
                        <a:spcBef>
                          <a:spcPts val="566"/>
                        </a:spcBef>
                        <a:spcAft>
                          <a:spcPts val="0"/>
                        </a:spcAft>
                        <a:buClr>
                          <a:schemeClr val="dk1"/>
                        </a:buClr>
                        <a:buSzPts val="1100"/>
                        <a:buFont typeface="Arial"/>
                        <a:buNone/>
                      </a:pPr>
                      <a:r>
                        <a:rPr lang="en-US">
                          <a:solidFill>
                            <a:schemeClr val="dk1"/>
                          </a:solidFill>
                        </a:rPr>
                        <a:t>Collection_date</a:t>
                      </a:r>
                      <a:endParaRPr/>
                    </a:p>
                  </a:txBody>
                  <a:tcPr marT="91425" marB="91425" marR="91425" marL="91425">
                    <a:solidFill>
                      <a:srgbClr val="AFD095"/>
                    </a:solidFill>
                  </a:tcPr>
                </a:tc>
                <a:tc>
                  <a:txBody>
                    <a:bodyPr/>
                    <a:lstStyle/>
                    <a:p>
                      <a:pPr indent="0" lvl="0" marL="0" rtl="0" algn="l">
                        <a:spcBef>
                          <a:spcPts val="566"/>
                        </a:spcBef>
                        <a:spcAft>
                          <a:spcPts val="0"/>
                        </a:spcAft>
                        <a:buNone/>
                      </a:pPr>
                      <a:r>
                        <a:rPr lang="en-US">
                          <a:solidFill>
                            <a:schemeClr val="dk1"/>
                          </a:solidFill>
                        </a:rPr>
                        <a:t>Assay_type</a:t>
                      </a:r>
                      <a:endParaRPr>
                        <a:solidFill>
                          <a:schemeClr val="dk1"/>
                        </a:solidFill>
                      </a:endParaRPr>
                    </a:p>
                  </a:txBody>
                  <a:tcPr marT="91425" marB="91425" marR="91425" marL="91425">
                    <a:solidFill>
                      <a:srgbClr val="AFD095"/>
                    </a:solidFill>
                  </a:tcPr>
                </a:tc>
                <a:tc>
                  <a:txBody>
                    <a:bodyPr/>
                    <a:lstStyle/>
                    <a:p>
                      <a:pPr indent="0" lvl="0" marL="0" rtl="0" algn="l">
                        <a:spcBef>
                          <a:spcPts val="566"/>
                        </a:spcBef>
                        <a:spcAft>
                          <a:spcPts val="0"/>
                        </a:spcAft>
                        <a:buNone/>
                      </a:pPr>
                      <a:r>
                        <a:rPr lang="en-US">
                          <a:solidFill>
                            <a:schemeClr val="dk1"/>
                          </a:solidFill>
                        </a:rPr>
                        <a:t>Biomarker</a:t>
                      </a:r>
                      <a:endParaRPr>
                        <a:solidFill>
                          <a:schemeClr val="dk1"/>
                        </a:solidFill>
                      </a:endParaRPr>
                    </a:p>
                  </a:txBody>
                  <a:tcPr marT="91425" marB="91425" marR="91425" marL="91425">
                    <a:solidFill>
                      <a:srgbClr val="AFD095"/>
                    </a:solidFill>
                  </a:tcPr>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